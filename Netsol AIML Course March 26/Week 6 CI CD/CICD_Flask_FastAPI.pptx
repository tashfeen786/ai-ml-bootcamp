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&amp; 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Flask &amp; FastAPI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320040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337560"/>
            <a:ext cx="1965960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558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78608" y="3337560"/>
            <a:ext cx="1965960" cy="2560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78608" y="33558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3337560"/>
            <a:ext cx="1965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33558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Docker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21424" y="3337560"/>
            <a:ext cx="1965960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335584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GitHub Actions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for beginner students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CI/CD?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47472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7315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11480" y="2212848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merge code frequently — multiple times a day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an automated build &amp; test run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are caught immediately, not weeks later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'integration hell' from large merges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023360" cy="347472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40233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097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Delivery/Deployment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554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CD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983480" y="2212848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CI passes, the app is automatically prepared for release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Delivery: human approves the final production push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every passing build ships to production automatically
</a:t>
            </a:r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is always in a releasable state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make software delivery predictable, automated, and fast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CI/CD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657600"/>
          </a:xfrm>
          <a:prstGeom prst="rect">
            <a:avLst/>
          </a:prstGeom>
          <a:solidFill>
            <a:srgbClr val="13243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CI/CD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merge code infrequently — weeks apart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merges → conflicts → hours of debugging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are manual and error-prone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machine" is a common excuse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discovered late → expensive to fix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C81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 scary events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023360" cy="3657600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960120"/>
            <a:ext cx="40233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CI/CD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48132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commits pushed multiple times daily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catch bugs within minutes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 are automated and repeatable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ensures identical environments everywhere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caught early → cheap to fix
</a:t>
            </a:r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are routine, low-risk events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4681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Analogy: spell-check while typing (CI) vs. proof-reading only before printing (no CI)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CI/CD Pipeline — 6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4592" y="960120"/>
            <a:ext cx="1298448" cy="5943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" y="1938528"/>
            <a:ext cx="1298448" cy="256032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95681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4592" y="2304288"/>
            <a:ext cx="1298448" cy="251460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592" y="2304288"/>
            <a:ext cx="1298448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2423160"/>
            <a:ext cx="1152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pushes code to GitHub. Pipeline is triggered automatically.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63040" y="1161288"/>
            <a:ext cx="8229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36192" y="960120"/>
            <a:ext cx="1298448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36192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36192" y="15727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536192" y="1938528"/>
            <a:ext cx="1298448" cy="256032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36192" y="195681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536192" y="2304288"/>
            <a:ext cx="1298448" cy="251460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2304288"/>
            <a:ext cx="1298448" cy="5486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9344" y="2423160"/>
            <a:ext cx="1152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installed from requirements.txt. Fails fast if packages are broken.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834640" y="1161288"/>
            <a:ext cx="8229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7792" y="960120"/>
            <a:ext cx="129844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907792" y="15727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07792" y="1938528"/>
            <a:ext cx="1298448" cy="256032"/>
          </a:xfrm>
          <a:prstGeom prst="rect">
            <a:avLst/>
          </a:prstGeom>
          <a:solidFill>
            <a:srgbClr val="1324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7792" y="195681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07792" y="2304288"/>
            <a:ext cx="1298448" cy="251460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7792" y="2304288"/>
            <a:ext cx="1298448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80944" y="2423160"/>
            <a:ext cx="1152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automated tests run. A single failure blocks deployment entirely.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06240" y="1161288"/>
            <a:ext cx="8229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79392" y="960120"/>
            <a:ext cx="1298448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79392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279392" y="15727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279392" y="1938528"/>
            <a:ext cx="1298448" cy="256032"/>
          </a:xfrm>
          <a:prstGeom prst="rect">
            <a:avLst/>
          </a:prstGeom>
          <a:solidFill>
            <a:srgbClr val="13243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195681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 / ruff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79392" y="2304288"/>
            <a:ext cx="1298448" cy="251460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79392" y="2304288"/>
            <a:ext cx="1298448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52544" y="2423160"/>
            <a:ext cx="1152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 is checked. Enforces consistent, readable code across the team.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577840" y="1161288"/>
            <a:ext cx="8229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50992" y="960120"/>
            <a:ext cx="1298448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5650992" y="15727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5650992" y="1938528"/>
            <a:ext cx="1298448" cy="256032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50992" y="195681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650992" y="2304288"/>
            <a:ext cx="1298448" cy="251460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50992" y="2304288"/>
            <a:ext cx="1298448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24144" y="2423160"/>
            <a:ext cx="1152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is containerised into a Docker image — runs identically everywhere.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49440" y="1161288"/>
            <a:ext cx="8229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22592" y="960120"/>
            <a:ext cx="1298448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987552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7022592" y="15727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022592" y="1938528"/>
            <a:ext cx="1298448" cy="256032"/>
          </a:xfrm>
          <a:prstGeom prst="rect">
            <a:avLst/>
          </a:prstGeom>
          <a:solidFill>
            <a:srgbClr val="13243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2592" y="195681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to server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022592" y="2304288"/>
            <a:ext cx="1298448" cy="251460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22592" y="2304288"/>
            <a:ext cx="1298448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95744" y="2423160"/>
            <a:ext cx="115214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pushed to registry and deployed. CD: auto. Delivery: human approval.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— The Micro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E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· WSGI · Beginner-Friendly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2377440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Flask?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is a lightweight Python web framework.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"Micro" means minimal core — you add only the pieces you need.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LEGO baseplate: provides the foundation, you add the blocks.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handles each request one at a time (synchronous WSGI).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4160520" cy="146304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886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         ← Flask app &amp; routes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  ← Flask, gunicorn, pytest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tests/test_app.py ← pytest test cases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       ← containerisation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60120"/>
            <a:ext cx="4160520" cy="749808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960120"/>
            <a:ext cx="73152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2893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that maps a URL to a Python function.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783080"/>
            <a:ext cx="4160520" cy="749808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1783080"/>
            <a:ext cx="73152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request.get_json()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112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JSON body sent by the client in POST requests.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606040"/>
            <a:ext cx="4160520" cy="749808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606040"/>
            <a:ext cx="73152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51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jsonify({})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935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Python dict to a proper JSON HTTP response.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429000"/>
            <a:ext cx="4160520" cy="749808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3429000"/>
            <a:ext cx="73152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app.test_client()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758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test client — no server needed for testing.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4251960"/>
            <a:ext cx="4160520" cy="749808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4251960"/>
            <a:ext cx="73152" cy="74980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8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gunicorn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45811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 server. Never use app.run() in production!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— Modern Async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· ASGI · Auto-docs · Type-safe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834640" cy="150876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83464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Models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26151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shape of your data with Python type hints. FastAPI validates all input automatically — no manual checking needed.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834640" cy="1508760"/>
          </a:xfrm>
          <a:prstGeom prst="rect">
            <a:avLst/>
          </a:prstGeom>
          <a:solidFill>
            <a:srgbClr val="1324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960120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07899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426464"/>
            <a:ext cx="26151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routes handle multiple requests concurrently. Like a chef multitasking — start one order while another cooks.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834640" cy="1508760"/>
          </a:xfrm>
          <a:prstGeom prst="rect">
            <a:avLst/>
          </a:prstGeom>
          <a:solidFill>
            <a:srgbClr val="13243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960120"/>
            <a:ext cx="2834640" cy="640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07899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API Docs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1426464"/>
            <a:ext cx="26151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/docs for interactive Swagger UI. Auto-generated from your code — always in sync, zero extra work.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606040"/>
            <a:ext cx="4160520" cy="2286000"/>
          </a:xfrm>
          <a:prstGeom prst="rect">
            <a:avLst/>
          </a:prstGeom>
          <a:solidFill>
            <a:srgbClr val="1324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Route — Key Differences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063240"/>
            <a:ext cx="384048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Task(BaseModel):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str         # required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done: bool = False # optional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@app.post("/tasks", status_code=201)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create_task(task: Task):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Task is auto-validated by Pydantic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{"id": 1, **task.dict()}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606040"/>
            <a:ext cx="7315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243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Model(BaseModel)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8072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 — defines required fields with types. FastAPI reads this to validate &amp; document the API.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063240"/>
            <a:ext cx="7315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0815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route()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2644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handler. While awaiting I/O (DB, network), Python handles other requests.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7315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5387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HTTPException(404)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37216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HTTP errors with proper status codes and JSON error messages.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977640"/>
            <a:ext cx="7315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959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response_model=Model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41788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validates the response matches the model — acts as output type-checking.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4434840"/>
            <a:ext cx="7315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445312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463600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server for async apps (like gunicorn is for Flask). Runs the async event loop.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Synchronous vs Asynchronous — The Kitchen Analogy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3108960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— Synchronous (One Chef)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536192"/>
            <a:ext cx="283464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5544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 arrives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8653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938528"/>
            <a:ext cx="283464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9568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cooking soup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226771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2340864"/>
            <a:ext cx="283464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359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5 min (blocked)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67004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2743200"/>
            <a:ext cx="283464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7614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soup 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307238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145536"/>
            <a:ext cx="283464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1638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2 NOW starts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6210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queue up. One at a time.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960120"/>
            <a:ext cx="4160520" cy="3108960"/>
          </a:xfrm>
          <a:prstGeom prst="rect">
            <a:avLst/>
          </a:prstGeom>
          <a:solidFill>
            <a:srgbClr val="1324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960120"/>
            <a:ext cx="4160520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— Asynchronous (Smart Chef)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166360" y="1536192"/>
            <a:ext cx="320040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0368" y="1554480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1 arrives → start soup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166360" y="1938528"/>
            <a:ext cx="320040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1956816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soup cooks → take Order 2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166360" y="2340864"/>
            <a:ext cx="320040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0368" y="2359152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2 → start pasta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66360" y="2743200"/>
            <a:ext cx="320040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2761488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Soup done → serve Order 1 ✓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166360" y="3145536"/>
            <a:ext cx="3200400" cy="329184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163824"/>
            <a:ext cx="3072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done → serve Order 2 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36210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Concurrent! Both orders finish faster.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187952"/>
            <a:ext cx="8595360" cy="68580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702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async?  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017520" y="42702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code WAITS (database queries, HTTP calls, file I/O). If CPU-bound (heavy computation), sync may be fine.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Testing — The Heart of CI/CD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77240"/>
          </a:xfrm>
          <a:prstGeom prst="rect">
            <a:avLst/>
          </a:prstGeom>
          <a:solidFill>
            <a:srgbClr val="1324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automated tests? 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02412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200-endpoint API can't be manually tested on every push. pytest runs all tests in seconds. If one fails → pipeline stops → nothing broken reaches production.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4160520" cy="2971800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874520"/>
            <a:ext cx="416052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Testing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client():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app.config['TESTING'] =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tasks.clear()  # fresh state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app.test_client() as 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c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test_create_task(client):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client.post('/tasks',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json={'title': 'Learn CI/CD'})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resp.status_code == 201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resp.get_json()['task'][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'title'] == 'Learn CI/CD'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418795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app.test_client() — built into Flask
</a:t>
            </a:r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regular def (synchronous)
</a:t>
            </a:r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 return HTTP 400
</a:t>
            </a:r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response.get_json() reads the response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4160520" cy="2971800"/>
          </a:xfrm>
          <a:prstGeom prst="rect">
            <a:avLst/>
          </a:prstGeom>
          <a:solidFill>
            <a:srgbClr val="1324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874520"/>
            <a:ext cx="41605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Testing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2377440"/>
            <a:ext cx="38862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async_client():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tasks.clear()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transport = ASGITransport(app=app)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with AsyncClient(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transport=transport,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base_url="http://test") as c: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test_create(async_client):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 = await async_client.post(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'/tasks', json={'title':'T'})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resp.status_code == 201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0" y="40690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httpx.AsyncClient + ASGITransport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are async def — need await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errors return HTTP 422
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response.json() reads response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command: pytest test_app.py -v   |   All green → pipeline proceeds. Any red → pipeline stops.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Actions — The Pipeline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663440" cy="3931920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438912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Flask CI/CD Pipeline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main, develop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 main ]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test: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python-version: '3.11'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Install dependencies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pip install -r requirements.txt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Run tests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pytest test_app.py -v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test          # waits for test job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 github.ref 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'refs/heads/main'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Build Docker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docker build -t myapp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Deploy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heroku container:push web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463040"/>
            <a:ext cx="109728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21808" y="14813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'name' appears in GitHub's Actions tab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120640" y="1920240"/>
            <a:ext cx="109728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21808" y="19385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'on' defines triggers — push to branches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2596896"/>
            <a:ext cx="109728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261518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runs on a fresh Ubuntu VM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120640" y="3182112"/>
            <a:ext cx="109728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32004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'Install' = BUILD stage of CI/CD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120640" y="3566160"/>
            <a:ext cx="109728" cy="2560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1808" y="35844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'Run tests' = TEST stage — if this fails, stops here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986784"/>
            <a:ext cx="109728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40050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'needs: test' → job dependency. Deploy only if tests pass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20640" y="4389120"/>
            <a:ext cx="109728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4407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deploy from main branch — not feature branches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Key: Any step returning exit code 1 stops the entire pipeline. Nothing broken ever reaches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— Packaging Your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914400"/>
          </a:xfrm>
          <a:prstGeom prst="rect">
            <a:avLst/>
          </a:prstGeom>
          <a:solidFill>
            <a:srgbClr val="132437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24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8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3350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works on my machine!" — Different Python versions, OS settings, packages cause failures in production.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4160520" cy="914400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0241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33502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your app + Python + all dependencies into one image that runs identically everywhere.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011680"/>
            <a:ext cx="4160520" cy="2834640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— Flask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38404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5000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gunicorn = WSGI server for Flask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["gunicorn",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"--workers", "4",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"--bind", "0.0.0.0:5000",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"app:app"]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2011680"/>
            <a:ext cx="4160520" cy="2834640"/>
          </a:xfrm>
          <a:prstGeom prst="rect">
            <a:avLst/>
          </a:prstGeom>
          <a:solidFill>
            <a:srgbClr val="1324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— FastAPI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2450592"/>
            <a:ext cx="38404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--no-cache-dir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8000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uvicorn = ASGI server for FastAPI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["uvicorn",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"fastapi_app:app",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"--host", "0.0.0.0",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"--port", "8000"]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difference: gunicorn (Flask/WSGI) vs uvicorn (FastAPI/ASGI) in the CMD line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Flask vs FastAPI — Side-by-Side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9184" y="1033272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960120"/>
            <a:ext cx="2450592" cy="38404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10332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2450592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03327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960120"/>
            <a:ext cx="1481328" cy="38404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79792" y="10332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1389888"/>
            <a:ext cx="8631936" cy="365760"/>
          </a:xfrm>
          <a:prstGeom prst="rect">
            <a:avLst/>
          </a:prstGeom>
          <a:solidFill>
            <a:srgbClr val="1324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42646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59152" y="14264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WSGI (synchronous)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19472" y="14264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ASGI (async-native)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79792" y="142646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for concurrency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6032" y="1783080"/>
            <a:ext cx="8631936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81965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59152" y="1819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simple, minimal boilerplate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19472" y="18196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required, slightly more setup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79792" y="1819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for absolute beginners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2176272"/>
            <a:ext cx="8631936" cy="365760"/>
          </a:xfrm>
          <a:prstGeom prst="rect">
            <a:avLst/>
          </a:prstGeom>
          <a:solidFill>
            <a:srgbClr val="1324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221284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59152" y="2212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(marshmallow or manual checks)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9472" y="22128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via Pydantic models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79792" y="22128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built-in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" y="2569464"/>
            <a:ext cx="8631936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" y="260604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59152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plugins (Flask-RESTx, Flasgger)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19472" y="2606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at /docs and /redoc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79792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— zero config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2962656"/>
            <a:ext cx="8631936" cy="365760"/>
          </a:xfrm>
          <a:prstGeom prst="rect">
            <a:avLst/>
          </a:prstGeom>
          <a:solidFill>
            <a:srgbClr val="1324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2999232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359152" y="2999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test_client() — built-in, simple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2999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+ pytest-asyncio, more setup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479792" y="2999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— simpler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56032" y="3355848"/>
            <a:ext cx="8631936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339242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59152" y="3392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typical API loads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19472" y="3392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faster under high load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479792" y="33924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benchmarks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56032" y="3749040"/>
            <a:ext cx="8631936" cy="365760"/>
          </a:xfrm>
          <a:prstGeom prst="rect">
            <a:avLst/>
          </a:prstGeom>
          <a:solidFill>
            <a:srgbClr val="1324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378561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server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59152" y="3785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(WSGI)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19472" y="37856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/ hypercorn (ASGI)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479792" y="3785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production-ready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6032" y="4142232"/>
            <a:ext cx="8631936" cy="365760"/>
          </a:xfrm>
          <a:prstGeom prst="rect">
            <a:avLst/>
          </a:prstGeom>
          <a:solidFill>
            <a:srgbClr val="0D1B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417880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59152" y="4178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great first framework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919472" y="41788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needs async &amp; type hints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479792" y="4178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for beginners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56032" y="4535424"/>
            <a:ext cx="8631936" cy="365760"/>
          </a:xfrm>
          <a:prstGeom prst="rect">
            <a:avLst/>
          </a:prstGeom>
          <a:solidFill>
            <a:srgbClr val="132437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4572000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359152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pytest pipeline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19472" y="4572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+ pytest-asyncio config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479792" y="4572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work great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to Choose Flask vs FastAPI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3886200"/>
          </a:xfrm>
          <a:prstGeom prst="rect">
            <a:avLst/>
          </a:prstGeom>
          <a:solidFill>
            <a:srgbClr val="132437"/>
          </a:solidFill>
          <a:ln w="25400">
            <a:solidFill>
              <a:srgbClr val="378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54864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Flask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912" y="1664208"/>
            <a:ext cx="274320" cy="274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6642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web APIs for the first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understanding HTTP fundamentals without async complexity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2121408"/>
            <a:ext cx="274320" cy="274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1214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projects or prototypes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setup, faster to get something running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8912" y="2578608"/>
            <a:ext cx="274320" cy="274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25786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data processing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" y="2743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processing, simple DB queries, batch jobs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" y="3035808"/>
            <a:ext cx="274320" cy="274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0358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plugin ecosystem needed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" y="3200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Flask-SQLAlchemy, Flask-JWT, Flask-Admin are mature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" y="3493008"/>
            <a:ext cx="274320" cy="27432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349300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already knows Flask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657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patterns or mental model to learn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960120"/>
            <a:ext cx="4160520" cy="3886200"/>
          </a:xfrm>
          <a:prstGeom prst="rect">
            <a:avLst/>
          </a:prstGeom>
          <a:solidFill>
            <a:srgbClr val="132437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960120"/>
            <a:ext cx="416052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02412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FastAPI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4873752" y="1664208"/>
            <a:ext cx="274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9512" y="16642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performance needed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39512" y="18288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thousands of concurrent requests efficiently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73752" y="2121408"/>
            <a:ext cx="274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9512" y="21214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serving APIs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39512" y="22860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async inference — very popular in AI/ML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73752" y="2578608"/>
            <a:ext cx="274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39512" y="25786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validation required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39512" y="27432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eliminate entire classes of bugs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73752" y="3035808"/>
            <a:ext cx="274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73752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9512" y="30358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documentation needed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9512" y="32004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love Swagger UI — always in sync with code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73752" y="3493008"/>
            <a:ext cx="274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73752" y="3493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39512" y="349300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with Python type hints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39512" y="365760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are already a habit for your team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74320" y="48920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frameworks work perfectly with the same CI/CD pipeline structure (GitHub Actions, Docker, pytest)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4160520" cy="1170432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987552"/>
            <a:ext cx="566928" cy="117043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" y="13167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50976" y="10789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automates quality gates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140817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build → test → lint → deploy. Broken code never reaches users.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987552"/>
            <a:ext cx="4160520" cy="1170432"/>
          </a:xfrm>
          <a:prstGeom prst="rect">
            <a:avLst/>
          </a:prstGeom>
          <a:solidFill>
            <a:srgbClr val="1324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90872" y="987552"/>
            <a:ext cx="56692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0016" y="131673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85816" y="107899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are the gatekeeper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85816" y="1408176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 blocks deployment. Write tests for happy paths AND error paths.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6032" y="2286000"/>
            <a:ext cx="4160520" cy="1170432"/>
          </a:xfrm>
          <a:prstGeom prst="rect">
            <a:avLst/>
          </a:prstGeom>
          <a:solidFill>
            <a:srgbClr val="132437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286000"/>
            <a:ext cx="566928" cy="117043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" y="2615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50976" y="23774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= simple, sync, beginner-friendly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50976" y="270662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test_client(), gunicorn, standard pytest. Perfect starting point.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90872" y="2286000"/>
            <a:ext cx="4160520" cy="1170432"/>
          </a:xfrm>
          <a:prstGeom prst="rect">
            <a:avLst/>
          </a:prstGeom>
          <a:solidFill>
            <a:srgbClr val="13243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90872" y="2286000"/>
            <a:ext cx="56692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26151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85816" y="23774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= modern, async, type-safe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85816" y="2706624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httpx + pytest-asyncio, uvicorn, Pydantic. Better for production at scale.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6032" y="3584448"/>
            <a:ext cx="4160520" cy="1170432"/>
          </a:xfrm>
          <a:prstGeom prst="rect">
            <a:avLst/>
          </a:prstGeom>
          <a:solidFill>
            <a:srgbClr val="13243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" y="3584448"/>
            <a:ext cx="566928" cy="11704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" y="39136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0976" y="36758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solves 'it works on my machine'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50976" y="40050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image, identical in dev + staging + production. Dockerfile is the recipe.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90872" y="3584448"/>
            <a:ext cx="4160520" cy="1170432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3584448"/>
            <a:ext cx="566928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9136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85816" y="36758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YAML defines the pipeline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85816" y="4005072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'needs: test' creates job dependencies. Secrets keep API keys out of code.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Ready to Build CI/CD Pipelines!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135331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Colab notebooks to practice with real running code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1920240"/>
            <a:ext cx="2743200" cy="2148840"/>
          </a:xfrm>
          <a:prstGeom prst="rect">
            <a:avLst/>
          </a:prstGeom>
          <a:solidFill>
            <a:srgbClr val="132437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920240"/>
            <a:ext cx="2743200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20299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78AD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078992" y="202996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8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Colab Notebook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REST API → write pytest tests → simulate the CI pipeline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743200" cy="2148840"/>
          </a:xfrm>
          <a:prstGeom prst="rect">
            <a:avLst/>
          </a:prstGeom>
          <a:solidFill>
            <a:srgbClr val="13243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92024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20299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959352" y="202996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Colab Notebook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706624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models → async routes → async tests with httpx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1920240"/>
            <a:ext cx="2743200" cy="2148840"/>
          </a:xfrm>
          <a:prstGeom prst="rect">
            <a:avLst/>
          </a:prstGeom>
          <a:solidFill>
            <a:srgbClr val="1324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920240"/>
            <a:ext cx="27432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0299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839712" y="2029968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706624"/>
            <a:ext cx="246888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PUT endpoint, write tests for it, see the pipeline pass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446227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docs: flask.palletsprojects.com   |   FastAPI docs: fastapi.tiangolo.com   |   pytest: docs.pytest.org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with Flask &amp; FastAPI</dc:title>
  <dc:subject>PptxGenJS Presentation</dc:subject>
  <dc:creator>CI/CD Course</dc:creator>
  <cp:lastModifiedBy>CI/CD Course</cp:lastModifiedBy>
  <cp:revision>1</cp:revision>
  <dcterms:created xsi:type="dcterms:W3CDTF">2026-04-10T20:12:31Z</dcterms:created>
  <dcterms:modified xsi:type="dcterms:W3CDTF">2026-04-10T20:12:31Z</dcterms:modified>
</cp:coreProperties>
</file>