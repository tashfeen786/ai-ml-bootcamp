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44" r:id="rId2"/>
    <p:sldId id="259" r:id="rId3"/>
    <p:sldId id="286" r:id="rId4"/>
    <p:sldId id="287" r:id="rId5"/>
    <p:sldId id="285" r:id="rId6"/>
    <p:sldId id="292" r:id="rId7"/>
    <p:sldId id="293" r:id="rId8"/>
    <p:sldId id="288" r:id="rId9"/>
    <p:sldId id="289" r:id="rId10"/>
    <p:sldId id="327" r:id="rId11"/>
    <p:sldId id="328" r:id="rId12"/>
    <p:sldId id="329" r:id="rId13"/>
    <p:sldId id="330" r:id="rId14"/>
    <p:sldId id="331" r:id="rId15"/>
    <p:sldId id="332" r:id="rId16"/>
    <p:sldId id="333" r:id="rId17"/>
    <p:sldId id="334" r:id="rId18"/>
    <p:sldId id="335" r:id="rId19"/>
    <p:sldId id="337" r:id="rId20"/>
    <p:sldId id="341" r:id="rId21"/>
    <p:sldId id="336" r:id="rId22"/>
    <p:sldId id="338" r:id="rId23"/>
    <p:sldId id="339" r:id="rId24"/>
    <p:sldId id="340" r:id="rId25"/>
    <p:sldId id="342" r:id="rId26"/>
    <p:sldId id="34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6AF7F5-1FD3-4063-A56C-844A43F0B763}" v="13" dt="2022-01-24T09:39:05.4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67" autoAdjust="0"/>
    <p:restoredTop sz="96301" autoAdjust="0"/>
  </p:normalViewPr>
  <p:slideViewPr>
    <p:cSldViewPr snapToGrid="0">
      <p:cViewPr varScale="1">
        <p:scale>
          <a:sx n="89" d="100"/>
          <a:sy n="89" d="100"/>
        </p:scale>
        <p:origin x="168" y="6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CC9320-FBC5-4FFA-BC97-A191B357FA00}" type="datetimeFigureOut">
              <a:rPr lang="en-CA" smtClean="0"/>
              <a:t>2026-03-31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33AE-5818-4B6A-BA4E-9AC96301BF7A}" type="slidenum">
              <a:rPr lang="en-CA" smtClean="0"/>
              <a:t>‹#›</a:t>
            </a:fld>
            <a:endParaRPr lang="en-CA"/>
          </a:p>
        </p:txBody>
      </p:sp>
    </p:spTree>
    <p:extLst>
      <p:ext uri="{BB962C8B-B14F-4D97-AF65-F5344CB8AC3E}">
        <p14:creationId xmlns:p14="http://schemas.microsoft.com/office/powerpoint/2010/main" val="63027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self-driving car agent that learns by observing a human driver. Every time the driver brakes, the agent might learn a condition–action rule for when to brake (component 1). By seeing many camera images that it is told contain buses, it can learn to recognize them (component 2). By trying actions and observing the results—for example, braking hard on a wet road—it can learn the effects of its actions (component 3). Then, when it receives complaints from passengers who have been thoroughly shaken up during the trip, it can learn a useful component of its overall utility function (component 4).</a:t>
            </a:r>
            <a:endParaRPr lang="en-CA" dirty="0"/>
          </a:p>
        </p:txBody>
      </p:sp>
      <p:sp>
        <p:nvSpPr>
          <p:cNvPr id="4" name="Slide Number Placeholder 3"/>
          <p:cNvSpPr>
            <a:spLocks noGrp="1"/>
          </p:cNvSpPr>
          <p:nvPr>
            <p:ph type="sldNum" sz="quarter" idx="5"/>
          </p:nvPr>
        </p:nvSpPr>
        <p:spPr/>
        <p:txBody>
          <a:bodyPr/>
          <a:lstStyle/>
          <a:p>
            <a:fld id="{48C133AE-5818-4B6A-BA4E-9AC96301BF7A}" type="slidenum">
              <a:rPr lang="en-CA" smtClean="0"/>
              <a:t>6</a:t>
            </a:fld>
            <a:endParaRPr lang="en-CA"/>
          </a:p>
        </p:txBody>
      </p:sp>
    </p:spTree>
    <p:extLst>
      <p:ext uri="{BB962C8B-B14F-4D97-AF65-F5344CB8AC3E}">
        <p14:creationId xmlns:p14="http://schemas.microsoft.com/office/powerpoint/2010/main" val="3122906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main reasons. First, the designers cannot anticipate all possible future situations. For example, a robot designed to navigate mazes must learn the layout of each new maze it encounters; a program for predicting stock market prices must learn to adapt when conditions change from boom to bust. Second, sometimes the designers have no idea how to program a solution themselves. Most people are good at recognizing the faces of family members, but they do it subconsciously, so even the best programmers don’t know how to program a computer to accomplish that task, except by using machine learning algorithms.</a:t>
            </a:r>
            <a:endParaRPr lang="en-CA" dirty="0"/>
          </a:p>
        </p:txBody>
      </p:sp>
      <p:sp>
        <p:nvSpPr>
          <p:cNvPr id="4" name="Slide Number Placeholder 3"/>
          <p:cNvSpPr>
            <a:spLocks noGrp="1"/>
          </p:cNvSpPr>
          <p:nvPr>
            <p:ph type="sldNum" sz="quarter" idx="5"/>
          </p:nvPr>
        </p:nvSpPr>
        <p:spPr/>
        <p:txBody>
          <a:bodyPr/>
          <a:lstStyle/>
          <a:p>
            <a:fld id="{48C133AE-5818-4B6A-BA4E-9AC96301BF7A}" type="slidenum">
              <a:rPr lang="en-CA" smtClean="0"/>
              <a:t>8</a:t>
            </a:fld>
            <a:endParaRPr lang="en-CA"/>
          </a:p>
        </p:txBody>
      </p:sp>
    </p:spTree>
    <p:extLst>
      <p:ext uri="{BB962C8B-B14F-4D97-AF65-F5344CB8AC3E}">
        <p14:creationId xmlns:p14="http://schemas.microsoft.com/office/powerpoint/2010/main" val="789035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main reasons. First, the designers cannot anticipate all possible future situations. For example, a robot designed to navigate mazes must learn the layout of each new maze it encounters; a program for predicting stock market prices must learn to adapt when conditions change from boom to bust. Second, sometimes the designers have no idea how to program a solution themselves. Most people are good at recognizing the faces of family members, but they do it subconsciously, so even the best programmers don’t know how to program a computer to accomplish that task, except by using machine learning algorithms.</a:t>
            </a:r>
            <a:endParaRPr lang="en-CA" dirty="0"/>
          </a:p>
        </p:txBody>
      </p:sp>
      <p:sp>
        <p:nvSpPr>
          <p:cNvPr id="4" name="Slide Number Placeholder 3"/>
          <p:cNvSpPr>
            <a:spLocks noGrp="1"/>
          </p:cNvSpPr>
          <p:nvPr>
            <p:ph type="sldNum" sz="quarter" idx="5"/>
          </p:nvPr>
        </p:nvSpPr>
        <p:spPr/>
        <p:txBody>
          <a:bodyPr/>
          <a:lstStyle/>
          <a:p>
            <a:fld id="{48C133AE-5818-4B6A-BA4E-9AC96301BF7A}" type="slidenum">
              <a:rPr lang="en-CA" smtClean="0"/>
              <a:t>9</a:t>
            </a:fld>
            <a:endParaRPr lang="en-CA"/>
          </a:p>
        </p:txBody>
      </p:sp>
    </p:spTree>
    <p:extLst>
      <p:ext uri="{BB962C8B-B14F-4D97-AF65-F5344CB8AC3E}">
        <p14:creationId xmlns:p14="http://schemas.microsoft.com/office/powerpoint/2010/main" val="1337077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A43BF-199F-4343-8473-83DC5940C1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C67D0217-F558-4853-8381-626449444C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2B539DCA-3399-4DB4-9C5A-4166714F7898}"/>
              </a:ext>
            </a:extLst>
          </p:cNvPr>
          <p:cNvSpPr>
            <a:spLocks noGrp="1"/>
          </p:cNvSpPr>
          <p:nvPr>
            <p:ph type="dt" sz="half" idx="10"/>
          </p:nvPr>
        </p:nvSpPr>
        <p:spPr/>
        <p:txBody>
          <a:bodyPr/>
          <a:lstStyle/>
          <a:p>
            <a:fld id="{8F5B6FD4-E3F8-4BC6-96D5-5B16E66E9030}" type="datetime1">
              <a:rPr lang="en-CA" smtClean="0"/>
              <a:t>2026-03-31</a:t>
            </a:fld>
            <a:endParaRPr lang="en-CA"/>
          </a:p>
        </p:txBody>
      </p:sp>
      <p:sp>
        <p:nvSpPr>
          <p:cNvPr id="5" name="Footer Placeholder 4">
            <a:extLst>
              <a:ext uri="{FF2B5EF4-FFF2-40B4-BE49-F238E27FC236}">
                <a16:creationId xmlns:a16="http://schemas.microsoft.com/office/drawing/2014/main" id="{9FB5441E-525F-4002-AA9D-213BDA908F8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5969B74-FD22-4853-AC23-ACD69759DF72}"/>
              </a:ext>
            </a:extLst>
          </p:cNvPr>
          <p:cNvSpPr>
            <a:spLocks noGrp="1"/>
          </p:cNvSpPr>
          <p:nvPr>
            <p:ph type="sldNum" sz="quarter" idx="12"/>
          </p:nvPr>
        </p:nvSpPr>
        <p:spPr/>
        <p:txBody>
          <a:bodyPr/>
          <a:lstStyle/>
          <a:p>
            <a:fld id="{332049DD-9EE2-4342-8B02-2B18EB8B7024}" type="slidenum">
              <a:rPr lang="en-CA" smtClean="0"/>
              <a:t>‹#›</a:t>
            </a:fld>
            <a:endParaRPr lang="en-CA"/>
          </a:p>
        </p:txBody>
      </p:sp>
    </p:spTree>
    <p:extLst>
      <p:ext uri="{BB962C8B-B14F-4D97-AF65-F5344CB8AC3E}">
        <p14:creationId xmlns:p14="http://schemas.microsoft.com/office/powerpoint/2010/main" val="3820375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70305-6CAF-46F5-817A-05FC0D13B60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DC95CBE-A552-4793-9294-368F5DD255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BB2ED7F-A232-4741-94FE-20C29FF23683}"/>
              </a:ext>
            </a:extLst>
          </p:cNvPr>
          <p:cNvSpPr>
            <a:spLocks noGrp="1"/>
          </p:cNvSpPr>
          <p:nvPr>
            <p:ph type="dt" sz="half" idx="10"/>
          </p:nvPr>
        </p:nvSpPr>
        <p:spPr/>
        <p:txBody>
          <a:bodyPr/>
          <a:lstStyle/>
          <a:p>
            <a:fld id="{3DA447D3-1F87-46E2-8930-4ADE25DD866F}" type="datetime1">
              <a:rPr lang="en-CA" smtClean="0"/>
              <a:t>2026-03-31</a:t>
            </a:fld>
            <a:endParaRPr lang="en-CA"/>
          </a:p>
        </p:txBody>
      </p:sp>
      <p:sp>
        <p:nvSpPr>
          <p:cNvPr id="5" name="Footer Placeholder 4">
            <a:extLst>
              <a:ext uri="{FF2B5EF4-FFF2-40B4-BE49-F238E27FC236}">
                <a16:creationId xmlns:a16="http://schemas.microsoft.com/office/drawing/2014/main" id="{BA830591-A332-4697-BB33-1E6B58F8C1A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0CC393B-52FC-4921-A3C8-DE253383793D}"/>
              </a:ext>
            </a:extLst>
          </p:cNvPr>
          <p:cNvSpPr>
            <a:spLocks noGrp="1"/>
          </p:cNvSpPr>
          <p:nvPr>
            <p:ph type="sldNum" sz="quarter" idx="12"/>
          </p:nvPr>
        </p:nvSpPr>
        <p:spPr/>
        <p:txBody>
          <a:bodyPr/>
          <a:lstStyle/>
          <a:p>
            <a:fld id="{332049DD-9EE2-4342-8B02-2B18EB8B7024}" type="slidenum">
              <a:rPr lang="en-CA" smtClean="0"/>
              <a:t>‹#›</a:t>
            </a:fld>
            <a:endParaRPr lang="en-CA"/>
          </a:p>
        </p:txBody>
      </p:sp>
    </p:spTree>
    <p:extLst>
      <p:ext uri="{BB962C8B-B14F-4D97-AF65-F5344CB8AC3E}">
        <p14:creationId xmlns:p14="http://schemas.microsoft.com/office/powerpoint/2010/main" val="3717428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F6EC-7FCC-475A-A736-7F20FB7066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15147BCB-61CB-4ACB-82D0-2A563E4BC5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D76033-BACC-41EE-BB72-036C57E672FF}"/>
              </a:ext>
            </a:extLst>
          </p:cNvPr>
          <p:cNvSpPr>
            <a:spLocks noGrp="1"/>
          </p:cNvSpPr>
          <p:nvPr>
            <p:ph type="dt" sz="half" idx="10"/>
          </p:nvPr>
        </p:nvSpPr>
        <p:spPr/>
        <p:txBody>
          <a:bodyPr/>
          <a:lstStyle/>
          <a:p>
            <a:fld id="{9ABC2618-6B55-4752-8143-D8DC01327273}" type="datetime1">
              <a:rPr lang="en-CA" smtClean="0"/>
              <a:t>2026-03-31</a:t>
            </a:fld>
            <a:endParaRPr lang="en-CA"/>
          </a:p>
        </p:txBody>
      </p:sp>
      <p:sp>
        <p:nvSpPr>
          <p:cNvPr id="5" name="Footer Placeholder 4">
            <a:extLst>
              <a:ext uri="{FF2B5EF4-FFF2-40B4-BE49-F238E27FC236}">
                <a16:creationId xmlns:a16="http://schemas.microsoft.com/office/drawing/2014/main" id="{AE913154-9625-4610-88BC-103E922DC04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C9CBA15-2787-43D2-A61B-7B160A35CF58}"/>
              </a:ext>
            </a:extLst>
          </p:cNvPr>
          <p:cNvSpPr>
            <a:spLocks noGrp="1"/>
          </p:cNvSpPr>
          <p:nvPr>
            <p:ph type="sldNum" sz="quarter" idx="12"/>
          </p:nvPr>
        </p:nvSpPr>
        <p:spPr/>
        <p:txBody>
          <a:bodyPr/>
          <a:lstStyle/>
          <a:p>
            <a:fld id="{332049DD-9EE2-4342-8B02-2B18EB8B7024}" type="slidenum">
              <a:rPr lang="en-CA" smtClean="0"/>
              <a:t>‹#›</a:t>
            </a:fld>
            <a:endParaRPr lang="en-CA"/>
          </a:p>
        </p:txBody>
      </p:sp>
    </p:spTree>
    <p:extLst>
      <p:ext uri="{BB962C8B-B14F-4D97-AF65-F5344CB8AC3E}">
        <p14:creationId xmlns:p14="http://schemas.microsoft.com/office/powerpoint/2010/main" val="2796555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4596-9ED5-4303-8210-0BEECF48218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D4E1DC3-7376-4B9B-ABFB-FC7F267162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BFCEA62D-F874-4596-918B-5D5B834333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42C3F967-4F88-48AF-905B-B98B62B6F740}"/>
              </a:ext>
            </a:extLst>
          </p:cNvPr>
          <p:cNvSpPr>
            <a:spLocks noGrp="1"/>
          </p:cNvSpPr>
          <p:nvPr>
            <p:ph type="dt" sz="half" idx="10"/>
          </p:nvPr>
        </p:nvSpPr>
        <p:spPr/>
        <p:txBody>
          <a:bodyPr/>
          <a:lstStyle/>
          <a:p>
            <a:fld id="{88126421-6E0A-4411-A6B2-71961C135E1E}" type="datetime1">
              <a:rPr lang="en-CA" smtClean="0"/>
              <a:t>2026-03-31</a:t>
            </a:fld>
            <a:endParaRPr lang="en-CA"/>
          </a:p>
        </p:txBody>
      </p:sp>
      <p:sp>
        <p:nvSpPr>
          <p:cNvPr id="6" name="Footer Placeholder 5">
            <a:extLst>
              <a:ext uri="{FF2B5EF4-FFF2-40B4-BE49-F238E27FC236}">
                <a16:creationId xmlns:a16="http://schemas.microsoft.com/office/drawing/2014/main" id="{3255978E-25D5-41C8-A671-32B6EDBF694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992E423-2125-4B33-AC3F-B5A4C51ECE41}"/>
              </a:ext>
            </a:extLst>
          </p:cNvPr>
          <p:cNvSpPr>
            <a:spLocks noGrp="1"/>
          </p:cNvSpPr>
          <p:nvPr>
            <p:ph type="sldNum" sz="quarter" idx="12"/>
          </p:nvPr>
        </p:nvSpPr>
        <p:spPr/>
        <p:txBody>
          <a:bodyPr/>
          <a:lstStyle/>
          <a:p>
            <a:fld id="{332049DD-9EE2-4342-8B02-2B18EB8B7024}" type="slidenum">
              <a:rPr lang="en-CA" smtClean="0"/>
              <a:t>‹#›</a:t>
            </a:fld>
            <a:endParaRPr lang="en-CA"/>
          </a:p>
        </p:txBody>
      </p:sp>
    </p:spTree>
    <p:extLst>
      <p:ext uri="{BB962C8B-B14F-4D97-AF65-F5344CB8AC3E}">
        <p14:creationId xmlns:p14="http://schemas.microsoft.com/office/powerpoint/2010/main" val="3793501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55F2-D34F-499C-92C0-675D375CDC08}"/>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D5F43AF-2344-46E7-B153-683BD1091A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AB7397-928B-48FC-A715-E150D3DABA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75EB4FE6-2A03-4521-93E4-4D75E987DA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83F09-DEA9-45FF-AB8F-C5C90BCEB3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55741E0-1861-4087-BBDD-546526D3FF4E}"/>
              </a:ext>
            </a:extLst>
          </p:cNvPr>
          <p:cNvSpPr>
            <a:spLocks noGrp="1"/>
          </p:cNvSpPr>
          <p:nvPr>
            <p:ph type="dt" sz="half" idx="10"/>
          </p:nvPr>
        </p:nvSpPr>
        <p:spPr/>
        <p:txBody>
          <a:bodyPr/>
          <a:lstStyle/>
          <a:p>
            <a:fld id="{C2875EE1-6B59-4605-8ECA-A930D9A97277}" type="datetime1">
              <a:rPr lang="en-CA" smtClean="0"/>
              <a:t>2026-03-31</a:t>
            </a:fld>
            <a:endParaRPr lang="en-CA"/>
          </a:p>
        </p:txBody>
      </p:sp>
      <p:sp>
        <p:nvSpPr>
          <p:cNvPr id="8" name="Footer Placeholder 7">
            <a:extLst>
              <a:ext uri="{FF2B5EF4-FFF2-40B4-BE49-F238E27FC236}">
                <a16:creationId xmlns:a16="http://schemas.microsoft.com/office/drawing/2014/main" id="{56656A77-E850-4E64-87E0-D57112B7920C}"/>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1C7B6E23-5828-4DF9-B92E-1892DDEA808F}"/>
              </a:ext>
            </a:extLst>
          </p:cNvPr>
          <p:cNvSpPr>
            <a:spLocks noGrp="1"/>
          </p:cNvSpPr>
          <p:nvPr>
            <p:ph type="sldNum" sz="quarter" idx="12"/>
          </p:nvPr>
        </p:nvSpPr>
        <p:spPr/>
        <p:txBody>
          <a:bodyPr/>
          <a:lstStyle/>
          <a:p>
            <a:fld id="{332049DD-9EE2-4342-8B02-2B18EB8B7024}" type="slidenum">
              <a:rPr lang="en-CA" smtClean="0"/>
              <a:t>‹#›</a:t>
            </a:fld>
            <a:endParaRPr lang="en-CA"/>
          </a:p>
        </p:txBody>
      </p:sp>
    </p:spTree>
    <p:extLst>
      <p:ext uri="{BB962C8B-B14F-4D97-AF65-F5344CB8AC3E}">
        <p14:creationId xmlns:p14="http://schemas.microsoft.com/office/powerpoint/2010/main" val="377465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33AC0-40FF-4B80-8A01-79499A93B062}"/>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E551AA6-7266-489E-9A4E-727D83D5B182}"/>
              </a:ext>
            </a:extLst>
          </p:cNvPr>
          <p:cNvSpPr>
            <a:spLocks noGrp="1"/>
          </p:cNvSpPr>
          <p:nvPr>
            <p:ph type="dt" sz="half" idx="10"/>
          </p:nvPr>
        </p:nvSpPr>
        <p:spPr/>
        <p:txBody>
          <a:bodyPr/>
          <a:lstStyle/>
          <a:p>
            <a:fld id="{2EEBE8D4-0600-4584-84FA-B494AFD70CEB}" type="datetime1">
              <a:rPr lang="en-CA" smtClean="0"/>
              <a:t>2026-03-31</a:t>
            </a:fld>
            <a:endParaRPr lang="en-CA"/>
          </a:p>
        </p:txBody>
      </p:sp>
      <p:sp>
        <p:nvSpPr>
          <p:cNvPr id="4" name="Footer Placeholder 3">
            <a:extLst>
              <a:ext uri="{FF2B5EF4-FFF2-40B4-BE49-F238E27FC236}">
                <a16:creationId xmlns:a16="http://schemas.microsoft.com/office/drawing/2014/main" id="{DDFA031B-33BF-4C05-BE78-50FD4152749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3B2780F9-B404-4C47-AB01-BAC58CF05532}"/>
              </a:ext>
            </a:extLst>
          </p:cNvPr>
          <p:cNvSpPr>
            <a:spLocks noGrp="1"/>
          </p:cNvSpPr>
          <p:nvPr>
            <p:ph type="sldNum" sz="quarter" idx="12"/>
          </p:nvPr>
        </p:nvSpPr>
        <p:spPr/>
        <p:txBody>
          <a:bodyPr/>
          <a:lstStyle/>
          <a:p>
            <a:fld id="{332049DD-9EE2-4342-8B02-2B18EB8B7024}" type="slidenum">
              <a:rPr lang="en-CA" smtClean="0"/>
              <a:t>‹#›</a:t>
            </a:fld>
            <a:endParaRPr lang="en-CA"/>
          </a:p>
        </p:txBody>
      </p:sp>
    </p:spTree>
    <p:extLst>
      <p:ext uri="{BB962C8B-B14F-4D97-AF65-F5344CB8AC3E}">
        <p14:creationId xmlns:p14="http://schemas.microsoft.com/office/powerpoint/2010/main" val="264647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949F50-3A18-467B-9DBB-BB5188169EC7}"/>
              </a:ext>
            </a:extLst>
          </p:cNvPr>
          <p:cNvSpPr>
            <a:spLocks noGrp="1"/>
          </p:cNvSpPr>
          <p:nvPr>
            <p:ph type="dt" sz="half" idx="10"/>
          </p:nvPr>
        </p:nvSpPr>
        <p:spPr/>
        <p:txBody>
          <a:bodyPr/>
          <a:lstStyle/>
          <a:p>
            <a:fld id="{B9A6DE40-6199-4E8F-9D27-23D1EC23C64B}" type="datetime1">
              <a:rPr lang="en-CA" smtClean="0"/>
              <a:t>2026-03-31</a:t>
            </a:fld>
            <a:endParaRPr lang="en-CA"/>
          </a:p>
        </p:txBody>
      </p:sp>
      <p:sp>
        <p:nvSpPr>
          <p:cNvPr id="3" name="Footer Placeholder 2">
            <a:extLst>
              <a:ext uri="{FF2B5EF4-FFF2-40B4-BE49-F238E27FC236}">
                <a16:creationId xmlns:a16="http://schemas.microsoft.com/office/drawing/2014/main" id="{3A9B9492-17A7-4B08-96E3-33F2EB3DBD9A}"/>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CE00FAC-F3D6-4850-B282-FD2C8631437F}"/>
              </a:ext>
            </a:extLst>
          </p:cNvPr>
          <p:cNvSpPr>
            <a:spLocks noGrp="1"/>
          </p:cNvSpPr>
          <p:nvPr>
            <p:ph type="sldNum" sz="quarter" idx="12"/>
          </p:nvPr>
        </p:nvSpPr>
        <p:spPr/>
        <p:txBody>
          <a:bodyPr/>
          <a:lstStyle/>
          <a:p>
            <a:fld id="{332049DD-9EE2-4342-8B02-2B18EB8B7024}" type="slidenum">
              <a:rPr lang="en-CA" smtClean="0"/>
              <a:t>‹#›</a:t>
            </a:fld>
            <a:endParaRPr lang="en-CA"/>
          </a:p>
        </p:txBody>
      </p:sp>
    </p:spTree>
    <p:extLst>
      <p:ext uri="{BB962C8B-B14F-4D97-AF65-F5344CB8AC3E}">
        <p14:creationId xmlns:p14="http://schemas.microsoft.com/office/powerpoint/2010/main" val="4093714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6027-D562-412F-9788-8CCB942D86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404176D-096C-48C7-8679-7075C14DDA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3FE28554-B3F7-4A84-A313-7B3200580E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B83103-547A-4FCF-98E8-7EE20F7B9E42}"/>
              </a:ext>
            </a:extLst>
          </p:cNvPr>
          <p:cNvSpPr>
            <a:spLocks noGrp="1"/>
          </p:cNvSpPr>
          <p:nvPr>
            <p:ph type="dt" sz="half" idx="10"/>
          </p:nvPr>
        </p:nvSpPr>
        <p:spPr/>
        <p:txBody>
          <a:bodyPr/>
          <a:lstStyle/>
          <a:p>
            <a:fld id="{F3F2CAD2-0C1C-4FE5-83F2-9A975AAA44DD}" type="datetime1">
              <a:rPr lang="en-CA" smtClean="0"/>
              <a:t>2026-03-31</a:t>
            </a:fld>
            <a:endParaRPr lang="en-CA"/>
          </a:p>
        </p:txBody>
      </p:sp>
      <p:sp>
        <p:nvSpPr>
          <p:cNvPr id="6" name="Footer Placeholder 5">
            <a:extLst>
              <a:ext uri="{FF2B5EF4-FFF2-40B4-BE49-F238E27FC236}">
                <a16:creationId xmlns:a16="http://schemas.microsoft.com/office/drawing/2014/main" id="{4E560D18-4C1D-40BA-8515-8A2F2A04576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2940C43-8738-4E98-A431-19D9FCC82BC3}"/>
              </a:ext>
            </a:extLst>
          </p:cNvPr>
          <p:cNvSpPr>
            <a:spLocks noGrp="1"/>
          </p:cNvSpPr>
          <p:nvPr>
            <p:ph type="sldNum" sz="quarter" idx="12"/>
          </p:nvPr>
        </p:nvSpPr>
        <p:spPr/>
        <p:txBody>
          <a:bodyPr/>
          <a:lstStyle/>
          <a:p>
            <a:fld id="{332049DD-9EE2-4342-8B02-2B18EB8B7024}" type="slidenum">
              <a:rPr lang="en-CA" smtClean="0"/>
              <a:t>‹#›</a:t>
            </a:fld>
            <a:endParaRPr lang="en-CA"/>
          </a:p>
        </p:txBody>
      </p:sp>
    </p:spTree>
    <p:extLst>
      <p:ext uri="{BB962C8B-B14F-4D97-AF65-F5344CB8AC3E}">
        <p14:creationId xmlns:p14="http://schemas.microsoft.com/office/powerpoint/2010/main" val="1181883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8A860-9D13-4581-9FEC-E20FEB80DD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5A225DCF-745B-4B6A-ABDB-D7DED567F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46004976-4889-4F97-A26A-BC170B19C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900ADD-465A-4A04-A60B-BADA6513FF96}"/>
              </a:ext>
            </a:extLst>
          </p:cNvPr>
          <p:cNvSpPr>
            <a:spLocks noGrp="1"/>
          </p:cNvSpPr>
          <p:nvPr>
            <p:ph type="dt" sz="half" idx="10"/>
          </p:nvPr>
        </p:nvSpPr>
        <p:spPr/>
        <p:txBody>
          <a:bodyPr/>
          <a:lstStyle/>
          <a:p>
            <a:fld id="{DB114716-E2F8-4BC0-82C0-43503CDABC44}" type="datetime1">
              <a:rPr lang="en-CA" smtClean="0"/>
              <a:t>2026-03-31</a:t>
            </a:fld>
            <a:endParaRPr lang="en-CA"/>
          </a:p>
        </p:txBody>
      </p:sp>
      <p:sp>
        <p:nvSpPr>
          <p:cNvPr id="6" name="Footer Placeholder 5">
            <a:extLst>
              <a:ext uri="{FF2B5EF4-FFF2-40B4-BE49-F238E27FC236}">
                <a16:creationId xmlns:a16="http://schemas.microsoft.com/office/drawing/2014/main" id="{FAD64A08-18E0-4C62-9485-74C5108AC15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D79D19C-8C8D-43FD-BB39-BD06C4E848FF}"/>
              </a:ext>
            </a:extLst>
          </p:cNvPr>
          <p:cNvSpPr>
            <a:spLocks noGrp="1"/>
          </p:cNvSpPr>
          <p:nvPr>
            <p:ph type="sldNum" sz="quarter" idx="12"/>
          </p:nvPr>
        </p:nvSpPr>
        <p:spPr/>
        <p:txBody>
          <a:bodyPr/>
          <a:lstStyle/>
          <a:p>
            <a:fld id="{332049DD-9EE2-4342-8B02-2B18EB8B7024}" type="slidenum">
              <a:rPr lang="en-CA" smtClean="0"/>
              <a:t>‹#›</a:t>
            </a:fld>
            <a:endParaRPr lang="en-CA"/>
          </a:p>
        </p:txBody>
      </p:sp>
    </p:spTree>
    <p:extLst>
      <p:ext uri="{BB962C8B-B14F-4D97-AF65-F5344CB8AC3E}">
        <p14:creationId xmlns:p14="http://schemas.microsoft.com/office/powerpoint/2010/main" val="3551886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69CD4-DE09-4B86-9BCD-C90EBF1C21D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B117038-5F95-4B1E-A831-021AC0CE4D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C1002ED-E97A-4C54-BB1D-9F6F3E1F8E12}"/>
              </a:ext>
            </a:extLst>
          </p:cNvPr>
          <p:cNvSpPr>
            <a:spLocks noGrp="1"/>
          </p:cNvSpPr>
          <p:nvPr>
            <p:ph type="dt" sz="half" idx="10"/>
          </p:nvPr>
        </p:nvSpPr>
        <p:spPr/>
        <p:txBody>
          <a:bodyPr/>
          <a:lstStyle/>
          <a:p>
            <a:fld id="{7B57BA91-DE5E-4096-97D4-92D61977373C}" type="datetime1">
              <a:rPr lang="en-CA" smtClean="0"/>
              <a:t>2026-03-31</a:t>
            </a:fld>
            <a:endParaRPr lang="en-CA"/>
          </a:p>
        </p:txBody>
      </p:sp>
      <p:sp>
        <p:nvSpPr>
          <p:cNvPr id="5" name="Footer Placeholder 4">
            <a:extLst>
              <a:ext uri="{FF2B5EF4-FFF2-40B4-BE49-F238E27FC236}">
                <a16:creationId xmlns:a16="http://schemas.microsoft.com/office/drawing/2014/main" id="{B9CB9354-8AB0-4692-9AC7-BFF90C6702B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C65BAE3-EA27-43A1-ACB6-E771709B05CF}"/>
              </a:ext>
            </a:extLst>
          </p:cNvPr>
          <p:cNvSpPr>
            <a:spLocks noGrp="1"/>
          </p:cNvSpPr>
          <p:nvPr>
            <p:ph type="sldNum" sz="quarter" idx="12"/>
          </p:nvPr>
        </p:nvSpPr>
        <p:spPr/>
        <p:txBody>
          <a:bodyPr/>
          <a:lstStyle/>
          <a:p>
            <a:fld id="{332049DD-9EE2-4342-8B02-2B18EB8B7024}" type="slidenum">
              <a:rPr lang="en-CA" smtClean="0"/>
              <a:t>‹#›</a:t>
            </a:fld>
            <a:endParaRPr lang="en-CA"/>
          </a:p>
        </p:txBody>
      </p:sp>
    </p:spTree>
    <p:extLst>
      <p:ext uri="{BB962C8B-B14F-4D97-AF65-F5344CB8AC3E}">
        <p14:creationId xmlns:p14="http://schemas.microsoft.com/office/powerpoint/2010/main" val="2556944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2781DA-DE43-4757-8DBC-FFEA19C8C1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33100E9-DA3B-4EDC-9574-4EEEA9C47A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ECC65FF-605E-406E-B884-A3A55E08BE0C}"/>
              </a:ext>
            </a:extLst>
          </p:cNvPr>
          <p:cNvSpPr>
            <a:spLocks noGrp="1"/>
          </p:cNvSpPr>
          <p:nvPr>
            <p:ph type="dt" sz="half" idx="10"/>
          </p:nvPr>
        </p:nvSpPr>
        <p:spPr/>
        <p:txBody>
          <a:bodyPr/>
          <a:lstStyle/>
          <a:p>
            <a:fld id="{7512440B-DBBA-4CDC-AF70-796421F5C549}" type="datetime1">
              <a:rPr lang="en-CA" smtClean="0"/>
              <a:t>2026-03-31</a:t>
            </a:fld>
            <a:endParaRPr lang="en-CA"/>
          </a:p>
        </p:txBody>
      </p:sp>
      <p:sp>
        <p:nvSpPr>
          <p:cNvPr id="5" name="Footer Placeholder 4">
            <a:extLst>
              <a:ext uri="{FF2B5EF4-FFF2-40B4-BE49-F238E27FC236}">
                <a16:creationId xmlns:a16="http://schemas.microsoft.com/office/drawing/2014/main" id="{AEE00D4E-B1A0-480F-8E88-08CC5CB4520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8424B70-CAB6-4DB8-BD0B-4903EE484A53}"/>
              </a:ext>
            </a:extLst>
          </p:cNvPr>
          <p:cNvSpPr>
            <a:spLocks noGrp="1"/>
          </p:cNvSpPr>
          <p:nvPr>
            <p:ph type="sldNum" sz="quarter" idx="12"/>
          </p:nvPr>
        </p:nvSpPr>
        <p:spPr/>
        <p:txBody>
          <a:bodyPr/>
          <a:lstStyle/>
          <a:p>
            <a:fld id="{332049DD-9EE2-4342-8B02-2B18EB8B7024}" type="slidenum">
              <a:rPr lang="en-CA" smtClean="0"/>
              <a:t>‹#›</a:t>
            </a:fld>
            <a:endParaRPr lang="en-CA"/>
          </a:p>
        </p:txBody>
      </p:sp>
    </p:spTree>
    <p:extLst>
      <p:ext uri="{BB962C8B-B14F-4D97-AF65-F5344CB8AC3E}">
        <p14:creationId xmlns:p14="http://schemas.microsoft.com/office/powerpoint/2010/main" val="3258904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50967D-2D23-4CC6-AC3A-FFF4AB715D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37F7E6AA-96C1-46A4-BC1A-0CB368FD11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5206CE3-44BA-40B6-9D3F-8E31E7C284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48AB8D-3D38-41A1-8C09-D6731EA6C91E}" type="datetime1">
              <a:rPr lang="en-CA" smtClean="0"/>
              <a:t>2026-03-31</a:t>
            </a:fld>
            <a:endParaRPr lang="en-CA"/>
          </a:p>
        </p:txBody>
      </p:sp>
      <p:sp>
        <p:nvSpPr>
          <p:cNvPr id="5" name="Footer Placeholder 4">
            <a:extLst>
              <a:ext uri="{FF2B5EF4-FFF2-40B4-BE49-F238E27FC236}">
                <a16:creationId xmlns:a16="http://schemas.microsoft.com/office/drawing/2014/main" id="{F420F003-CCE6-44D8-B2D6-1B2556E86F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2F25AE1D-5B6D-4C39-8C0F-4AB15773FB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2049DD-9EE2-4342-8B02-2B18EB8B7024}" type="slidenum">
              <a:rPr lang="en-CA" smtClean="0"/>
              <a:t>‹#›</a:t>
            </a:fld>
            <a:endParaRPr lang="en-CA"/>
          </a:p>
        </p:txBody>
      </p:sp>
    </p:spTree>
    <p:extLst>
      <p:ext uri="{BB962C8B-B14F-4D97-AF65-F5344CB8AC3E}">
        <p14:creationId xmlns:p14="http://schemas.microsoft.com/office/powerpoint/2010/main" val="2203343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24.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Video 5" descr="Chemical Compounds">
            <a:extLst>
              <a:ext uri="{FF2B5EF4-FFF2-40B4-BE49-F238E27FC236}">
                <a16:creationId xmlns:a16="http://schemas.microsoft.com/office/drawing/2014/main" id="{C5B1158C-DEAE-7109-280D-C3E74A634B9B}"/>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5"/>
          <a:stretch>
            <a:fillRect/>
          </a:stretch>
        </p:blipFill>
        <p:spPr>
          <a:xfrm>
            <a:off x="-3047" y="10"/>
            <a:ext cx="12191999" cy="6857990"/>
          </a:xfrm>
          <a:prstGeom prst="rect">
            <a:avLst/>
          </a:prstGeom>
        </p:spPr>
      </p:pic>
      <p:sp>
        <p:nvSpPr>
          <p:cNvPr id="12" name="Rectangle 1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EBD532-A462-1F40-EFEB-126497DE42CB}"/>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GB" sz="5200">
                <a:solidFill>
                  <a:srgbClr val="FFFFFF"/>
                </a:solidFill>
              </a:rPr>
              <a:t>Basic AI/ML</a:t>
            </a:r>
            <a:endParaRPr lang="en-PK" sz="5200">
              <a:solidFill>
                <a:srgbClr val="FFFFFF"/>
              </a:solidFill>
            </a:endParaRPr>
          </a:p>
        </p:txBody>
      </p:sp>
      <p:sp>
        <p:nvSpPr>
          <p:cNvPr id="3" name="Subtitle 2">
            <a:extLst>
              <a:ext uri="{FF2B5EF4-FFF2-40B4-BE49-F238E27FC236}">
                <a16:creationId xmlns:a16="http://schemas.microsoft.com/office/drawing/2014/main" id="{CE34E17B-55D3-EFDC-994A-0C693C86DDFD}"/>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endParaRPr lang="en-PK" dirty="0">
              <a:solidFill>
                <a:srgbClr val="FFFFFF"/>
              </a:solidFill>
            </a:endParaRPr>
          </a:p>
        </p:txBody>
      </p:sp>
      <p:sp>
        <p:nvSpPr>
          <p:cNvPr id="4" name="Slide Number Placeholder 3">
            <a:extLst>
              <a:ext uri="{FF2B5EF4-FFF2-40B4-BE49-F238E27FC236}">
                <a16:creationId xmlns:a16="http://schemas.microsoft.com/office/drawing/2014/main" id="{BA4E9BAE-193B-1837-4AB5-947190C18BD1}"/>
              </a:ext>
            </a:extLst>
          </p:cNvPr>
          <p:cNvSpPr>
            <a:spLocks noGrp="1"/>
          </p:cNvSpPr>
          <p:nvPr>
            <p:ph type="sldNum" sz="quarter" idx="12"/>
          </p:nvPr>
        </p:nvSpPr>
        <p:spPr>
          <a:xfrm>
            <a:off x="8610600" y="6356350"/>
            <a:ext cx="2743200" cy="365125"/>
          </a:xfrm>
        </p:spPr>
        <p:txBody>
          <a:bodyPr>
            <a:normAutofit/>
          </a:bodyPr>
          <a:lstStyle/>
          <a:p>
            <a:pPr>
              <a:spcAft>
                <a:spcPts val="600"/>
              </a:spcAft>
            </a:pPr>
            <a:fld id="{332049DD-9EE2-4342-8B02-2B18EB8B7024}" type="slidenum">
              <a:rPr lang="en-CA">
                <a:solidFill>
                  <a:srgbClr val="FFFFFF"/>
                </a:solidFill>
              </a:rPr>
              <a:pPr>
                <a:spcAft>
                  <a:spcPts val="600"/>
                </a:spcAft>
              </a:pPr>
              <a:t>1</a:t>
            </a:fld>
            <a:endParaRPr lang="en-CA">
              <a:solidFill>
                <a:srgbClr val="FFFFFF"/>
              </a:solidFill>
            </a:endParaRPr>
          </a:p>
        </p:txBody>
      </p:sp>
    </p:spTree>
    <p:extLst>
      <p:ext uri="{BB962C8B-B14F-4D97-AF65-F5344CB8AC3E}">
        <p14:creationId xmlns:p14="http://schemas.microsoft.com/office/powerpoint/2010/main" val="902199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4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mute="1">
                <p:cTn id="12" repeatCount="indefinite" fill="hold" display="0">
                  <p:stCondLst>
                    <p:cond delay="indefinite"/>
                  </p:stCondLst>
                </p:cTn>
                <p:tgtEl>
                  <p:spTgt spid="6"/>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5B7E95-C4B8-44CD-9DAB-BE7D1413B6A4}"/>
              </a:ext>
            </a:extLst>
          </p:cNvPr>
          <p:cNvSpPr>
            <a:spLocks noGrp="1"/>
          </p:cNvSpPr>
          <p:nvPr>
            <p:ph type="title"/>
          </p:nvPr>
        </p:nvSpPr>
        <p:spPr>
          <a:xfrm>
            <a:off x="466722" y="586855"/>
            <a:ext cx="3201366" cy="3387497"/>
          </a:xfrm>
        </p:spPr>
        <p:txBody>
          <a:bodyPr anchor="b">
            <a:normAutofit/>
          </a:bodyPr>
          <a:lstStyle/>
          <a:p>
            <a:pPr algn="r"/>
            <a:r>
              <a:rPr lang="en-CA" sz="4000">
                <a:solidFill>
                  <a:srgbClr val="FFFFFF"/>
                </a:solidFill>
              </a:rPr>
              <a:t>Learning from Examples</a:t>
            </a:r>
          </a:p>
        </p:txBody>
      </p:sp>
      <p:sp>
        <p:nvSpPr>
          <p:cNvPr id="3" name="Content Placeholder 2">
            <a:extLst>
              <a:ext uri="{FF2B5EF4-FFF2-40B4-BE49-F238E27FC236}">
                <a16:creationId xmlns:a16="http://schemas.microsoft.com/office/drawing/2014/main" id="{B2A4C27F-00B6-404F-BC75-5B64DF0A6508}"/>
              </a:ext>
            </a:extLst>
          </p:cNvPr>
          <p:cNvSpPr>
            <a:spLocks noGrp="1"/>
          </p:cNvSpPr>
          <p:nvPr>
            <p:ph idx="1"/>
          </p:nvPr>
        </p:nvSpPr>
        <p:spPr>
          <a:xfrm>
            <a:off x="4810259" y="649480"/>
            <a:ext cx="6555347" cy="5546047"/>
          </a:xfrm>
        </p:spPr>
        <p:txBody>
          <a:bodyPr anchor="ctr">
            <a:normAutofit/>
          </a:bodyPr>
          <a:lstStyle/>
          <a:p>
            <a:r>
              <a:rPr lang="en-CA" sz="2000"/>
              <a:t>Learning Agents</a:t>
            </a:r>
          </a:p>
          <a:p>
            <a:r>
              <a:rPr lang="en-CA" sz="2000"/>
              <a:t>Machine Learning</a:t>
            </a:r>
          </a:p>
          <a:p>
            <a:r>
              <a:rPr lang="en-CA" sz="2000"/>
              <a:t>Simple Linear Regression</a:t>
            </a:r>
          </a:p>
          <a:p>
            <a:r>
              <a:rPr lang="en-CA" sz="2000"/>
              <a:t>Model, Parameters, Loss function</a:t>
            </a:r>
          </a:p>
          <a:p>
            <a:r>
              <a:rPr lang="en-CA" sz="2000"/>
              <a:t>Finding the Best Fit</a:t>
            </a:r>
          </a:p>
          <a:p>
            <a:r>
              <a:rPr lang="en-CA" sz="2000"/>
              <a:t>Multiple Regression</a:t>
            </a:r>
          </a:p>
          <a:p>
            <a:r>
              <a:rPr lang="en-CA" sz="2000"/>
              <a:t>Modeling Seasonal Trends</a:t>
            </a:r>
          </a:p>
          <a:p>
            <a:r>
              <a:rPr lang="en-CA" sz="2000"/>
              <a:t>General Model with D-features</a:t>
            </a:r>
          </a:p>
          <a:p>
            <a:r>
              <a:rPr lang="en-CA" sz="2000"/>
              <a:t>Estimating Optimal Parameters</a:t>
            </a:r>
          </a:p>
          <a:p>
            <a:pPr lvl="1"/>
            <a:r>
              <a:rPr lang="en-CA" sz="2000"/>
              <a:t>Closed Form Solution</a:t>
            </a:r>
          </a:p>
          <a:p>
            <a:pPr lvl="1"/>
            <a:r>
              <a:rPr lang="en-CA" sz="2000"/>
              <a:t>Gradient Descent</a:t>
            </a:r>
          </a:p>
          <a:p>
            <a:endParaRPr lang="en-CA" sz="2000"/>
          </a:p>
        </p:txBody>
      </p:sp>
      <p:sp>
        <p:nvSpPr>
          <p:cNvPr id="4" name="Slide Number Placeholder 3">
            <a:extLst>
              <a:ext uri="{FF2B5EF4-FFF2-40B4-BE49-F238E27FC236}">
                <a16:creationId xmlns:a16="http://schemas.microsoft.com/office/drawing/2014/main" id="{D5A03A10-95EC-4E5D-A2B2-C4E2224A9AAF}"/>
              </a:ext>
            </a:extLst>
          </p:cNvPr>
          <p:cNvSpPr>
            <a:spLocks noGrp="1"/>
          </p:cNvSpPr>
          <p:nvPr>
            <p:ph type="sldNum" sz="quarter" idx="12"/>
          </p:nvPr>
        </p:nvSpPr>
        <p:spPr>
          <a:xfrm>
            <a:off x="11704320" y="6455664"/>
            <a:ext cx="448056" cy="365125"/>
          </a:xfrm>
        </p:spPr>
        <p:txBody>
          <a:bodyPr>
            <a:normAutofit/>
          </a:bodyPr>
          <a:lstStyle/>
          <a:p>
            <a:pPr>
              <a:spcAft>
                <a:spcPts val="600"/>
              </a:spcAft>
            </a:pPr>
            <a:fld id="{332049DD-9EE2-4342-8B02-2B18EB8B7024}" type="slidenum">
              <a:rPr lang="en-CA" sz="1100">
                <a:solidFill>
                  <a:schemeClr val="tx1">
                    <a:lumMod val="50000"/>
                    <a:lumOff val="50000"/>
                  </a:schemeClr>
                </a:solidFill>
              </a:rPr>
              <a:pPr>
                <a:spcAft>
                  <a:spcPts val="600"/>
                </a:spcAft>
              </a:pPr>
              <a:t>2</a:t>
            </a:fld>
            <a:endParaRPr lang="en-CA" sz="1100">
              <a:solidFill>
                <a:schemeClr val="tx1">
                  <a:lumMod val="50000"/>
                  <a:lumOff val="50000"/>
                </a:schemeClr>
              </a:solidFill>
            </a:endParaRPr>
          </a:p>
        </p:txBody>
      </p:sp>
    </p:spTree>
    <p:extLst>
      <p:ext uri="{BB962C8B-B14F-4D97-AF65-F5344CB8AC3E}">
        <p14:creationId xmlns:p14="http://schemas.microsoft.com/office/powerpoint/2010/main" val="3127196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DD158A-C636-4DBF-AF33-09B50F97CB83}"/>
              </a:ext>
            </a:extLst>
          </p:cNvPr>
          <p:cNvSpPr>
            <a:spLocks noGrp="1"/>
          </p:cNvSpPr>
          <p:nvPr>
            <p:ph type="title"/>
          </p:nvPr>
        </p:nvSpPr>
        <p:spPr>
          <a:xfrm>
            <a:off x="1371599" y="294538"/>
            <a:ext cx="9895951" cy="1033669"/>
          </a:xfrm>
        </p:spPr>
        <p:txBody>
          <a:bodyPr vert="horz" lIns="91440" tIns="45720" rIns="91440" bIns="45720" rtlCol="0">
            <a:normAutofit/>
          </a:bodyPr>
          <a:lstStyle/>
          <a:p>
            <a:r>
              <a:rPr lang="en-US" sz="4000">
                <a:solidFill>
                  <a:srgbClr val="FFFFFF"/>
                </a:solidFill>
              </a:rPr>
              <a:t>Learning Agents</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37961833-ADE5-47D4-B972-C8A4E4078F0F}"/>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a:t>An agent is learning if it improves its performance after making observations about the world</a:t>
            </a:r>
          </a:p>
          <a:p>
            <a:pPr marL="0" indent="0">
              <a:buNone/>
            </a:pPr>
            <a:endParaRPr lang="en-US" sz="2000"/>
          </a:p>
          <a:p>
            <a:pPr marL="0" indent="0">
              <a:buNone/>
            </a:pPr>
            <a:endParaRPr lang="en-US" sz="2000"/>
          </a:p>
          <a:p>
            <a:pPr marL="0" indent="0">
              <a:buNone/>
            </a:pPr>
            <a:endParaRPr lang="en-US" sz="2000"/>
          </a:p>
        </p:txBody>
      </p:sp>
      <p:sp>
        <p:nvSpPr>
          <p:cNvPr id="4" name="Slide Number Placeholder 3">
            <a:extLst>
              <a:ext uri="{FF2B5EF4-FFF2-40B4-BE49-F238E27FC236}">
                <a16:creationId xmlns:a16="http://schemas.microsoft.com/office/drawing/2014/main" id="{D78AE44F-642B-4B91-91D2-E727C94C0587}"/>
              </a:ext>
            </a:extLst>
          </p:cNvPr>
          <p:cNvSpPr>
            <a:spLocks noGrp="1"/>
          </p:cNvSpPr>
          <p:nvPr>
            <p:ph type="sldNum" sz="quarter" idx="12"/>
          </p:nvPr>
        </p:nvSpPr>
        <p:spPr>
          <a:xfrm>
            <a:off x="11704320" y="6455431"/>
            <a:ext cx="445913"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332049DD-9EE2-4342-8B02-2B18EB8B7024}" type="slidenum">
              <a:rPr kumimoji="0" lang="en-CA" sz="1100" b="0" i="0" u="none" strike="noStrike" kern="1200" cap="none" spc="0" normalizeH="0" baseline="0" noProof="0">
                <a:ln>
                  <a:noFill/>
                </a:ln>
                <a:solidFill>
                  <a:schemeClr val="tx1">
                    <a:lumMod val="50000"/>
                    <a:lumOff val="50000"/>
                  </a:schemeClr>
                </a:solidFill>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3</a:t>
            </a:fld>
            <a:endParaRPr kumimoji="0" lang="en-CA" sz="1100" b="0" i="0" u="none" strike="noStrike" kern="1200" cap="none" spc="0" normalizeH="0" baseline="0" noProof="0">
              <a:ln>
                <a:noFill/>
              </a:ln>
              <a:solidFill>
                <a:schemeClr val="tx1">
                  <a:lumMod val="50000"/>
                  <a:lumOff val="50000"/>
                </a:scheme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9620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DD158A-C636-4DBF-AF33-09B50F97CB83}"/>
              </a:ext>
            </a:extLst>
          </p:cNvPr>
          <p:cNvSpPr>
            <a:spLocks noGrp="1"/>
          </p:cNvSpPr>
          <p:nvPr>
            <p:ph type="title"/>
          </p:nvPr>
        </p:nvSpPr>
        <p:spPr>
          <a:xfrm>
            <a:off x="1371599" y="294538"/>
            <a:ext cx="9895951" cy="1033669"/>
          </a:xfrm>
        </p:spPr>
        <p:txBody>
          <a:bodyPr vert="horz" lIns="91440" tIns="45720" rIns="91440" bIns="45720" rtlCol="0">
            <a:normAutofit/>
          </a:bodyPr>
          <a:lstStyle/>
          <a:p>
            <a:r>
              <a:rPr lang="en-US" sz="4000">
                <a:solidFill>
                  <a:srgbClr val="FFFFFF"/>
                </a:solidFill>
              </a:rPr>
              <a:t>Machine Learning</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37961833-ADE5-47D4-B972-C8A4E4078F0F}"/>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a:t>A computer observes some data, builds a model based on the data, and uses the model as both a hypothesis about the world and a piece of software that can solve problems</a:t>
            </a:r>
          </a:p>
          <a:p>
            <a:pPr marL="0" indent="0">
              <a:buNone/>
            </a:pPr>
            <a:endParaRPr lang="en-US" sz="2000" dirty="0"/>
          </a:p>
          <a:p>
            <a:pPr marL="0" indent="0">
              <a:buNone/>
            </a:pPr>
            <a:endParaRPr lang="en-US" sz="2000" dirty="0"/>
          </a:p>
        </p:txBody>
      </p:sp>
      <p:sp>
        <p:nvSpPr>
          <p:cNvPr id="4" name="Slide Number Placeholder 3">
            <a:extLst>
              <a:ext uri="{FF2B5EF4-FFF2-40B4-BE49-F238E27FC236}">
                <a16:creationId xmlns:a16="http://schemas.microsoft.com/office/drawing/2014/main" id="{D78AE44F-642B-4B91-91D2-E727C94C0587}"/>
              </a:ext>
            </a:extLst>
          </p:cNvPr>
          <p:cNvSpPr>
            <a:spLocks noGrp="1"/>
          </p:cNvSpPr>
          <p:nvPr>
            <p:ph type="sldNum" sz="quarter" idx="12"/>
          </p:nvPr>
        </p:nvSpPr>
        <p:spPr>
          <a:xfrm>
            <a:off x="11704320" y="6455431"/>
            <a:ext cx="445913"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332049DD-9EE2-4342-8B02-2B18EB8B7024}" type="slidenum">
              <a:rPr kumimoji="0" lang="en-CA" sz="1100" b="0" i="0" u="none" strike="noStrike" kern="1200" cap="none" spc="0" normalizeH="0" baseline="0" noProof="0">
                <a:ln>
                  <a:noFill/>
                </a:ln>
                <a:solidFill>
                  <a:schemeClr val="tx1">
                    <a:lumMod val="50000"/>
                    <a:lumOff val="50000"/>
                  </a:schemeClr>
                </a:solidFill>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4</a:t>
            </a:fld>
            <a:endParaRPr kumimoji="0" lang="en-CA" sz="1100" b="0" i="0" u="none" strike="noStrike" kern="1200" cap="none" spc="0" normalizeH="0" baseline="0" noProof="0">
              <a:ln>
                <a:noFill/>
              </a:ln>
              <a:solidFill>
                <a:schemeClr val="tx1">
                  <a:lumMod val="50000"/>
                  <a:lumOff val="50000"/>
                </a:scheme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3263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5B7E95-C4B8-44CD-9DAB-BE7D1413B6A4}"/>
              </a:ext>
            </a:extLst>
          </p:cNvPr>
          <p:cNvSpPr>
            <a:spLocks noGrp="1"/>
          </p:cNvSpPr>
          <p:nvPr>
            <p:ph type="title"/>
          </p:nvPr>
        </p:nvSpPr>
        <p:spPr>
          <a:xfrm>
            <a:off x="1371599" y="294538"/>
            <a:ext cx="9895951" cy="1033669"/>
          </a:xfrm>
        </p:spPr>
        <p:txBody>
          <a:bodyPr>
            <a:normAutofit/>
          </a:bodyPr>
          <a:lstStyle/>
          <a:p>
            <a:r>
              <a:rPr lang="en-US" sz="2200">
                <a:solidFill>
                  <a:srgbClr val="FFFFFF"/>
                </a:solidFill>
              </a:rPr>
              <a:t>Forms of Learning</a:t>
            </a:r>
            <a:br>
              <a:rPr lang="en-US" sz="2200">
                <a:solidFill>
                  <a:srgbClr val="FFFFFF"/>
                </a:solidFill>
              </a:rPr>
            </a:br>
            <a:br>
              <a:rPr lang="en-US" sz="2200">
                <a:solidFill>
                  <a:srgbClr val="FFFFFF"/>
                </a:solidFill>
              </a:rPr>
            </a:br>
            <a:r>
              <a:rPr lang="en-US" sz="2200">
                <a:solidFill>
                  <a:srgbClr val="FFFFFF"/>
                </a:solidFill>
              </a:rPr>
              <a:t>ML can improve any component of an agent program</a:t>
            </a:r>
            <a:endParaRPr lang="en-CA" sz="2200">
              <a:solidFill>
                <a:srgbClr val="FFFFFF"/>
              </a:solidFill>
            </a:endParaRPr>
          </a:p>
        </p:txBody>
      </p:sp>
      <p:sp>
        <p:nvSpPr>
          <p:cNvPr id="3" name="Content Placeholder 2">
            <a:extLst>
              <a:ext uri="{FF2B5EF4-FFF2-40B4-BE49-F238E27FC236}">
                <a16:creationId xmlns:a16="http://schemas.microsoft.com/office/drawing/2014/main" id="{B2A4C27F-00B6-404F-BC75-5B64DF0A6508}"/>
              </a:ext>
            </a:extLst>
          </p:cNvPr>
          <p:cNvSpPr>
            <a:spLocks noGrp="1"/>
          </p:cNvSpPr>
          <p:nvPr>
            <p:ph idx="1"/>
          </p:nvPr>
        </p:nvSpPr>
        <p:spPr>
          <a:xfrm>
            <a:off x="1371599" y="2318197"/>
            <a:ext cx="9724031" cy="3683358"/>
          </a:xfrm>
        </p:spPr>
        <p:txBody>
          <a:bodyPr anchor="ctr">
            <a:normAutofit/>
          </a:bodyPr>
          <a:lstStyle/>
          <a:p>
            <a:pPr marL="0" indent="0">
              <a:buNone/>
            </a:pPr>
            <a:r>
              <a:rPr lang="en-US" sz="2000"/>
              <a:t>The improvements, and the techniques used to make them, depends on: </a:t>
            </a:r>
          </a:p>
          <a:p>
            <a:r>
              <a:rPr lang="en-US" sz="2000"/>
              <a:t>Which component is to be improved </a:t>
            </a:r>
          </a:p>
          <a:p>
            <a:r>
              <a:rPr lang="en-US" sz="2000"/>
              <a:t>Agent’s prior knowledge</a:t>
            </a:r>
          </a:p>
          <a:p>
            <a:r>
              <a:rPr lang="en-US" sz="2000"/>
              <a:t>Available data and feedback on that data</a:t>
            </a:r>
          </a:p>
        </p:txBody>
      </p:sp>
      <p:sp>
        <p:nvSpPr>
          <p:cNvPr id="4" name="Slide Number Placeholder 3">
            <a:extLst>
              <a:ext uri="{FF2B5EF4-FFF2-40B4-BE49-F238E27FC236}">
                <a16:creationId xmlns:a16="http://schemas.microsoft.com/office/drawing/2014/main" id="{D5A03A10-95EC-4E5D-A2B2-C4E2224A9AAF}"/>
              </a:ext>
            </a:extLst>
          </p:cNvPr>
          <p:cNvSpPr>
            <a:spLocks noGrp="1"/>
          </p:cNvSpPr>
          <p:nvPr>
            <p:ph type="sldNum" sz="quarter" idx="12"/>
          </p:nvPr>
        </p:nvSpPr>
        <p:spPr>
          <a:xfrm>
            <a:off x="11704320" y="6455431"/>
            <a:ext cx="445913" cy="365125"/>
          </a:xfrm>
        </p:spPr>
        <p:txBody>
          <a:bodyPr>
            <a:normAutofit/>
          </a:bodyPr>
          <a:lstStyle/>
          <a:p>
            <a:pPr>
              <a:spcAft>
                <a:spcPts val="600"/>
              </a:spcAft>
            </a:pPr>
            <a:fld id="{332049DD-9EE2-4342-8B02-2B18EB8B7024}" type="slidenum">
              <a:rPr lang="en-CA" sz="1100">
                <a:solidFill>
                  <a:schemeClr val="tx1">
                    <a:lumMod val="50000"/>
                    <a:lumOff val="50000"/>
                  </a:schemeClr>
                </a:solidFill>
              </a:rPr>
              <a:pPr>
                <a:spcAft>
                  <a:spcPts val="600"/>
                </a:spcAft>
              </a:pPr>
              <a:t>5</a:t>
            </a:fld>
            <a:endParaRPr lang="en-CA" sz="1100">
              <a:solidFill>
                <a:schemeClr val="tx1">
                  <a:lumMod val="50000"/>
                  <a:lumOff val="50000"/>
                </a:schemeClr>
              </a:solidFill>
            </a:endParaRPr>
          </a:p>
        </p:txBody>
      </p:sp>
    </p:spTree>
    <p:extLst>
      <p:ext uri="{BB962C8B-B14F-4D97-AF65-F5344CB8AC3E}">
        <p14:creationId xmlns:p14="http://schemas.microsoft.com/office/powerpoint/2010/main" val="4221041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5B7E95-C4B8-44CD-9DAB-BE7D1413B6A4}"/>
              </a:ext>
            </a:extLst>
          </p:cNvPr>
          <p:cNvSpPr>
            <a:spLocks noGrp="1"/>
          </p:cNvSpPr>
          <p:nvPr>
            <p:ph type="title"/>
          </p:nvPr>
        </p:nvSpPr>
        <p:spPr>
          <a:xfrm>
            <a:off x="826396" y="586855"/>
            <a:ext cx="4230100" cy="3387497"/>
          </a:xfrm>
        </p:spPr>
        <p:txBody>
          <a:bodyPr anchor="b">
            <a:normAutofit/>
          </a:bodyPr>
          <a:lstStyle/>
          <a:p>
            <a:pPr algn="r"/>
            <a:r>
              <a:rPr lang="en-US" sz="3400">
                <a:solidFill>
                  <a:srgbClr val="FFFFFF"/>
                </a:solidFill>
              </a:rPr>
              <a:t>Forms of Learning</a:t>
            </a:r>
            <a:br>
              <a:rPr lang="en-US" sz="3400">
                <a:solidFill>
                  <a:srgbClr val="FFFFFF"/>
                </a:solidFill>
              </a:rPr>
            </a:br>
            <a:br>
              <a:rPr lang="en-US" sz="3400">
                <a:solidFill>
                  <a:srgbClr val="FFFFFF"/>
                </a:solidFill>
              </a:rPr>
            </a:br>
            <a:r>
              <a:rPr lang="en-US" sz="3400">
                <a:solidFill>
                  <a:srgbClr val="FFFFFF"/>
                </a:solidFill>
              </a:rPr>
              <a:t>Components of different agent designs</a:t>
            </a:r>
            <a:br>
              <a:rPr lang="en-US" sz="3400">
                <a:solidFill>
                  <a:srgbClr val="FFFFFF"/>
                </a:solidFill>
              </a:rPr>
            </a:br>
            <a:br>
              <a:rPr lang="en-US" sz="3400">
                <a:solidFill>
                  <a:srgbClr val="FFFFFF"/>
                </a:solidFill>
              </a:rPr>
            </a:br>
            <a:r>
              <a:rPr lang="en-US" sz="3400">
                <a:solidFill>
                  <a:srgbClr val="FFFFFF"/>
                </a:solidFill>
              </a:rPr>
              <a:t>Recap</a:t>
            </a:r>
            <a:endParaRPr lang="en-CA" sz="3400">
              <a:solidFill>
                <a:srgbClr val="FFFFFF"/>
              </a:solidFill>
            </a:endParaRPr>
          </a:p>
        </p:txBody>
      </p:sp>
      <p:sp>
        <p:nvSpPr>
          <p:cNvPr id="3" name="Content Placeholder 2">
            <a:extLst>
              <a:ext uri="{FF2B5EF4-FFF2-40B4-BE49-F238E27FC236}">
                <a16:creationId xmlns:a16="http://schemas.microsoft.com/office/drawing/2014/main" id="{B2A4C27F-00B6-404F-BC75-5B64DF0A6508}"/>
              </a:ext>
            </a:extLst>
          </p:cNvPr>
          <p:cNvSpPr>
            <a:spLocks noGrp="1"/>
          </p:cNvSpPr>
          <p:nvPr>
            <p:ph idx="1"/>
          </p:nvPr>
        </p:nvSpPr>
        <p:spPr>
          <a:xfrm>
            <a:off x="6503158" y="649480"/>
            <a:ext cx="4862447" cy="5546047"/>
          </a:xfrm>
        </p:spPr>
        <p:txBody>
          <a:bodyPr anchor="ctr">
            <a:normAutofit/>
          </a:bodyPr>
          <a:lstStyle/>
          <a:p>
            <a:r>
              <a:rPr lang="en-US" sz="2000"/>
              <a:t>A direct mapping from conditions on the current state to actions</a:t>
            </a:r>
          </a:p>
          <a:p>
            <a:r>
              <a:rPr lang="en-US" sz="2000"/>
              <a:t>A means to infer relevant properties of the world from the percept sequence</a:t>
            </a:r>
          </a:p>
          <a:p>
            <a:r>
              <a:rPr lang="en-US" sz="2000"/>
              <a:t>Information on how the world evolves and result of the agent actions</a:t>
            </a:r>
          </a:p>
          <a:p>
            <a:r>
              <a:rPr lang="en-US" sz="2000"/>
              <a:t>Utility information- desirability of world states</a:t>
            </a:r>
          </a:p>
        </p:txBody>
      </p:sp>
      <p:sp>
        <p:nvSpPr>
          <p:cNvPr id="4" name="Slide Number Placeholder 3">
            <a:extLst>
              <a:ext uri="{FF2B5EF4-FFF2-40B4-BE49-F238E27FC236}">
                <a16:creationId xmlns:a16="http://schemas.microsoft.com/office/drawing/2014/main" id="{D5A03A10-95EC-4E5D-A2B2-C4E2224A9AAF}"/>
              </a:ext>
            </a:extLst>
          </p:cNvPr>
          <p:cNvSpPr>
            <a:spLocks noGrp="1"/>
          </p:cNvSpPr>
          <p:nvPr>
            <p:ph type="sldNum" sz="quarter" idx="12"/>
          </p:nvPr>
        </p:nvSpPr>
        <p:spPr>
          <a:xfrm>
            <a:off x="11704320" y="6455664"/>
            <a:ext cx="448056" cy="365125"/>
          </a:xfrm>
        </p:spPr>
        <p:txBody>
          <a:bodyPr>
            <a:normAutofit/>
          </a:bodyPr>
          <a:lstStyle/>
          <a:p>
            <a:pPr>
              <a:spcAft>
                <a:spcPts val="600"/>
              </a:spcAft>
            </a:pPr>
            <a:fld id="{332049DD-9EE2-4342-8B02-2B18EB8B7024}" type="slidenum">
              <a:rPr lang="en-CA" sz="1100">
                <a:solidFill>
                  <a:schemeClr val="tx1">
                    <a:lumMod val="50000"/>
                    <a:lumOff val="50000"/>
                  </a:schemeClr>
                </a:solidFill>
              </a:rPr>
              <a:pPr>
                <a:spcAft>
                  <a:spcPts val="600"/>
                </a:spcAft>
              </a:pPr>
              <a:t>6</a:t>
            </a:fld>
            <a:endParaRPr lang="en-CA" sz="1100">
              <a:solidFill>
                <a:schemeClr val="tx1">
                  <a:lumMod val="50000"/>
                  <a:lumOff val="50000"/>
                </a:schemeClr>
              </a:solidFill>
            </a:endParaRPr>
          </a:p>
        </p:txBody>
      </p:sp>
    </p:spTree>
    <p:extLst>
      <p:ext uri="{BB962C8B-B14F-4D97-AF65-F5344CB8AC3E}">
        <p14:creationId xmlns:p14="http://schemas.microsoft.com/office/powerpoint/2010/main" val="2828280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5B7E95-C4B8-44CD-9DAB-BE7D1413B6A4}"/>
              </a:ext>
            </a:extLst>
          </p:cNvPr>
          <p:cNvSpPr>
            <a:spLocks noGrp="1"/>
          </p:cNvSpPr>
          <p:nvPr>
            <p:ph type="title"/>
          </p:nvPr>
        </p:nvSpPr>
        <p:spPr>
          <a:xfrm>
            <a:off x="826396" y="586855"/>
            <a:ext cx="4230100" cy="3387497"/>
          </a:xfrm>
        </p:spPr>
        <p:txBody>
          <a:bodyPr anchor="b">
            <a:normAutofit/>
          </a:bodyPr>
          <a:lstStyle/>
          <a:p>
            <a:pPr algn="r"/>
            <a:r>
              <a:rPr lang="en-US" sz="3400">
                <a:solidFill>
                  <a:srgbClr val="FFFFFF"/>
                </a:solidFill>
              </a:rPr>
              <a:t>Forms of Learning</a:t>
            </a:r>
            <a:br>
              <a:rPr lang="en-US" sz="3400">
                <a:solidFill>
                  <a:srgbClr val="FFFFFF"/>
                </a:solidFill>
              </a:rPr>
            </a:br>
            <a:br>
              <a:rPr lang="en-US" sz="3400">
                <a:solidFill>
                  <a:srgbClr val="FFFFFF"/>
                </a:solidFill>
              </a:rPr>
            </a:br>
            <a:r>
              <a:rPr lang="en-US" sz="3400">
                <a:solidFill>
                  <a:srgbClr val="FFFFFF"/>
                </a:solidFill>
              </a:rPr>
              <a:t>Components of different agent designs</a:t>
            </a:r>
            <a:br>
              <a:rPr lang="en-US" sz="3400">
                <a:solidFill>
                  <a:srgbClr val="FFFFFF"/>
                </a:solidFill>
              </a:rPr>
            </a:br>
            <a:br>
              <a:rPr lang="en-US" sz="3400">
                <a:solidFill>
                  <a:srgbClr val="FFFFFF"/>
                </a:solidFill>
              </a:rPr>
            </a:br>
            <a:r>
              <a:rPr lang="en-US" sz="3400">
                <a:solidFill>
                  <a:srgbClr val="FFFFFF"/>
                </a:solidFill>
              </a:rPr>
              <a:t>Recap</a:t>
            </a:r>
            <a:endParaRPr lang="en-CA" sz="3400">
              <a:solidFill>
                <a:srgbClr val="FFFFFF"/>
              </a:solidFill>
            </a:endParaRPr>
          </a:p>
        </p:txBody>
      </p:sp>
      <p:sp>
        <p:nvSpPr>
          <p:cNvPr id="3" name="Content Placeholder 2">
            <a:extLst>
              <a:ext uri="{FF2B5EF4-FFF2-40B4-BE49-F238E27FC236}">
                <a16:creationId xmlns:a16="http://schemas.microsoft.com/office/drawing/2014/main" id="{B2A4C27F-00B6-404F-BC75-5B64DF0A6508}"/>
              </a:ext>
            </a:extLst>
          </p:cNvPr>
          <p:cNvSpPr>
            <a:spLocks noGrp="1"/>
          </p:cNvSpPr>
          <p:nvPr>
            <p:ph idx="1"/>
          </p:nvPr>
        </p:nvSpPr>
        <p:spPr>
          <a:xfrm>
            <a:off x="6503158" y="649480"/>
            <a:ext cx="4862447" cy="5546047"/>
          </a:xfrm>
        </p:spPr>
        <p:txBody>
          <a:bodyPr anchor="ctr">
            <a:normAutofit/>
          </a:bodyPr>
          <a:lstStyle/>
          <a:p>
            <a:r>
              <a:rPr lang="en-US" sz="2000"/>
              <a:t>Action-value information indicating the desirability of actions</a:t>
            </a:r>
          </a:p>
          <a:p>
            <a:r>
              <a:rPr lang="en-US" sz="2000"/>
              <a:t>Goals that describe the most desirable states</a:t>
            </a:r>
          </a:p>
          <a:p>
            <a:r>
              <a:rPr lang="en-US" sz="2000"/>
              <a:t>A problem generator, critic, and learning element that enable the system to improve</a:t>
            </a:r>
          </a:p>
        </p:txBody>
      </p:sp>
      <p:sp>
        <p:nvSpPr>
          <p:cNvPr id="4" name="Slide Number Placeholder 3">
            <a:extLst>
              <a:ext uri="{FF2B5EF4-FFF2-40B4-BE49-F238E27FC236}">
                <a16:creationId xmlns:a16="http://schemas.microsoft.com/office/drawing/2014/main" id="{D5A03A10-95EC-4E5D-A2B2-C4E2224A9AAF}"/>
              </a:ext>
            </a:extLst>
          </p:cNvPr>
          <p:cNvSpPr>
            <a:spLocks noGrp="1"/>
          </p:cNvSpPr>
          <p:nvPr>
            <p:ph type="sldNum" sz="quarter" idx="12"/>
          </p:nvPr>
        </p:nvSpPr>
        <p:spPr>
          <a:xfrm>
            <a:off x="11704320" y="6455664"/>
            <a:ext cx="448056" cy="365125"/>
          </a:xfrm>
        </p:spPr>
        <p:txBody>
          <a:bodyPr>
            <a:normAutofit/>
          </a:bodyPr>
          <a:lstStyle/>
          <a:p>
            <a:pPr>
              <a:spcAft>
                <a:spcPts val="600"/>
              </a:spcAft>
            </a:pPr>
            <a:fld id="{332049DD-9EE2-4342-8B02-2B18EB8B7024}" type="slidenum">
              <a:rPr lang="en-CA" sz="1100">
                <a:solidFill>
                  <a:schemeClr val="tx1">
                    <a:lumMod val="50000"/>
                    <a:lumOff val="50000"/>
                  </a:schemeClr>
                </a:solidFill>
              </a:rPr>
              <a:pPr>
                <a:spcAft>
                  <a:spcPts val="600"/>
                </a:spcAft>
              </a:pPr>
              <a:t>7</a:t>
            </a:fld>
            <a:endParaRPr lang="en-CA" sz="1100">
              <a:solidFill>
                <a:schemeClr val="tx1">
                  <a:lumMod val="50000"/>
                  <a:lumOff val="50000"/>
                </a:schemeClr>
              </a:solidFill>
            </a:endParaRPr>
          </a:p>
        </p:txBody>
      </p:sp>
    </p:spTree>
    <p:extLst>
      <p:ext uri="{BB962C8B-B14F-4D97-AF65-F5344CB8AC3E}">
        <p14:creationId xmlns:p14="http://schemas.microsoft.com/office/powerpoint/2010/main" val="1355368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6DD158A-C636-4DBF-AF33-09B50F97CB83}"/>
              </a:ext>
            </a:extLst>
          </p:cNvPr>
          <p:cNvSpPr>
            <a:spLocks noGrp="1"/>
          </p:cNvSpPr>
          <p:nvPr>
            <p:ph type="title"/>
          </p:nvPr>
        </p:nvSpPr>
        <p:spPr>
          <a:xfrm>
            <a:off x="826396" y="586855"/>
            <a:ext cx="4230100" cy="3387497"/>
          </a:xfrm>
        </p:spPr>
        <p:txBody>
          <a:bodyPr vert="horz" lIns="91440" tIns="45720" rIns="91440" bIns="45720" rtlCol="0" anchor="b">
            <a:normAutofit/>
          </a:bodyPr>
          <a:lstStyle/>
          <a:p>
            <a:pPr algn="r"/>
            <a:r>
              <a:rPr lang="en-US" sz="4000">
                <a:solidFill>
                  <a:srgbClr val="FFFFFF"/>
                </a:solidFill>
              </a:rPr>
              <a:t>Why </a:t>
            </a:r>
            <a:br>
              <a:rPr lang="en-US" sz="4000">
                <a:solidFill>
                  <a:srgbClr val="FFFFFF"/>
                </a:solidFill>
              </a:rPr>
            </a:br>
            <a:r>
              <a:rPr lang="en-US" sz="4000">
                <a:solidFill>
                  <a:srgbClr val="FFFFFF"/>
                </a:solidFill>
              </a:rPr>
              <a:t>Machine Learning?</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37961833-ADE5-47D4-B972-C8A4E4078F0F}"/>
              </a:ext>
            </a:extLst>
          </p:cNvPr>
          <p:cNvSpPr>
            <a:spLocks noGrp="1"/>
          </p:cNvSpPr>
          <p:nvPr>
            <p:ph idx="1"/>
          </p:nvPr>
        </p:nvSpPr>
        <p:spPr>
          <a:xfrm>
            <a:off x="6503158" y="649480"/>
            <a:ext cx="4862447" cy="5546047"/>
          </a:xfrm>
        </p:spPr>
        <p:txBody>
          <a:bodyPr vert="horz" lIns="91440" tIns="45720" rIns="91440" bIns="45720" rtlCol="0" anchor="ctr">
            <a:normAutofit/>
          </a:bodyPr>
          <a:lstStyle/>
          <a:p>
            <a:pPr marL="0" indent="0">
              <a:buNone/>
            </a:pPr>
            <a:endParaRPr lang="en-US" sz="2000"/>
          </a:p>
          <a:p>
            <a:pPr marL="0" indent="0">
              <a:buNone/>
            </a:pPr>
            <a:r>
              <a:rPr lang="en-US" sz="2000"/>
              <a:t>Why not just program it the right way to begin with?</a:t>
            </a:r>
          </a:p>
          <a:p>
            <a:pPr marL="0" indent="0">
              <a:buNone/>
            </a:pPr>
            <a:endParaRPr lang="en-US" sz="2000"/>
          </a:p>
        </p:txBody>
      </p:sp>
      <p:sp>
        <p:nvSpPr>
          <p:cNvPr id="4" name="Slide Number Placeholder 3">
            <a:extLst>
              <a:ext uri="{FF2B5EF4-FFF2-40B4-BE49-F238E27FC236}">
                <a16:creationId xmlns:a16="http://schemas.microsoft.com/office/drawing/2014/main" id="{D78AE44F-642B-4B91-91D2-E727C94C0587}"/>
              </a:ext>
            </a:extLst>
          </p:cNvPr>
          <p:cNvSpPr>
            <a:spLocks noGrp="1"/>
          </p:cNvSpPr>
          <p:nvPr>
            <p:ph type="sldNum" sz="quarter" idx="12"/>
          </p:nvPr>
        </p:nvSpPr>
        <p:spPr>
          <a:xfrm>
            <a:off x="11704320" y="6455664"/>
            <a:ext cx="448056"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332049DD-9EE2-4342-8B02-2B18EB8B7024}" type="slidenum">
              <a:rPr kumimoji="0" lang="en-CA" sz="1100" b="0" i="0" u="none" strike="noStrike" kern="1200" cap="none" spc="0" normalizeH="0" baseline="0" noProof="0">
                <a:ln>
                  <a:noFill/>
                </a:ln>
                <a:solidFill>
                  <a:schemeClr val="tx1">
                    <a:lumMod val="50000"/>
                    <a:lumOff val="50000"/>
                  </a:schemeClr>
                </a:solidFill>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8</a:t>
            </a:fld>
            <a:endParaRPr kumimoji="0" lang="en-CA" sz="1100" b="0" i="0" u="none" strike="noStrike" kern="1200" cap="none" spc="0" normalizeH="0" baseline="0" noProof="0">
              <a:ln>
                <a:noFill/>
              </a:ln>
              <a:solidFill>
                <a:schemeClr val="tx1">
                  <a:lumMod val="50000"/>
                  <a:lumOff val="50000"/>
                </a:scheme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4987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6DD158A-C636-4DBF-AF33-09B50F97CB83}"/>
              </a:ext>
            </a:extLst>
          </p:cNvPr>
          <p:cNvSpPr>
            <a:spLocks noGrp="1"/>
          </p:cNvSpPr>
          <p:nvPr>
            <p:ph type="title"/>
          </p:nvPr>
        </p:nvSpPr>
        <p:spPr>
          <a:xfrm>
            <a:off x="826396" y="586855"/>
            <a:ext cx="4230100" cy="3387497"/>
          </a:xfrm>
        </p:spPr>
        <p:txBody>
          <a:bodyPr vert="horz" lIns="91440" tIns="45720" rIns="91440" bIns="45720" rtlCol="0" anchor="b">
            <a:normAutofit/>
          </a:bodyPr>
          <a:lstStyle/>
          <a:p>
            <a:pPr algn="r"/>
            <a:r>
              <a:rPr lang="en-US" sz="4000">
                <a:solidFill>
                  <a:srgbClr val="FFFFFF"/>
                </a:solidFill>
              </a:rPr>
              <a:t>Why </a:t>
            </a:r>
            <a:br>
              <a:rPr lang="en-US" sz="4000">
                <a:solidFill>
                  <a:srgbClr val="FFFFFF"/>
                </a:solidFill>
              </a:rPr>
            </a:br>
            <a:r>
              <a:rPr lang="en-US" sz="4000">
                <a:solidFill>
                  <a:srgbClr val="FFFFFF"/>
                </a:solidFill>
              </a:rPr>
              <a:t>Machine Learning?</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37961833-ADE5-47D4-B972-C8A4E4078F0F}"/>
              </a:ext>
            </a:extLst>
          </p:cNvPr>
          <p:cNvSpPr>
            <a:spLocks noGrp="1"/>
          </p:cNvSpPr>
          <p:nvPr>
            <p:ph idx="1"/>
          </p:nvPr>
        </p:nvSpPr>
        <p:spPr>
          <a:xfrm>
            <a:off x="6503158" y="649480"/>
            <a:ext cx="4862447" cy="5546047"/>
          </a:xfrm>
        </p:spPr>
        <p:txBody>
          <a:bodyPr vert="horz" lIns="91440" tIns="45720" rIns="91440" bIns="45720" rtlCol="0" anchor="ctr">
            <a:normAutofit/>
          </a:bodyPr>
          <a:lstStyle/>
          <a:p>
            <a:pPr marL="0" indent="0">
              <a:buNone/>
            </a:pPr>
            <a:endParaRPr lang="en-US" sz="2000"/>
          </a:p>
          <a:p>
            <a:pPr marL="0" indent="0">
              <a:buNone/>
            </a:pPr>
            <a:r>
              <a:rPr lang="en-US" sz="2000"/>
              <a:t>Why not just program it the right way to begin with?</a:t>
            </a:r>
          </a:p>
          <a:p>
            <a:pPr marL="0" indent="0">
              <a:buNone/>
            </a:pPr>
            <a:r>
              <a:rPr lang="en-US" sz="2000"/>
              <a:t>Two main reasons:</a:t>
            </a:r>
          </a:p>
          <a:p>
            <a:pPr marL="514350" indent="-514350">
              <a:buFont typeface="+mj-lt"/>
              <a:buAutoNum type="arabicPeriod"/>
            </a:pPr>
            <a:r>
              <a:rPr lang="en-US" sz="2000"/>
              <a:t>Need to anticipate all future situations</a:t>
            </a:r>
          </a:p>
          <a:p>
            <a:pPr marL="514350" indent="-514350">
              <a:buFont typeface="+mj-lt"/>
              <a:buAutoNum type="arabicPeriod"/>
            </a:pPr>
            <a:r>
              <a:rPr lang="en-US" sz="2000"/>
              <a:t>The solution might not be known</a:t>
            </a:r>
          </a:p>
          <a:p>
            <a:pPr marL="0" indent="0">
              <a:buNone/>
            </a:pPr>
            <a:endParaRPr lang="en-US" sz="2000"/>
          </a:p>
        </p:txBody>
      </p:sp>
      <p:sp>
        <p:nvSpPr>
          <p:cNvPr id="4" name="Slide Number Placeholder 3">
            <a:extLst>
              <a:ext uri="{FF2B5EF4-FFF2-40B4-BE49-F238E27FC236}">
                <a16:creationId xmlns:a16="http://schemas.microsoft.com/office/drawing/2014/main" id="{D78AE44F-642B-4B91-91D2-E727C94C0587}"/>
              </a:ext>
            </a:extLst>
          </p:cNvPr>
          <p:cNvSpPr>
            <a:spLocks noGrp="1"/>
          </p:cNvSpPr>
          <p:nvPr>
            <p:ph type="sldNum" sz="quarter" idx="12"/>
          </p:nvPr>
        </p:nvSpPr>
        <p:spPr>
          <a:xfrm>
            <a:off x="11704320" y="6455664"/>
            <a:ext cx="448056"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332049DD-9EE2-4342-8B02-2B18EB8B7024}" type="slidenum">
              <a:rPr kumimoji="0" lang="en-CA" sz="1100" b="0" i="0" u="none" strike="noStrike" kern="1200" cap="none" spc="0" normalizeH="0" baseline="0" noProof="0">
                <a:ln>
                  <a:noFill/>
                </a:ln>
                <a:solidFill>
                  <a:schemeClr val="tx1">
                    <a:lumMod val="50000"/>
                    <a:lumOff val="50000"/>
                  </a:schemeClr>
                </a:solidFill>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9</a:t>
            </a:fld>
            <a:endParaRPr kumimoji="0" lang="en-CA" sz="1100" b="0" i="0" u="none" strike="noStrike" kern="1200" cap="none" spc="0" normalizeH="0" baseline="0" noProof="0">
              <a:ln>
                <a:noFill/>
              </a:ln>
              <a:solidFill>
                <a:schemeClr val="tx1">
                  <a:lumMod val="50000"/>
                  <a:lumOff val="50000"/>
                </a:scheme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3075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457202" y="334777"/>
            <a:ext cx="5426764" cy="2879084"/>
          </a:xfrm>
          <a:prstGeom prst="rect">
            <a:avLst/>
          </a:prstGeom>
        </p:spPr>
      </p:pic>
      <p:pic>
        <p:nvPicPr>
          <p:cNvPr id="8" name="Picture 7"/>
          <p:cNvPicPr>
            <a:picLocks noChangeAspect="1"/>
          </p:cNvPicPr>
          <p:nvPr/>
        </p:nvPicPr>
        <p:blipFill>
          <a:blip r:embed="rId3"/>
          <a:stretch>
            <a:fillRect/>
          </a:stretch>
        </p:blipFill>
        <p:spPr>
          <a:xfrm>
            <a:off x="457201" y="4074145"/>
            <a:ext cx="5426764" cy="1874461"/>
          </a:xfrm>
          <a:prstGeom prst="rect">
            <a:avLst/>
          </a:prstGeom>
        </p:spPr>
      </p:pic>
      <p:sp>
        <p:nvSpPr>
          <p:cNvPr id="15" name="Rectangle 14">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332049DD-9EE2-4342-8B02-2B18EB8B7024}" type="slidenum">
              <a:rPr lang="en-US" smtClean="0"/>
              <a:pPr>
                <a:spcAft>
                  <a:spcPts val="600"/>
                </a:spcAft>
              </a:pPr>
              <a:t>10</a:t>
            </a:fld>
            <a:endParaRPr lang="en-US"/>
          </a:p>
        </p:txBody>
      </p:sp>
      <p:pic>
        <p:nvPicPr>
          <p:cNvPr id="9" name="Picture 8"/>
          <p:cNvPicPr>
            <a:picLocks noChangeAspect="1"/>
          </p:cNvPicPr>
          <p:nvPr/>
        </p:nvPicPr>
        <p:blipFill>
          <a:blip r:embed="rId4"/>
          <a:stretch>
            <a:fillRect/>
          </a:stretch>
        </p:blipFill>
        <p:spPr>
          <a:xfrm>
            <a:off x="6308034" y="1174989"/>
            <a:ext cx="5426764" cy="4363411"/>
          </a:xfrm>
          <a:prstGeom prst="rect">
            <a:avLst/>
          </a:prstGeom>
        </p:spPr>
      </p:pic>
    </p:spTree>
    <p:extLst>
      <p:ext uri="{BB962C8B-B14F-4D97-AF65-F5344CB8AC3E}">
        <p14:creationId xmlns:p14="http://schemas.microsoft.com/office/powerpoint/2010/main" val="3373996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11</a:t>
            </a:fld>
            <a:endParaRPr lang="en-CA"/>
          </a:p>
        </p:txBody>
      </p:sp>
      <p:pic>
        <p:nvPicPr>
          <p:cNvPr id="5" name="Picture 4"/>
          <p:cNvPicPr>
            <a:picLocks noChangeAspect="1"/>
          </p:cNvPicPr>
          <p:nvPr/>
        </p:nvPicPr>
        <p:blipFill>
          <a:blip r:embed="rId2"/>
          <a:stretch>
            <a:fillRect/>
          </a:stretch>
        </p:blipFill>
        <p:spPr>
          <a:xfrm>
            <a:off x="476279" y="402247"/>
            <a:ext cx="11230452" cy="5957800"/>
          </a:xfrm>
          <a:prstGeom prst="rect">
            <a:avLst/>
          </a:prstGeom>
        </p:spPr>
      </p:pic>
      <p:cxnSp>
        <p:nvCxnSpPr>
          <p:cNvPr id="7" name="Straight Connector 6"/>
          <p:cNvCxnSpPr/>
          <p:nvPr/>
        </p:nvCxnSpPr>
        <p:spPr>
          <a:xfrm flipV="1">
            <a:off x="1890683" y="880248"/>
            <a:ext cx="8573007" cy="4357951"/>
          </a:xfrm>
          <a:prstGeom prst="line">
            <a:avLst/>
          </a:prstGeom>
          <a:ln w="28575" cmpd="sng">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flipV="1">
            <a:off x="2360602" y="779236"/>
            <a:ext cx="7915461" cy="4914400"/>
          </a:xfrm>
          <a:prstGeom prst="line">
            <a:avLst/>
          </a:prstGeom>
          <a:ln w="28575" cmpd="sng">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2028650" y="1529612"/>
            <a:ext cx="9026777" cy="3384788"/>
          </a:xfrm>
          <a:prstGeom prst="line">
            <a:avLst/>
          </a:prstGeom>
          <a:ln w="28575" cmpd="sng">
            <a:solidFill>
              <a:srgbClr val="FFFF00"/>
            </a:solidFill>
          </a:ln>
        </p:spPr>
        <p:style>
          <a:lnRef idx="2">
            <a:schemeClr val="accent1"/>
          </a:lnRef>
          <a:fillRef idx="0">
            <a:schemeClr val="accent1"/>
          </a:fillRef>
          <a:effectRef idx="1">
            <a:schemeClr val="accent1"/>
          </a:effectRef>
          <a:fontRef idx="minor">
            <a:schemeClr val="tx1"/>
          </a:fontRef>
        </p:style>
      </p:cxnSp>
      <p:pic>
        <p:nvPicPr>
          <p:cNvPr id="12" name="Picture 11"/>
          <p:cNvPicPr>
            <a:picLocks noChangeAspect="1"/>
          </p:cNvPicPr>
          <p:nvPr/>
        </p:nvPicPr>
        <p:blipFill>
          <a:blip r:embed="rId3"/>
          <a:stretch>
            <a:fillRect/>
          </a:stretch>
        </p:blipFill>
        <p:spPr>
          <a:xfrm>
            <a:off x="4702007" y="4604154"/>
            <a:ext cx="6845300" cy="939800"/>
          </a:xfrm>
          <a:prstGeom prst="rect">
            <a:avLst/>
          </a:prstGeom>
        </p:spPr>
      </p:pic>
    </p:spTree>
    <p:extLst>
      <p:ext uri="{BB962C8B-B14F-4D97-AF65-F5344CB8AC3E}">
        <p14:creationId xmlns:p14="http://schemas.microsoft.com/office/powerpoint/2010/main" val="209649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109"/>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 restart="whenNotActive" fill="hold" evtFilter="cancelBubble" nodeType="interactiveSeq">
                <p:stCondLst>
                  <p:cond evt="onClick" delay="0">
                    <p:tgtEl>
                      <p:spTgt spid="4"/>
                    </p:tgtEl>
                  </p:cond>
                </p:stCondLst>
                <p:endSync evt="end" delay="0">
                  <p:rtn val="all"/>
                </p:endSync>
                <p:childTnLst>
                  <p:par>
                    <p:cTn id="20" fill="hold">
                      <p:stCondLst>
                        <p:cond delay="0"/>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109"/>
                                          </p:stCondLst>
                                        </p:cTn>
                                        <p:tgtEl>
                                          <p:spTgt spid="7"/>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12</a:t>
            </a:fld>
            <a:endParaRPr lang="en-CA"/>
          </a:p>
        </p:txBody>
      </p:sp>
      <p:pic>
        <p:nvPicPr>
          <p:cNvPr id="5" name="Picture 4"/>
          <p:cNvPicPr>
            <a:picLocks noChangeAspect="1"/>
          </p:cNvPicPr>
          <p:nvPr/>
        </p:nvPicPr>
        <p:blipFill>
          <a:blip r:embed="rId2"/>
          <a:stretch>
            <a:fillRect/>
          </a:stretch>
        </p:blipFill>
        <p:spPr>
          <a:xfrm>
            <a:off x="887748" y="2298701"/>
            <a:ext cx="9753728" cy="2723044"/>
          </a:xfrm>
          <a:prstGeom prst="rect">
            <a:avLst/>
          </a:prstGeom>
        </p:spPr>
      </p:pic>
    </p:spTree>
    <p:extLst>
      <p:ext uri="{BB962C8B-B14F-4D97-AF65-F5344CB8AC3E}">
        <p14:creationId xmlns:p14="http://schemas.microsoft.com/office/powerpoint/2010/main" val="3238495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13</a:t>
            </a:fld>
            <a:endParaRPr lang="en-CA"/>
          </a:p>
        </p:txBody>
      </p:sp>
      <p:pic>
        <p:nvPicPr>
          <p:cNvPr id="5" name="Picture 4"/>
          <p:cNvPicPr>
            <a:picLocks noChangeAspect="1"/>
          </p:cNvPicPr>
          <p:nvPr/>
        </p:nvPicPr>
        <p:blipFill>
          <a:blip r:embed="rId2"/>
          <a:stretch>
            <a:fillRect/>
          </a:stretch>
        </p:blipFill>
        <p:spPr>
          <a:xfrm>
            <a:off x="1574800" y="1866900"/>
            <a:ext cx="9029700" cy="3111500"/>
          </a:xfrm>
          <a:prstGeom prst="rect">
            <a:avLst/>
          </a:prstGeom>
        </p:spPr>
      </p:pic>
    </p:spTree>
    <p:extLst>
      <p:ext uri="{BB962C8B-B14F-4D97-AF65-F5344CB8AC3E}">
        <p14:creationId xmlns:p14="http://schemas.microsoft.com/office/powerpoint/2010/main" val="1461928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14</a:t>
            </a:fld>
            <a:endParaRPr lang="en-CA"/>
          </a:p>
        </p:txBody>
      </p:sp>
      <p:pic>
        <p:nvPicPr>
          <p:cNvPr id="5" name="Picture 4"/>
          <p:cNvPicPr>
            <a:picLocks noChangeAspect="1"/>
          </p:cNvPicPr>
          <p:nvPr/>
        </p:nvPicPr>
        <p:blipFill>
          <a:blip r:embed="rId2"/>
          <a:stretch>
            <a:fillRect/>
          </a:stretch>
        </p:blipFill>
        <p:spPr>
          <a:xfrm>
            <a:off x="1138374" y="778161"/>
            <a:ext cx="9613900" cy="5346700"/>
          </a:xfrm>
          <a:prstGeom prst="rect">
            <a:avLst/>
          </a:prstGeom>
        </p:spPr>
      </p:pic>
    </p:spTree>
    <p:extLst>
      <p:ext uri="{BB962C8B-B14F-4D97-AF65-F5344CB8AC3E}">
        <p14:creationId xmlns:p14="http://schemas.microsoft.com/office/powerpoint/2010/main" val="1086826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15</a:t>
            </a:fld>
            <a:endParaRPr lang="en-CA"/>
          </a:p>
        </p:txBody>
      </p:sp>
      <p:pic>
        <p:nvPicPr>
          <p:cNvPr id="5" name="Picture 4"/>
          <p:cNvPicPr>
            <a:picLocks noChangeAspect="1"/>
          </p:cNvPicPr>
          <p:nvPr/>
        </p:nvPicPr>
        <p:blipFill>
          <a:blip r:embed="rId2"/>
          <a:stretch>
            <a:fillRect/>
          </a:stretch>
        </p:blipFill>
        <p:spPr>
          <a:xfrm>
            <a:off x="638998" y="519490"/>
            <a:ext cx="10683479" cy="5777946"/>
          </a:xfrm>
          <a:prstGeom prst="rect">
            <a:avLst/>
          </a:prstGeom>
        </p:spPr>
      </p:pic>
    </p:spTree>
    <p:extLst>
      <p:ext uri="{BB962C8B-B14F-4D97-AF65-F5344CB8AC3E}">
        <p14:creationId xmlns:p14="http://schemas.microsoft.com/office/powerpoint/2010/main" val="4286954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16</a:t>
            </a:fld>
            <a:endParaRPr lang="en-CA"/>
          </a:p>
        </p:txBody>
      </p:sp>
      <p:pic>
        <p:nvPicPr>
          <p:cNvPr id="5" name="Picture 4"/>
          <p:cNvPicPr>
            <a:picLocks noChangeAspect="1"/>
          </p:cNvPicPr>
          <p:nvPr/>
        </p:nvPicPr>
        <p:blipFill>
          <a:blip r:embed="rId2"/>
          <a:stretch>
            <a:fillRect/>
          </a:stretch>
        </p:blipFill>
        <p:spPr>
          <a:xfrm>
            <a:off x="1905000" y="2235200"/>
            <a:ext cx="8382000" cy="2387600"/>
          </a:xfrm>
          <a:prstGeom prst="rect">
            <a:avLst/>
          </a:prstGeom>
        </p:spPr>
      </p:pic>
    </p:spTree>
    <p:extLst>
      <p:ext uri="{BB962C8B-B14F-4D97-AF65-F5344CB8AC3E}">
        <p14:creationId xmlns:p14="http://schemas.microsoft.com/office/powerpoint/2010/main" val="2600603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17</a:t>
            </a:fld>
            <a:endParaRPr lang="en-CA"/>
          </a:p>
        </p:txBody>
      </p:sp>
      <p:pic>
        <p:nvPicPr>
          <p:cNvPr id="5" name="Picture 4"/>
          <p:cNvPicPr>
            <a:picLocks noChangeAspect="1"/>
          </p:cNvPicPr>
          <p:nvPr/>
        </p:nvPicPr>
        <p:blipFill>
          <a:blip r:embed="rId2"/>
          <a:stretch>
            <a:fillRect/>
          </a:stretch>
        </p:blipFill>
        <p:spPr>
          <a:xfrm>
            <a:off x="0" y="0"/>
            <a:ext cx="6162751" cy="3348072"/>
          </a:xfrm>
          <a:prstGeom prst="rect">
            <a:avLst/>
          </a:prstGeom>
        </p:spPr>
      </p:pic>
      <p:pic>
        <p:nvPicPr>
          <p:cNvPr id="6" name="Picture 5"/>
          <p:cNvPicPr>
            <a:picLocks noChangeAspect="1"/>
          </p:cNvPicPr>
          <p:nvPr/>
        </p:nvPicPr>
        <p:blipFill>
          <a:blip r:embed="rId3"/>
          <a:stretch>
            <a:fillRect/>
          </a:stretch>
        </p:blipFill>
        <p:spPr>
          <a:xfrm>
            <a:off x="4033675" y="2385700"/>
            <a:ext cx="8158329" cy="4457867"/>
          </a:xfrm>
          <a:prstGeom prst="rect">
            <a:avLst/>
          </a:prstGeom>
        </p:spPr>
      </p:pic>
    </p:spTree>
    <p:extLst>
      <p:ext uri="{BB962C8B-B14F-4D97-AF65-F5344CB8AC3E}">
        <p14:creationId xmlns:p14="http://schemas.microsoft.com/office/powerpoint/2010/main" val="358666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18</a:t>
            </a:fld>
            <a:endParaRPr lang="en-CA"/>
          </a:p>
        </p:txBody>
      </p:sp>
      <p:pic>
        <p:nvPicPr>
          <p:cNvPr id="5" name="Picture 4"/>
          <p:cNvPicPr>
            <a:picLocks noChangeAspect="1"/>
          </p:cNvPicPr>
          <p:nvPr/>
        </p:nvPicPr>
        <p:blipFill>
          <a:blip r:embed="rId2"/>
          <a:stretch>
            <a:fillRect/>
          </a:stretch>
        </p:blipFill>
        <p:spPr>
          <a:xfrm>
            <a:off x="1714500" y="2273300"/>
            <a:ext cx="8750300" cy="2311400"/>
          </a:xfrm>
          <a:prstGeom prst="rect">
            <a:avLst/>
          </a:prstGeom>
        </p:spPr>
      </p:pic>
      <p:sp>
        <p:nvSpPr>
          <p:cNvPr id="6" name="TextBox 5"/>
          <p:cNvSpPr txBox="1"/>
          <p:nvPr/>
        </p:nvSpPr>
        <p:spPr>
          <a:xfrm>
            <a:off x="9511131" y="4704279"/>
            <a:ext cx="868040" cy="1862048"/>
          </a:xfrm>
          <a:prstGeom prst="rect">
            <a:avLst/>
          </a:prstGeom>
          <a:noFill/>
        </p:spPr>
        <p:txBody>
          <a:bodyPr wrap="none" rtlCol="0">
            <a:spAutoFit/>
          </a:bodyPr>
          <a:lstStyle/>
          <a:p>
            <a:r>
              <a:rPr lang="en-US" sz="11500" dirty="0"/>
              <a:t>?</a:t>
            </a:r>
          </a:p>
        </p:txBody>
      </p:sp>
    </p:spTree>
    <p:extLst>
      <p:ext uri="{BB962C8B-B14F-4D97-AF65-F5344CB8AC3E}">
        <p14:creationId xmlns:p14="http://schemas.microsoft.com/office/powerpoint/2010/main" val="4280986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19</a:t>
            </a:fld>
            <a:endParaRPr lang="en-CA"/>
          </a:p>
        </p:txBody>
      </p:sp>
      <p:pic>
        <p:nvPicPr>
          <p:cNvPr id="5" name="Picture 4"/>
          <p:cNvPicPr>
            <a:picLocks noChangeAspect="1"/>
          </p:cNvPicPr>
          <p:nvPr/>
        </p:nvPicPr>
        <p:blipFill>
          <a:blip r:embed="rId2"/>
          <a:stretch>
            <a:fillRect/>
          </a:stretch>
        </p:blipFill>
        <p:spPr>
          <a:xfrm>
            <a:off x="1320800" y="825500"/>
            <a:ext cx="9550400" cy="5207000"/>
          </a:xfrm>
          <a:prstGeom prst="rect">
            <a:avLst/>
          </a:prstGeom>
        </p:spPr>
      </p:pic>
      <p:grpSp>
        <p:nvGrpSpPr>
          <p:cNvPr id="9" name="Group 8"/>
          <p:cNvGrpSpPr/>
          <p:nvPr/>
        </p:nvGrpSpPr>
        <p:grpSpPr>
          <a:xfrm>
            <a:off x="7014269" y="5108326"/>
            <a:ext cx="5077456" cy="1639199"/>
            <a:chOff x="7014269" y="5108326"/>
            <a:chExt cx="5077456" cy="1639199"/>
          </a:xfrm>
        </p:grpSpPr>
        <p:sp>
          <p:nvSpPr>
            <p:cNvPr id="6" name="TextBox 5"/>
            <p:cNvSpPr txBox="1"/>
            <p:nvPr/>
          </p:nvSpPr>
          <p:spPr>
            <a:xfrm>
              <a:off x="7014269" y="6378193"/>
              <a:ext cx="5077456" cy="369332"/>
            </a:xfrm>
            <a:prstGeom prst="rect">
              <a:avLst/>
            </a:prstGeom>
            <a:solidFill>
              <a:srgbClr val="D6DCE5"/>
            </a:solidFill>
          </p:spPr>
          <p:txBody>
            <a:bodyPr wrap="none" rtlCol="0">
              <a:spAutoFit/>
            </a:bodyPr>
            <a:lstStyle/>
            <a:p>
              <a:r>
                <a:rPr lang="en-US" dirty="0"/>
                <a:t>What could be this ? </a:t>
              </a:r>
              <a:r>
                <a:rPr lang="mr-IN" dirty="0"/>
                <a:t>–</a:t>
              </a:r>
              <a:r>
                <a:rPr lang="en-US" dirty="0"/>
                <a:t> error or noise in the data etc.</a:t>
              </a:r>
            </a:p>
          </p:txBody>
        </p:sp>
        <p:cxnSp>
          <p:nvCxnSpPr>
            <p:cNvPr id="8" name="Straight Arrow Connector 7"/>
            <p:cNvCxnSpPr/>
            <p:nvPr/>
          </p:nvCxnSpPr>
          <p:spPr>
            <a:xfrm flipH="1" flipV="1">
              <a:off x="8111162" y="5108326"/>
              <a:ext cx="432980" cy="1241006"/>
            </a:xfrm>
            <a:prstGeom prst="straightConnector1">
              <a:avLst/>
            </a:prstGeom>
            <a:ln w="38100" cmpd="sng">
              <a:solidFill>
                <a:srgbClr val="FFFF00"/>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83004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8106" y="365125"/>
            <a:ext cx="4945693" cy="1325563"/>
          </a:xfrm>
        </p:spPr>
        <p:txBody>
          <a:bodyPr>
            <a:normAutofit/>
          </a:bodyPr>
          <a:lstStyle/>
          <a:p>
            <a:r>
              <a:rPr lang="en-US" dirty="0"/>
              <a:t>Two Models- Which one is better ?</a:t>
            </a:r>
          </a:p>
        </p:txBody>
      </p:sp>
      <p:sp>
        <p:nvSpPr>
          <p:cNvPr id="4" name="Slide Number Placeholder 3"/>
          <p:cNvSpPr>
            <a:spLocks noGrp="1"/>
          </p:cNvSpPr>
          <p:nvPr>
            <p:ph type="sldNum" sz="quarter" idx="12"/>
          </p:nvPr>
        </p:nvSpPr>
        <p:spPr/>
        <p:txBody>
          <a:bodyPr/>
          <a:lstStyle/>
          <a:p>
            <a:fld id="{332049DD-9EE2-4342-8B02-2B18EB8B7024}" type="slidenum">
              <a:rPr lang="en-CA" smtClean="0"/>
              <a:t>20</a:t>
            </a:fld>
            <a:endParaRPr lang="en-CA"/>
          </a:p>
        </p:txBody>
      </p:sp>
      <p:pic>
        <p:nvPicPr>
          <p:cNvPr id="5" name="Picture 4"/>
          <p:cNvPicPr>
            <a:picLocks noChangeAspect="1"/>
          </p:cNvPicPr>
          <p:nvPr/>
        </p:nvPicPr>
        <p:blipFill>
          <a:blip r:embed="rId2"/>
          <a:stretch>
            <a:fillRect/>
          </a:stretch>
        </p:blipFill>
        <p:spPr>
          <a:xfrm>
            <a:off x="0" y="1"/>
            <a:ext cx="6177184" cy="3371610"/>
          </a:xfrm>
          <a:prstGeom prst="rect">
            <a:avLst/>
          </a:prstGeom>
        </p:spPr>
      </p:pic>
      <p:pic>
        <p:nvPicPr>
          <p:cNvPr id="6" name="Picture 5"/>
          <p:cNvPicPr>
            <a:picLocks noChangeAspect="1"/>
          </p:cNvPicPr>
          <p:nvPr/>
        </p:nvPicPr>
        <p:blipFill>
          <a:blip r:embed="rId3"/>
          <a:stretch>
            <a:fillRect/>
          </a:stretch>
        </p:blipFill>
        <p:spPr>
          <a:xfrm>
            <a:off x="5883023" y="3362260"/>
            <a:ext cx="6308978" cy="3495740"/>
          </a:xfrm>
          <a:prstGeom prst="rect">
            <a:avLst/>
          </a:prstGeom>
        </p:spPr>
      </p:pic>
      <p:sp>
        <p:nvSpPr>
          <p:cNvPr id="7" name="TextBox 6"/>
          <p:cNvSpPr txBox="1"/>
          <p:nvPr/>
        </p:nvSpPr>
        <p:spPr>
          <a:xfrm>
            <a:off x="909259" y="3968332"/>
            <a:ext cx="2900754" cy="2554545"/>
          </a:xfrm>
          <a:prstGeom prst="rect">
            <a:avLst/>
          </a:prstGeom>
          <a:noFill/>
        </p:spPr>
        <p:txBody>
          <a:bodyPr wrap="none" rtlCol="0">
            <a:spAutoFit/>
          </a:bodyPr>
          <a:lstStyle/>
          <a:p>
            <a:r>
              <a:rPr lang="en-US" sz="3200" dirty="0"/>
              <a:t>Accuracy ?</a:t>
            </a:r>
          </a:p>
          <a:p>
            <a:endParaRPr lang="en-US" sz="3200" dirty="0"/>
          </a:p>
          <a:p>
            <a:r>
              <a:rPr lang="en-US" sz="3200" dirty="0"/>
              <a:t>Complexity ?</a:t>
            </a:r>
          </a:p>
          <a:p>
            <a:endParaRPr lang="en-US" sz="3200" dirty="0"/>
          </a:p>
          <a:p>
            <a:r>
              <a:rPr lang="en-US" sz="3200" dirty="0"/>
              <a:t>Generalization ?</a:t>
            </a:r>
          </a:p>
        </p:txBody>
      </p:sp>
    </p:spTree>
    <p:extLst>
      <p:ext uri="{BB962C8B-B14F-4D97-AF65-F5344CB8AC3E}">
        <p14:creationId xmlns:p14="http://schemas.microsoft.com/office/powerpoint/2010/main" val="3066317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21</a:t>
            </a:fld>
            <a:endParaRPr lang="en-CA"/>
          </a:p>
        </p:txBody>
      </p:sp>
      <p:pic>
        <p:nvPicPr>
          <p:cNvPr id="5" name="Picture 4"/>
          <p:cNvPicPr>
            <a:picLocks noChangeAspect="1"/>
          </p:cNvPicPr>
          <p:nvPr/>
        </p:nvPicPr>
        <p:blipFill>
          <a:blip r:embed="rId2"/>
          <a:stretch>
            <a:fillRect/>
          </a:stretch>
        </p:blipFill>
        <p:spPr>
          <a:xfrm>
            <a:off x="1765300" y="1943100"/>
            <a:ext cx="8648700" cy="2959100"/>
          </a:xfrm>
          <a:prstGeom prst="rect">
            <a:avLst/>
          </a:prstGeom>
        </p:spPr>
      </p:pic>
    </p:spTree>
    <p:extLst>
      <p:ext uri="{BB962C8B-B14F-4D97-AF65-F5344CB8AC3E}">
        <p14:creationId xmlns:p14="http://schemas.microsoft.com/office/powerpoint/2010/main" val="2473807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22</a:t>
            </a:fld>
            <a:endParaRPr lang="en-CA"/>
          </a:p>
        </p:txBody>
      </p:sp>
      <p:pic>
        <p:nvPicPr>
          <p:cNvPr id="5" name="Picture 4"/>
          <p:cNvPicPr>
            <a:picLocks noChangeAspect="1"/>
          </p:cNvPicPr>
          <p:nvPr/>
        </p:nvPicPr>
        <p:blipFill>
          <a:blip r:embed="rId2"/>
          <a:stretch>
            <a:fillRect/>
          </a:stretch>
        </p:blipFill>
        <p:spPr>
          <a:xfrm>
            <a:off x="0" y="-129873"/>
            <a:ext cx="6605453" cy="3898579"/>
          </a:xfrm>
          <a:prstGeom prst="rect">
            <a:avLst/>
          </a:prstGeom>
        </p:spPr>
      </p:pic>
      <p:pic>
        <p:nvPicPr>
          <p:cNvPr id="6" name="Picture 5"/>
          <p:cNvPicPr>
            <a:picLocks noChangeAspect="1"/>
          </p:cNvPicPr>
          <p:nvPr/>
        </p:nvPicPr>
        <p:blipFill>
          <a:blip r:embed="rId3"/>
          <a:stretch>
            <a:fillRect/>
          </a:stretch>
        </p:blipFill>
        <p:spPr>
          <a:xfrm>
            <a:off x="4993920" y="2900490"/>
            <a:ext cx="7198080" cy="3957510"/>
          </a:xfrm>
          <a:prstGeom prst="rect">
            <a:avLst/>
          </a:prstGeom>
        </p:spPr>
      </p:pic>
    </p:spTree>
    <p:extLst>
      <p:ext uri="{BB962C8B-B14F-4D97-AF65-F5344CB8AC3E}">
        <p14:creationId xmlns:p14="http://schemas.microsoft.com/office/powerpoint/2010/main" val="2919941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23</a:t>
            </a:fld>
            <a:endParaRPr lang="en-CA"/>
          </a:p>
        </p:txBody>
      </p:sp>
      <p:pic>
        <p:nvPicPr>
          <p:cNvPr id="5" name="Picture 4"/>
          <p:cNvPicPr>
            <a:picLocks noChangeAspect="1"/>
          </p:cNvPicPr>
          <p:nvPr/>
        </p:nvPicPr>
        <p:blipFill>
          <a:blip r:embed="rId2"/>
          <a:stretch>
            <a:fillRect/>
          </a:stretch>
        </p:blipFill>
        <p:spPr>
          <a:xfrm>
            <a:off x="3934087" y="1828345"/>
            <a:ext cx="3416300" cy="863600"/>
          </a:xfrm>
          <a:prstGeom prst="rect">
            <a:avLst/>
          </a:prstGeom>
        </p:spPr>
      </p:pic>
      <p:pic>
        <p:nvPicPr>
          <p:cNvPr id="6" name="Picture 5"/>
          <p:cNvPicPr>
            <a:picLocks noChangeAspect="1"/>
          </p:cNvPicPr>
          <p:nvPr/>
        </p:nvPicPr>
        <p:blipFill>
          <a:blip r:embed="rId3"/>
          <a:stretch>
            <a:fillRect/>
          </a:stretch>
        </p:blipFill>
        <p:spPr>
          <a:xfrm>
            <a:off x="2821704" y="3394327"/>
            <a:ext cx="6362700" cy="749300"/>
          </a:xfrm>
          <a:prstGeom prst="rect">
            <a:avLst/>
          </a:prstGeom>
        </p:spPr>
      </p:pic>
      <p:pic>
        <p:nvPicPr>
          <p:cNvPr id="7" name="Picture 6"/>
          <p:cNvPicPr>
            <a:picLocks noChangeAspect="1"/>
          </p:cNvPicPr>
          <p:nvPr/>
        </p:nvPicPr>
        <p:blipFill>
          <a:blip r:embed="rId4"/>
          <a:stretch>
            <a:fillRect/>
          </a:stretch>
        </p:blipFill>
        <p:spPr>
          <a:xfrm>
            <a:off x="2890402" y="4811957"/>
            <a:ext cx="6324600" cy="800100"/>
          </a:xfrm>
          <a:prstGeom prst="rect">
            <a:avLst/>
          </a:prstGeom>
        </p:spPr>
      </p:pic>
    </p:spTree>
    <p:extLst>
      <p:ext uri="{BB962C8B-B14F-4D97-AF65-F5344CB8AC3E}">
        <p14:creationId xmlns:p14="http://schemas.microsoft.com/office/powerpoint/2010/main" val="411684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24</a:t>
            </a:fld>
            <a:endParaRPr lang="en-CA"/>
          </a:p>
        </p:txBody>
      </p:sp>
      <p:pic>
        <p:nvPicPr>
          <p:cNvPr id="5" name="Picture 4"/>
          <p:cNvPicPr>
            <a:picLocks noChangeAspect="1"/>
          </p:cNvPicPr>
          <p:nvPr/>
        </p:nvPicPr>
        <p:blipFill>
          <a:blip r:embed="rId2"/>
          <a:stretch>
            <a:fillRect/>
          </a:stretch>
        </p:blipFill>
        <p:spPr>
          <a:xfrm>
            <a:off x="1564975" y="2099515"/>
            <a:ext cx="8674100" cy="3149600"/>
          </a:xfrm>
          <a:prstGeom prst="rect">
            <a:avLst/>
          </a:prstGeom>
        </p:spPr>
      </p:pic>
    </p:spTree>
    <p:extLst>
      <p:ext uri="{BB962C8B-B14F-4D97-AF65-F5344CB8AC3E}">
        <p14:creationId xmlns:p14="http://schemas.microsoft.com/office/powerpoint/2010/main" val="1862107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207" y="2847137"/>
            <a:ext cx="6854414" cy="1325563"/>
          </a:xfrm>
        </p:spPr>
        <p:txBody>
          <a:bodyPr/>
          <a:lstStyle/>
          <a:p>
            <a:r>
              <a:rPr lang="en-US" dirty="0"/>
              <a:t>Avoiding Over-fitting</a:t>
            </a:r>
          </a:p>
        </p:txBody>
      </p:sp>
      <p:sp>
        <p:nvSpPr>
          <p:cNvPr id="4" name="Slide Number Placeholder 3"/>
          <p:cNvSpPr>
            <a:spLocks noGrp="1"/>
          </p:cNvSpPr>
          <p:nvPr>
            <p:ph type="sldNum" sz="quarter" idx="12"/>
          </p:nvPr>
        </p:nvSpPr>
        <p:spPr/>
        <p:txBody>
          <a:bodyPr/>
          <a:lstStyle/>
          <a:p>
            <a:fld id="{332049DD-9EE2-4342-8B02-2B18EB8B7024}" type="slidenum">
              <a:rPr lang="en-CA" smtClean="0"/>
              <a:t>25</a:t>
            </a:fld>
            <a:endParaRPr lang="en-CA"/>
          </a:p>
        </p:txBody>
      </p:sp>
      <p:pic>
        <p:nvPicPr>
          <p:cNvPr id="5" name="Picture 4"/>
          <p:cNvPicPr>
            <a:picLocks noChangeAspect="1"/>
          </p:cNvPicPr>
          <p:nvPr/>
        </p:nvPicPr>
        <p:blipFill>
          <a:blip r:embed="rId2"/>
          <a:stretch>
            <a:fillRect/>
          </a:stretch>
        </p:blipFill>
        <p:spPr>
          <a:xfrm>
            <a:off x="129894" y="158733"/>
            <a:ext cx="8349332" cy="2741757"/>
          </a:xfrm>
          <a:prstGeom prst="rect">
            <a:avLst/>
          </a:prstGeom>
        </p:spPr>
      </p:pic>
      <p:pic>
        <p:nvPicPr>
          <p:cNvPr id="6" name="Picture 5"/>
          <p:cNvPicPr>
            <a:picLocks noChangeAspect="1"/>
          </p:cNvPicPr>
          <p:nvPr/>
        </p:nvPicPr>
        <p:blipFill>
          <a:blip r:embed="rId3"/>
          <a:stretch>
            <a:fillRect/>
          </a:stretch>
        </p:blipFill>
        <p:spPr>
          <a:xfrm>
            <a:off x="3695700" y="4051300"/>
            <a:ext cx="8496300" cy="2806700"/>
          </a:xfrm>
          <a:prstGeom prst="rect">
            <a:avLst/>
          </a:prstGeom>
        </p:spPr>
      </p:pic>
    </p:spTree>
    <p:extLst>
      <p:ext uri="{BB962C8B-B14F-4D97-AF65-F5344CB8AC3E}">
        <p14:creationId xmlns:p14="http://schemas.microsoft.com/office/powerpoint/2010/main" val="2144071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32049DD-9EE2-4342-8B02-2B18EB8B7024}" type="slidenum">
              <a:rPr lang="en-CA" smtClean="0"/>
              <a:t>26</a:t>
            </a:fld>
            <a:endParaRPr lang="en-CA"/>
          </a:p>
        </p:txBody>
      </p:sp>
      <p:pic>
        <p:nvPicPr>
          <p:cNvPr id="5" name="Picture 4"/>
          <p:cNvPicPr>
            <a:picLocks noChangeAspect="1"/>
          </p:cNvPicPr>
          <p:nvPr/>
        </p:nvPicPr>
        <p:blipFill>
          <a:blip r:embed="rId2"/>
          <a:stretch>
            <a:fillRect/>
          </a:stretch>
        </p:blipFill>
        <p:spPr>
          <a:xfrm>
            <a:off x="1572997" y="158733"/>
            <a:ext cx="8581095" cy="4551858"/>
          </a:xfrm>
          <a:prstGeom prst="rect">
            <a:avLst/>
          </a:prstGeom>
        </p:spPr>
      </p:pic>
      <p:sp>
        <p:nvSpPr>
          <p:cNvPr id="6" name="Rectangle 5"/>
          <p:cNvSpPr/>
          <p:nvPr/>
        </p:nvSpPr>
        <p:spPr>
          <a:xfrm>
            <a:off x="161465" y="5097374"/>
            <a:ext cx="5380681" cy="923330"/>
          </a:xfrm>
          <a:prstGeom prst="rect">
            <a:avLst/>
          </a:prstGeom>
          <a:solidFill>
            <a:srgbClr val="D6DCE5"/>
          </a:solidFill>
        </p:spPr>
        <p:txBody>
          <a:bodyPr wrap="square">
            <a:spAutoFit/>
          </a:bodyPr>
          <a:lstStyle/>
          <a:p>
            <a:r>
              <a:rPr lang="en-US" dirty="0"/>
              <a:t>Correlation is described as the analysis which lets us know the association or the absence of the relationship between two variables ‘x’ and ‘y’. </a:t>
            </a:r>
          </a:p>
        </p:txBody>
      </p:sp>
      <p:sp>
        <p:nvSpPr>
          <p:cNvPr id="7" name="Rectangle 6"/>
          <p:cNvSpPr/>
          <p:nvPr/>
        </p:nvSpPr>
        <p:spPr>
          <a:xfrm>
            <a:off x="6335942" y="4978951"/>
            <a:ext cx="5694591" cy="1200329"/>
          </a:xfrm>
          <a:prstGeom prst="rect">
            <a:avLst/>
          </a:prstGeom>
          <a:solidFill>
            <a:srgbClr val="D6DCE5"/>
          </a:solidFill>
        </p:spPr>
        <p:txBody>
          <a:bodyPr wrap="square">
            <a:spAutoFit/>
          </a:bodyPr>
          <a:lstStyle/>
          <a:p>
            <a:r>
              <a:rPr lang="en-US" dirty="0"/>
              <a:t>Regression analysis, predicts the value of the dependent variable based on the known value of the independent variable, assuming that average mathematical relationship between two or more variables.</a:t>
            </a:r>
          </a:p>
        </p:txBody>
      </p:sp>
    </p:spTree>
    <p:extLst>
      <p:ext uri="{BB962C8B-B14F-4D97-AF65-F5344CB8AC3E}">
        <p14:creationId xmlns:p14="http://schemas.microsoft.com/office/powerpoint/2010/main" val="2189919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3134</TotalTime>
  <Words>750</Words>
  <Application>Microsoft Macintosh PowerPoint</Application>
  <PresentationFormat>Widescreen</PresentationFormat>
  <Paragraphs>84</Paragraphs>
  <Slides>26</Slides>
  <Notes>3</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Basic AI/ML</vt:lpstr>
      <vt:lpstr>Learning from Examples</vt:lpstr>
      <vt:lpstr>Learning Agents</vt:lpstr>
      <vt:lpstr>Machine Learning</vt:lpstr>
      <vt:lpstr>Forms of Learning  ML can improve any component of an agent program</vt:lpstr>
      <vt:lpstr>Forms of Learning  Components of different agent designs  Recap</vt:lpstr>
      <vt:lpstr>Forms of Learning  Components of different agent designs  Recap</vt:lpstr>
      <vt:lpstr>Why  Machine Learning?</vt:lpstr>
      <vt:lpstr>Why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Two Models- Which one is better ?</vt:lpstr>
      <vt:lpstr>PowerPoint Presentation</vt:lpstr>
      <vt:lpstr>PowerPoint Presentation</vt:lpstr>
      <vt:lpstr>PowerPoint Presentation</vt:lpstr>
      <vt:lpstr>PowerPoint Presentation</vt:lpstr>
      <vt:lpstr>Avoiding Over-fitting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Regression Analysis</dc:title>
  <dc:creator>Abdul Bais</dc:creator>
  <cp:lastModifiedBy>Mian Muhammad Awais</cp:lastModifiedBy>
  <cp:revision>28</cp:revision>
  <dcterms:created xsi:type="dcterms:W3CDTF">2020-09-17T15:32:22Z</dcterms:created>
  <dcterms:modified xsi:type="dcterms:W3CDTF">2026-03-31T08:15:17Z</dcterms:modified>
</cp:coreProperties>
</file>