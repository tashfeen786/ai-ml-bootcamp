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y="6858000" cx="12192000"/>
  <p:notesSz cx="6858000" cy="9144000"/>
  <p:embeddedFontLst>
    <p:embeddedFont>
      <p:font typeface="IBM Plex Sans"/>
      <p:regular r:id="rId82"/>
      <p:bold r:id="rId83"/>
      <p:italic r:id="rId84"/>
      <p:boldItalic r:id="rId85"/>
    </p:embeddedFont>
    <p:embeddedFont>
      <p:font typeface="Play"/>
      <p:regular r:id="rId86"/>
      <p:bold r:id="rId87"/>
    </p:embeddedFont>
    <p:embeddedFont>
      <p:font typeface="Roboto"/>
      <p:regular r:id="rId88"/>
      <p:bold r:id="rId89"/>
      <p:italic r:id="rId90"/>
      <p:boldItalic r:id="rId91"/>
    </p:embeddedFont>
    <p:embeddedFont>
      <p:font typeface="Be Vietnam Pro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6" roundtripDataSignature="AMtx7mhPGqlJtfn6qvFYq8ibJbqaB7e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774E20-CA3E-40F1-B137-B4D2876B03A5}">
  <a:tblStyle styleId="{F2774E20-CA3E-40F1-B137-B4D2876B03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IBMPlexSans-italic.fntdata"/><Relationship Id="rId83" Type="http://schemas.openxmlformats.org/officeDocument/2006/relationships/font" Target="fonts/IBMPlexSans-bold.fntdata"/><Relationship Id="rId42" Type="http://schemas.openxmlformats.org/officeDocument/2006/relationships/slide" Target="slides/slide36.xml"/><Relationship Id="rId86" Type="http://schemas.openxmlformats.org/officeDocument/2006/relationships/font" Target="fonts/Play-regular.fntdata"/><Relationship Id="rId41" Type="http://schemas.openxmlformats.org/officeDocument/2006/relationships/slide" Target="slides/slide35.xml"/><Relationship Id="rId85" Type="http://schemas.openxmlformats.org/officeDocument/2006/relationships/font" Target="fonts/IBMPlexSans-boldItalic.fntdata"/><Relationship Id="rId44" Type="http://schemas.openxmlformats.org/officeDocument/2006/relationships/slide" Target="slides/slide38.xml"/><Relationship Id="rId88" Type="http://schemas.openxmlformats.org/officeDocument/2006/relationships/font" Target="fonts/Roboto-regular.fntdata"/><Relationship Id="rId43" Type="http://schemas.openxmlformats.org/officeDocument/2006/relationships/slide" Target="slides/slide37.xml"/><Relationship Id="rId87" Type="http://schemas.openxmlformats.org/officeDocument/2006/relationships/font" Target="fonts/Play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Roboto-bold.fntdata"/><Relationship Id="rId80" Type="http://schemas.openxmlformats.org/officeDocument/2006/relationships/slide" Target="slides/slide74.xml"/><Relationship Id="rId82" Type="http://schemas.openxmlformats.org/officeDocument/2006/relationships/font" Target="fonts/IBMPlexSans-regular.fntdata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schemas.openxmlformats.org/officeDocument/2006/relationships/font" Target="fonts/BeVietnamPro-boldItalic.fntdata"/><Relationship Id="rId50" Type="http://schemas.openxmlformats.org/officeDocument/2006/relationships/slide" Target="slides/slide44.xml"/><Relationship Id="rId94" Type="http://schemas.openxmlformats.org/officeDocument/2006/relationships/font" Target="fonts/BeVietnamPro-italic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96" Type="http://customschemas.google.com/relationships/presentationmetadata" Target="metadata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BeVietnamPro-bold.fntdata"/><Relationship Id="rId92" Type="http://schemas.openxmlformats.org/officeDocument/2006/relationships/font" Target="fonts/BeVietnamPro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4" name="Google Shape;40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0" name="Google Shape;41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7" name="Google Shape;417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3" name="Google Shape;4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9" name="Google Shape;42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5" name="Google Shape;43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2" name="Google Shape;442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9" name="Google Shape;449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6" name="Google Shape;456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2" name="Google Shape;46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8" name="Google Shape;4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4" name="Google Shape;4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0" name="Google Shape;48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8" name="Google Shape;48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6" name="Google Shape;49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3" name="Google Shape;50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9" name="Google Shape;50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5" name="Google Shape;515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3" name="Google Shape;543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3" name="Google Shape;553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5" name="Google Shape;56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4" name="Google Shape;574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3" name="Google Shape;58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1" name="Google Shape;60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9" name="Google Shape;60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6" name="Google Shape;61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2" name="Google Shape;62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9" name="Google Shape;62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5" name="Google Shape;63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2" name="Google Shape;642;p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9" name="Google Shape;649;p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8" name="Google Shape;65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5" name="Google Shape;665;p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72" name="Google Shape;672;p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78" name="Google Shape;678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84" name="Google Shape;68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1" name="Google Shape;6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7" name="Google Shape;697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17" name="Google Shape;71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3" name="Google Shape;72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8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hyperlink" Target="https://developers.google.com/machine-learning/glossary#accuracy" TargetMode="External"/><Relationship Id="rId5" Type="http://schemas.openxmlformats.org/officeDocument/2006/relationships/hyperlink" Target="https://developers.google.com/machine-learning/glossary#precision" TargetMode="External"/><Relationship Id="rId6" Type="http://schemas.openxmlformats.org/officeDocument/2006/relationships/hyperlink" Target="https://developers.google.com/machine-learning/glossary#recall" TargetMode="External"/><Relationship Id="rId7" Type="http://schemas.openxmlformats.org/officeDocument/2006/relationships/hyperlink" Target="https://developers.google.com/machine-learning/glossary#auc-area-under-the-roc-curv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jpg"/><Relationship Id="rId4" Type="http://schemas.openxmlformats.org/officeDocument/2006/relationships/image" Target="../media/image29.jpg"/><Relationship Id="rId5" Type="http://schemas.openxmlformats.org/officeDocument/2006/relationships/image" Target="../media/image27.jpg"/><Relationship Id="rId6" Type="http://schemas.openxmlformats.org/officeDocument/2006/relationships/image" Target="../media/image26.jpg"/><Relationship Id="rId7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8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tal tubes aligned in an angle" id="102" name="Google Shape;102;p1"/>
          <p:cNvPicPr preferRelativeResize="0"/>
          <p:nvPr/>
        </p:nvPicPr>
        <p:blipFill rotWithShape="1">
          <a:blip r:embed="rId3">
            <a:alphaModFix amt="60000"/>
          </a:blip>
          <a:srcRect b="998" l="0" r="0" t="14733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>
            <p:ph type="ctrTitle"/>
          </p:nvPr>
        </p:nvSpPr>
        <p:spPr>
          <a:xfrm>
            <a:off x="838200" y="914402"/>
            <a:ext cx="10515600" cy="29859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lay"/>
              <a:buNone/>
            </a:pPr>
            <a:r>
              <a:rPr lang="en-US" sz="5200">
                <a:solidFill>
                  <a:srgbClr val="FFFFFF"/>
                </a:solidFill>
              </a:rPr>
              <a:t>AI/ML Pipeline – Datapipeline – CI/CD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838200" y="4072040"/>
            <a:ext cx="10515600" cy="13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AI/ML Projects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Form Group (you may choose one domain to work)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Selection of topic and assignment of responsibilities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AI/ML requirements + Group requirements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Multiple deliverables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Tentative Phases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Framing the problem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Applying ML pipeline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Integration and Deployment (cloud based included)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type="title"/>
          </p:nvPr>
        </p:nvSpPr>
        <p:spPr>
          <a:xfrm>
            <a:off x="488058" y="121596"/>
            <a:ext cx="5138935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b="1" lang="en-US" sz="3700"/>
              <a:t>The Importance of Problem Framing in ML</a:t>
            </a:r>
            <a:endParaRPr sz="3700"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214314" y="2100264"/>
            <a:ext cx="5686424" cy="475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What is Problem Framing?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process of analyzing a problem to isolate individual elements needing solutions.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Helps determine </a:t>
            </a:r>
            <a:r>
              <a:rPr b="1" lang="en-US" sz="2000"/>
              <a:t>technical feasibility</a:t>
            </a:r>
            <a:r>
              <a:rPr lang="en-US" sz="2000"/>
              <a:t> and provides clear </a:t>
            </a:r>
            <a:r>
              <a:rPr b="1" lang="en-US" sz="2000"/>
              <a:t>goals &amp; success criteria</a:t>
            </a:r>
            <a:r>
              <a:rPr lang="en-US" sz="2000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Crucial for ML solutions:</a:t>
            </a:r>
            <a:r>
              <a:rPr lang="en-US" sz="2000"/>
              <a:t> Directly impacts product success.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Why is it Critical for ML?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Forces a deeper understanding of both the problem and the available data.</a:t>
            </a:r>
            <a:endParaRPr/>
          </a:p>
        </p:txBody>
      </p:sp>
      <p:pic>
        <p:nvPicPr>
          <p:cNvPr descr="People at the meeting desk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20271" r="29673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High-Level Steps of ML Problem Framing</a:t>
            </a:r>
            <a:endParaRPr sz="4000"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257175" y="1974716"/>
            <a:ext cx="5614987" cy="4683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Two Distinct Phases: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Determining ML Suitability:</a:t>
            </a:r>
            <a:endParaRPr sz="2000"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/>
              <a:t>Is Machine Learning the appropriate approach for this specific problem?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/>
              <a:t>Avoids wasted effort on non-ML amenable problems.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	Framing in ML Terms:</a:t>
            </a:r>
            <a:endParaRPr sz="2000"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/>
              <a:t>Once ML is deemed suitable, define the problem in a way that an ML model can understand and address (e.g., classification, regression, clustering).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/>
              <a:t>Sets the stage for data preparation, model selection, and training.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Digital financial graph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32615" r="17329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4400"/>
              <a:buFont typeface="Arial"/>
              <a:buNone/>
            </a:pPr>
            <a:r>
              <a:rPr b="0" lang="en-U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Check Your Understanding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</a:pPr>
            <a:r>
              <a:rPr b="1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Why is problem framing important?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Problem framing helps diagnose problems with existing ML models and uncovers issues with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Problem framing ensures that an ML approach is a good solution to the problem before beginning to work with data and train a model.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n-US" sz="4000">
                <a:solidFill>
                  <a:srgbClr val="FFFFFF"/>
                </a:solidFill>
              </a:rPr>
              <a:t>The Cost of Skipping Problem Framing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642939" y="1891969"/>
            <a:ext cx="10452692" cy="4823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/>
              <a:t>Wasted Resources:</a:t>
            </a:r>
            <a:r>
              <a:rPr lang="en-US" sz="3200"/>
              <a:t> Investing time, money, and effort into building an ML solution for a problem where ML isn't the best fit.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/>
              <a:t>Poor Performance:</a:t>
            </a:r>
            <a:r>
              <a:rPr lang="en-US" sz="3200"/>
              <a:t> Even if ML is somewhat applicable, an ill-framed problem leads to models that are ineffective or don't meet user needs.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/>
              <a:t>Scope Creep &amp; Delays:</a:t>
            </a:r>
            <a:r>
              <a:rPr lang="en-US" sz="3200"/>
              <a:t> Lack of clear goals and success criteria can lead to endless iterations and project stagnation.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/>
              <a:t>Dissatisfied Users:</a:t>
            </a:r>
            <a:r>
              <a:rPr lang="en-US" sz="3200"/>
              <a:t> The "solution" doesn't actually solve the core user pain point.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/>
              <a:t>Re-work:</a:t>
            </a:r>
            <a:r>
              <a:rPr lang="en-US" sz="3200"/>
              <a:t> Often, you'll end up going back to the drawing board anyway, costing even more.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73235" y="1371600"/>
            <a:ext cx="4529312" cy="3589977"/>
          </a:xfrm>
          <a:custGeom>
            <a:rect b="b" l="l" r="r" t="t"/>
            <a:pathLst>
              <a:path extrusionOk="0" h="3193741" w="5470628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>
            <p:ph type="title"/>
          </p:nvPr>
        </p:nvSpPr>
        <p:spPr>
          <a:xfrm>
            <a:off x="361874" y="711994"/>
            <a:ext cx="3494859" cy="549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Your Toolkit:</a:t>
            </a:r>
            <a:endParaRPr/>
          </a:p>
        </p:txBody>
      </p:sp>
      <p:grpSp>
        <p:nvGrpSpPr>
          <p:cNvPr id="153" name="Google Shape;153;p7"/>
          <p:cNvGrpSpPr/>
          <p:nvPr/>
        </p:nvGrpSpPr>
        <p:grpSpPr>
          <a:xfrm>
            <a:off x="3943351" y="243437"/>
            <a:ext cx="8075414" cy="6428275"/>
            <a:chOff x="0" y="549"/>
            <a:chExt cx="8075414" cy="6428275"/>
          </a:xfrm>
        </p:grpSpPr>
        <p:sp>
          <p:nvSpPr>
            <p:cNvPr id="154" name="Google Shape;154;p7"/>
            <p:cNvSpPr/>
            <p:nvPr/>
          </p:nvSpPr>
          <p:spPr>
            <a:xfrm>
              <a:off x="0" y="549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228771" y="170709"/>
              <a:ext cx="415947" cy="4159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873489" y="549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 txBox="1"/>
            <p:nvPr/>
          </p:nvSpPr>
          <p:spPr>
            <a:xfrm>
              <a:off x="873489" y="549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Define the Business Goal: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Start with the "why" – what business outcome are you trying to achieve?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0" y="945884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228771" y="1116044"/>
              <a:ext cx="415947" cy="4159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873489" y="945884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873489" y="945884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Understand the User: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Talk to users, understand their workflows and challenges.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0" y="1891218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0C9E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228771" y="2061379"/>
              <a:ext cx="415947" cy="41594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873489" y="1891218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873489" y="1891218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Explore Alternatives: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Seriously consider non-ML solutions first. Is a simple rule-based system or a database query enough?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0" y="2836553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A02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228771" y="3006713"/>
              <a:ext cx="415947" cy="41594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873489" y="2836553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873489" y="2836553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Identify ML Task Type: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If ML is suitable, categorize it (e.g., classification, regression, clustering, recommendation).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0" y="3781888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4EA6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228771" y="3952048"/>
              <a:ext cx="415947" cy="41594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873489" y="3781888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873489" y="3781888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Determine Input &amp; Output: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What data goes in, and what should the model produce?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0" y="4727223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8771" y="4897383"/>
              <a:ext cx="415947" cy="41594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873489" y="4727223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873489" y="4727223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Establish Metrics: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Define specific, measurable success metrics (e.g., accuracy, precision, recall, RMSE, business KPIs).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0" y="5672557"/>
              <a:ext cx="8075414" cy="756267"/>
            </a:xfrm>
            <a:prstGeom prst="roundRect">
              <a:avLst>
                <a:gd fmla="val 10000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228771" y="5842718"/>
              <a:ext cx="415947" cy="415947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873489" y="5672557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873489" y="5672557"/>
              <a:ext cx="7201924" cy="756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25" lIns="80025" spcFirstLastPara="1" rIns="80025" wrap="square" tIns="80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Identify Data Sources: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Pinpoint where you'll get the data and assess its quality and availability.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Framing Problem</a:t>
            </a:r>
            <a:endParaRPr/>
          </a:p>
        </p:txBody>
      </p:sp>
      <p:sp>
        <p:nvSpPr>
          <p:cNvPr id="187" name="Google Shape;18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800"/>
              <a:buNone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You frame a problem in ML terms by completing the following tasks: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Arial"/>
              <a:buChar char="•"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Define the ideal outcome and the model's goal.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Arial"/>
              <a:buChar char="•"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Identify the model's output.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2800"/>
              <a:buFont typeface="Arial"/>
              <a:buChar char="•"/>
            </a:pPr>
            <a:r>
              <a:rPr b="0" i="0" lang="en-US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Define success metrics.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en-US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Ideal Outcome and Goal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807702" y="1733454"/>
            <a:ext cx="4572000" cy="18288"/>
          </a:xfrm>
          <a:custGeom>
            <a:rect b="b" l="l" r="r" t="t"/>
            <a:pathLst>
              <a:path extrusionOk="0" fill="none" h="18288" w="457200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57200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5" name="Google Shape;195;p9"/>
          <p:cNvGraphicFramePr/>
          <p:nvPr/>
        </p:nvGraphicFramePr>
        <p:xfrm>
          <a:off x="320040" y="2204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1230700"/>
                <a:gridCol w="4641975"/>
                <a:gridCol w="5676200"/>
              </a:tblGrid>
              <a:tr h="28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</a:t>
                      </a:r>
                      <a:endParaRPr/>
                    </a:p>
                  </a:txBody>
                  <a:tcPr marT="28850" marB="28850" marR="28850" marL="28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Ideal outcome</a:t>
                      </a:r>
                      <a:endParaRPr/>
                    </a:p>
                  </a:txBody>
                  <a:tcPr marT="28850" marB="28850" marR="28850" marL="28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Model's goal</a:t>
                      </a:r>
                      <a:endParaRPr/>
                    </a:p>
                  </a:txBody>
                  <a:tcPr marT="28850" marB="28850" marR="28850" marL="288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Weather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Calculate precipitation in six hour increments for a geographic region.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six-hour precipitation amounts for specific geographic regions.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Fashion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Generate a variety of shirt designs.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Generate three varieties of a shirt design from text and an image, where the text states the style and color and the image is the type of shirt (t-shirt, button-up, polo).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Video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Recommend useful videos.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whether a user will click on a video.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Mail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Detect spam.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whether or not an email is spam.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Financial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Summarize financial information from multiple news sources.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Generate 50-word summaries of the major financial trends from the previous seven days.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Map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Calculate travel time.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how long it will take to travel between two points.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Banking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Identify fraudulent transactions.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if a transaction was made by the card holder.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Dining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Identify cuisine by a restaurant's menu.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Predict the type of restaurant.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Ecommerce app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Generate customer support replies about the company's products.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Generate replies using sentiment analysis and the organization's knowledge base.</a:t>
                      </a:r>
                      <a:endParaRPr/>
                    </a:p>
                  </a:txBody>
                  <a:tcPr marT="25250" marB="28850" marR="28850" marL="288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Output Required</a:t>
            </a:r>
            <a:endParaRPr/>
          </a:p>
        </p:txBody>
      </p:sp>
      <p:graphicFrame>
        <p:nvGraphicFramePr>
          <p:cNvPr id="202" name="Google Shape;202;p10"/>
          <p:cNvGraphicFramePr/>
          <p:nvPr/>
        </p:nvGraphicFramePr>
        <p:xfrm>
          <a:off x="643467" y="18040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3594600"/>
                <a:gridCol w="3594600"/>
                <a:gridCol w="3715850"/>
              </a:tblGrid>
              <a:tr h="44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endParaRPr/>
                    </a:p>
                  </a:txBody>
                  <a:tcPr marT="58025" marB="58025" marR="58025" marL="58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124"/>
                        </a:buClr>
                        <a:buSzPts val="1900"/>
                        <a:buFont typeface="Roboto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 system</a:t>
                      </a:r>
                      <a:endParaRPr/>
                    </a:p>
                  </a:txBody>
                  <a:tcPr marT="58025" marB="58025" marR="58025" marL="58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124"/>
                        </a:buClr>
                        <a:buSzPts val="1900"/>
                        <a:buFont typeface="Roboto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 output</a:t>
                      </a:r>
                      <a:endParaRPr/>
                    </a:p>
                  </a:txBody>
                  <a:tcPr marT="34825" marB="34825" marR="69625" marL="696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67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Classification</a:t>
                      </a:r>
                      <a:endParaRPr/>
                    </a:p>
                  </a:txBody>
                  <a:tcPr marT="58025" marB="58025" marR="58025" marL="58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Binary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Classify an email as spam or not spam.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10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Multiclass single-label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Classify an animal in an image.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7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Multiclass multi-label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Classify all the animals in an image.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767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Numerical</a:t>
                      </a:r>
                      <a:endParaRPr/>
                    </a:p>
                  </a:txBody>
                  <a:tcPr marT="58025" marB="58025" marR="58025" marL="58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Unidimensional regression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Predict the number of views a video will get.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34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Multidimensional regression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/>
                        <a:t>Predict blood pressure, heart rate, and cholesterol levels for an individual.</a:t>
                      </a:r>
                      <a:endParaRPr/>
                    </a:p>
                  </a:txBody>
                  <a:tcPr marT="50775" marB="58025" marR="58025" marL="580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Output Required</a:t>
            </a:r>
            <a:endParaRPr/>
          </a:p>
        </p:txBody>
      </p:sp>
      <p:graphicFrame>
        <p:nvGraphicFramePr>
          <p:cNvPr id="209" name="Google Shape;209;p11"/>
          <p:cNvGraphicFramePr/>
          <p:nvPr/>
        </p:nvGraphicFramePr>
        <p:xfrm>
          <a:off x="1840833" y="1410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2392900"/>
                <a:gridCol w="5957025"/>
              </a:tblGrid>
              <a:tr h="32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type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 output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Summarize an article.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Reply to customer reviews.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Translate documents from English to Mandarin.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Write product descriptions.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Analyze legal documents.</a:t>
                      </a:r>
                      <a:endParaRPr/>
                    </a:p>
                  </a:txBody>
                  <a:tcPr marT="47950" marB="47950" marR="32125" marL="321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Produce marketing images.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Apply visual effects to photos.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Generate product design variations.</a:t>
                      </a:r>
                      <a:endParaRPr/>
                    </a:p>
                  </a:txBody>
                  <a:tcPr marT="47950" marB="47950" marR="32125" marL="321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7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Audio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Generate dialogue in a specific accent.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Generate a short musical composition in a specific genre, like jazz.</a:t>
                      </a:r>
                      <a:endParaRPr/>
                    </a:p>
                  </a:txBody>
                  <a:tcPr marT="47950" marB="47950" marR="32125" marL="321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Video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Generate realistic-looking videos.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Analyze video footage and apply visual effects.</a:t>
                      </a:r>
                      <a:endParaRPr/>
                    </a:p>
                  </a:txBody>
                  <a:tcPr marT="47950" marB="47950" marR="32125" marL="321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Multimodal</a:t>
                      </a:r>
                      <a:endParaRPr/>
                    </a:p>
                  </a:txBody>
                  <a:tcPr marT="47950" marB="47950" marR="32125" marL="32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Produce multiple types of output, like a video with text captions.</a:t>
                      </a:r>
                      <a:endParaRPr/>
                    </a:p>
                  </a:txBody>
                  <a:tcPr marT="47950" marB="47950" marR="32125" marL="321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Proxy Labels</a:t>
            </a:r>
            <a:endParaRPr/>
          </a:p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439073" y="1622426"/>
            <a:ext cx="4646905" cy="2626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0" i="0" lang="en-US" sz="2000">
                <a:latin typeface="Roboto"/>
                <a:ea typeface="Roboto"/>
                <a:cs typeface="Roboto"/>
                <a:sym typeface="Roboto"/>
              </a:rPr>
              <a:t>ubstitute for labels that aren't in the dataset.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b="0" i="0" lang="en-US" sz="2000">
                <a:latin typeface="Roboto"/>
                <a:ea typeface="Roboto"/>
                <a:cs typeface="Roboto"/>
                <a:sym typeface="Roboto"/>
              </a:rPr>
              <a:t>ecessary when you can't directly measure what you want to predict.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b="0" i="0" lang="en-US" sz="2000">
                <a:latin typeface="Roboto"/>
                <a:ea typeface="Roboto"/>
                <a:cs typeface="Roboto"/>
                <a:sym typeface="Roboto"/>
              </a:rPr>
              <a:t>ideo Recommendation app: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0" i="0" lang="en-US" sz="2000">
                <a:latin typeface="Roboto"/>
                <a:ea typeface="Roboto"/>
                <a:cs typeface="Roboto"/>
                <a:sym typeface="Roboto"/>
              </a:rPr>
              <a:t>can't directly measure whether or not a user will find a video useful.</a:t>
            </a:r>
            <a:endParaRPr sz="2000"/>
          </a:p>
        </p:txBody>
      </p:sp>
      <p:pic>
        <p:nvPicPr>
          <p:cNvPr descr="Question mark boxes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27913" r="22030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12"/>
          <p:cNvGraphicFramePr/>
          <p:nvPr/>
        </p:nvGraphicFramePr>
        <p:xfrm>
          <a:off x="94220" y="5235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2934725"/>
                <a:gridCol w="2934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Ideal outcome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Proxy label</a:t>
                      </a:r>
                      <a:endParaRPr/>
                    </a:p>
                  </a:txBody>
                  <a:tcPr marT="76200" marB="76200" marR="76200" marL="762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Recommend useful videos.</a:t>
                      </a:r>
                      <a:endParaRPr sz="1800" u="none" cap="none" strike="noStrike"/>
                    </a:p>
                  </a:txBody>
                  <a:tcPr marT="66675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Shared/liked</a:t>
                      </a:r>
                      <a:endParaRPr/>
                    </a:p>
                  </a:txBody>
                  <a:tcPr marT="66675" marB="76200" marR="76200" marL="762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12"/>
          <p:cNvSpPr/>
          <p:nvPr/>
        </p:nvSpPr>
        <p:spPr>
          <a:xfrm>
            <a:off x="236258" y="4568712"/>
            <a:ext cx="5516096" cy="553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 proxy label for usefulness might be whether or not the user will share or like the video.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Machine Learning Models</a:t>
            </a:r>
            <a:endParaRPr/>
          </a:p>
        </p:txBody>
      </p:sp>
      <p:pic>
        <p:nvPicPr>
          <p:cNvPr id="227" name="Google Shape;22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85" y="1675227"/>
            <a:ext cx="10525029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>
            <p:ph type="title"/>
          </p:nvPr>
        </p:nvSpPr>
        <p:spPr>
          <a:xfrm>
            <a:off x="5830138" y="285419"/>
            <a:ext cx="5444382" cy="777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Success Metrics</a:t>
            </a:r>
            <a:endParaRPr/>
          </a:p>
        </p:txBody>
      </p:sp>
      <p:pic>
        <p:nvPicPr>
          <p:cNvPr descr="One in a crowd" id="233" name="Google Shape;233;p14"/>
          <p:cNvPicPr preferRelativeResize="0"/>
          <p:nvPr/>
        </p:nvPicPr>
        <p:blipFill rotWithShape="1">
          <a:blip r:embed="rId3">
            <a:alphaModFix/>
          </a:blip>
          <a:srcRect b="0" l="25928" r="17738" t="0"/>
          <a:stretch/>
        </p:blipFill>
        <p:spPr>
          <a:xfrm>
            <a:off x="-1" y="10"/>
            <a:ext cx="5151179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14"/>
          <p:cNvCxnSpPr/>
          <p:nvPr/>
        </p:nvCxnSpPr>
        <p:spPr>
          <a:xfrm>
            <a:off x="5971697" y="871146"/>
            <a:ext cx="73693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14"/>
          <p:cNvSpPr txBox="1"/>
          <p:nvPr>
            <p:ph idx="1" type="body"/>
          </p:nvPr>
        </p:nvSpPr>
        <p:spPr>
          <a:xfrm>
            <a:off x="5378823" y="1456874"/>
            <a:ext cx="6347011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latin typeface="Roboto"/>
                <a:ea typeface="Roboto"/>
                <a:cs typeface="Roboto"/>
                <a:sym typeface="Roboto"/>
              </a:rPr>
              <a:t>Define the metrics you'll use to determine whether or not the ML implementation is successful.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latin typeface="Roboto"/>
                <a:ea typeface="Roboto"/>
                <a:cs typeface="Roboto"/>
                <a:sym typeface="Roboto"/>
              </a:rPr>
              <a:t>Success metrics define what you care about, like engagement or helping users take appropriate action, such as watching videos that they'll find useful.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en-US">
                <a:latin typeface="Roboto"/>
                <a:ea typeface="Roboto"/>
                <a:cs typeface="Roboto"/>
                <a:sym typeface="Roboto"/>
              </a:rPr>
              <a:t>Success metrics differ from the model's evaluation metrics</a:t>
            </a:r>
            <a:r>
              <a:rPr b="0" i="0" lang="en-US">
                <a:latin typeface="Roboto"/>
                <a:ea typeface="Roboto"/>
                <a:cs typeface="Roboto"/>
                <a:sym typeface="Roboto"/>
              </a:rPr>
              <a:t>, like </a:t>
            </a:r>
            <a:r>
              <a:rPr i="1"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accuracy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, </a:t>
            </a:r>
            <a:r>
              <a:rPr i="1"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precision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, </a:t>
            </a:r>
            <a:r>
              <a:rPr i="1"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recall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, or </a:t>
            </a:r>
            <a:r>
              <a:rPr i="1"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AUC</a:t>
            </a:r>
            <a:r>
              <a:rPr i="1" lang="en-US">
                <a:latin typeface="Roboto"/>
                <a:ea typeface="Roboto"/>
                <a:cs typeface="Roboto"/>
                <a:sym typeface="Roboto"/>
              </a:rPr>
              <a:t>.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241" name="Google Shape;241;p15"/>
          <p:cNvGraphicFramePr/>
          <p:nvPr/>
        </p:nvGraphicFramePr>
        <p:xfrm>
          <a:off x="2016527" y="4644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3095625"/>
                <a:gridCol w="30956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?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Failure</a:t>
                      </a:r>
                      <a:endParaRPr sz="1800" u="none" cap="none" strike="noStrike"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?</a:t>
                      </a:r>
                      <a:endParaRPr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" name="Google Shape;242;p15"/>
          <p:cNvGraphicFramePr/>
          <p:nvPr/>
        </p:nvGraphicFramePr>
        <p:xfrm>
          <a:off x="2016527" y="2333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3095625"/>
                <a:gridCol w="30956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?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Failure</a:t>
                      </a:r>
                      <a:endParaRPr sz="1800" u="none" cap="none" strike="noStrike"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?</a:t>
                      </a:r>
                      <a:endParaRPr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3" name="Google Shape;243;p15"/>
          <p:cNvSpPr/>
          <p:nvPr/>
        </p:nvSpPr>
        <p:spPr>
          <a:xfrm>
            <a:off x="1122746" y="4050324"/>
            <a:ext cx="7050306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The video app metrics might be defined as the following: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1088020" y="1821223"/>
            <a:ext cx="7153153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The weather app metrics might be defined as the following: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250" name="Google Shape;250;p16"/>
          <p:cNvGraphicFramePr/>
          <p:nvPr/>
        </p:nvGraphicFramePr>
        <p:xfrm>
          <a:off x="1322040" y="4655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4359100"/>
                <a:gridCol w="55579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Users open the "Will it rain?" feature 50 percent more often than they did before.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Failure</a:t>
                      </a:r>
                      <a:endParaRPr sz="1800" u="none" cap="none" strike="noStrike"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Users open the "Will it rain?" feature no more often than before.</a:t>
                      </a:r>
                      <a:endParaRPr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1" name="Google Shape;251;p16"/>
          <p:cNvGraphicFramePr/>
          <p:nvPr/>
        </p:nvGraphicFramePr>
        <p:xfrm>
          <a:off x="1322042" y="22413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4455000"/>
                <a:gridCol w="4455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124"/>
                        </a:buClr>
                        <a:buSzPts val="1800"/>
                        <a:buFont typeface="Roboto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Users spend on average 20 percent more time on the site.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Failure</a:t>
                      </a:r>
                      <a:endParaRPr sz="1800" u="none" cap="none" strike="noStrike"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Users spend on average no more time on site than before.</a:t>
                      </a:r>
                      <a:endParaRPr/>
                    </a:p>
                  </a:txBody>
                  <a:tcPr marT="66675" marB="76200" marR="76200" marL="76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C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16"/>
          <p:cNvSpPr/>
          <p:nvPr/>
        </p:nvSpPr>
        <p:spPr>
          <a:xfrm>
            <a:off x="1122746" y="4050324"/>
            <a:ext cx="7050306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The weather app metrics might be defined as the following: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088020" y="1821223"/>
            <a:ext cx="7153153" cy="3077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The video app metrics might be defined as the following: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Assessing Data Feasibility Before Starting</a:t>
            </a:r>
            <a:endParaRPr/>
          </a:p>
        </p:txBody>
      </p:sp>
      <p:pic>
        <p:nvPicPr>
          <p:cNvPr id="259" name="Google Shape;25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748" y="1882164"/>
            <a:ext cx="8541774" cy="435880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7"/>
          <p:cNvSpPr txBox="1"/>
          <p:nvPr/>
        </p:nvSpPr>
        <p:spPr>
          <a:xfrm>
            <a:off x="398454" y="6432443"/>
            <a:ext cx="9873798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source: https://medium.com/the-data-sensei/how-to-frame-machine-learning-problems-for-business-impact-a-7-step-guide-68eb89b0a25a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type="title"/>
          </p:nvPr>
        </p:nvSpPr>
        <p:spPr>
          <a:xfrm>
            <a:off x="762000" y="1138036"/>
            <a:ext cx="4085665" cy="140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Example</a:t>
            </a:r>
            <a:endParaRPr/>
          </a:p>
        </p:txBody>
      </p:sp>
      <p:cxnSp>
        <p:nvCxnSpPr>
          <p:cNvPr id="266" name="Google Shape;266;p18"/>
          <p:cNvCxnSpPr/>
          <p:nvPr/>
        </p:nvCxnSpPr>
        <p:spPr>
          <a:xfrm>
            <a:off x="865140" y="871146"/>
            <a:ext cx="73693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762000" y="1921398"/>
            <a:ext cx="4168815" cy="4583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2400">
                <a:latin typeface="Roboto"/>
                <a:ea typeface="Roboto"/>
                <a:cs typeface="Roboto"/>
                <a:sym typeface="Roboto"/>
              </a:rPr>
              <a:t>A fashion firm wants to sell more clothes. Someone suggests using ML to determine which clothes the firm should manufacture. They think they can train a model to determine which type of clothes are in fashion. After they train the model, they want to apply it to their catalog to decide which clothes to make.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sz="2400">
                <a:latin typeface="Roboto"/>
                <a:ea typeface="Roboto"/>
                <a:cs typeface="Roboto"/>
                <a:sym typeface="Roboto"/>
              </a:rPr>
              <a:t>How should they frame their problem in ML terms?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pic>
        <p:nvPicPr>
          <p:cNvPr id="268" name="Google Shape;268;p18"/>
          <p:cNvPicPr preferRelativeResize="0"/>
          <p:nvPr/>
        </p:nvPicPr>
        <p:blipFill rotWithShape="1">
          <a:blip r:embed="rId3">
            <a:alphaModFix/>
          </a:blip>
          <a:srcRect b="0" l="27318" r="19031" t="0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596097" y="1768046"/>
            <a:ext cx="3999052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Ideal outcome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Model's goal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Model output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Success metrics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4548849" y="1760138"/>
            <a:ext cx="7000754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Ideal outcome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Determine which products to manufacture.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Model's goal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 which articles of clothing are in fashion.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Model output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Binary classification, in_fashion, not_in_fashion</a:t>
            </a:r>
            <a:endParaRPr b="0" i="0" sz="28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Success metrics</a:t>
            </a:r>
            <a:r>
              <a:rPr b="0" i="0" lang="en-US" sz="2800" u="none" cap="none" strike="noStrike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Sell seventy percent or more of the clothes made.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>
            <p:ph type="title"/>
          </p:nvPr>
        </p:nvSpPr>
        <p:spPr>
          <a:xfrm>
            <a:off x="838200" y="365126"/>
            <a:ext cx="10515600" cy="1000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End-to-End ML Pipeline</a:t>
            </a:r>
            <a:endParaRPr/>
          </a:p>
        </p:txBody>
      </p:sp>
      <p:sp>
        <p:nvSpPr>
          <p:cNvPr id="281" name="Google Shape;281;p20"/>
          <p:cNvSpPr txBox="1"/>
          <p:nvPr>
            <p:ph idx="1" type="body"/>
          </p:nvPr>
        </p:nvSpPr>
        <p:spPr>
          <a:xfrm>
            <a:off x="838200" y="1463128"/>
            <a:ext cx="5181600" cy="4740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1351"/>
              <a:buNone/>
            </a:pPr>
            <a:r>
              <a:rPr b="1" lang="en-US" sz="2000"/>
              <a:t>Key Points: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40540"/>
              <a:buNone/>
            </a:pPr>
            <a:r>
              <a:rPr lang="en-US" sz="2000"/>
              <a:t>Framing affects every stage of the ML pipeline: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Data Collection</a:t>
            </a:r>
            <a:r>
              <a:rPr lang="en-US" sz="2000"/>
              <a:t>: Must align with business KPIs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Preprocessing</a:t>
            </a:r>
            <a:r>
              <a:rPr lang="en-US" sz="2000"/>
              <a:t>: Remove irrelevant noise, engineer features based on use-case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Modeling</a:t>
            </a:r>
            <a:r>
              <a:rPr lang="en-US" sz="2000"/>
              <a:t>: Prioritize interpretability/fairness if used in high-stakes areas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Evaluation</a:t>
            </a:r>
            <a:r>
              <a:rPr lang="en-US" sz="2000"/>
              <a:t>: Choose business-aligned metrics (not just accuracy)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Deployment</a:t>
            </a:r>
            <a:r>
              <a:rPr lang="en-US" sz="2000"/>
              <a:t>: Must fit into business systems and workflows</a:t>
            </a:r>
            <a:endParaRPr sz="2000"/>
          </a:p>
          <a:p>
            <a:pPr indent="-19589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1081"/>
              <a:buFont typeface="Play"/>
              <a:buAutoNum type="arabicPeriod"/>
            </a:pPr>
            <a:r>
              <a:rPr b="1" lang="en-US" sz="2000"/>
              <a:t>Monitoring</a:t>
            </a:r>
            <a:r>
              <a:rPr lang="en-US" sz="2000"/>
              <a:t>: Track real-world performance; retrain regularly and Monitor Business Impact</a:t>
            </a:r>
            <a:endParaRPr sz="2000"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75"/>
              <a:buNone/>
            </a:pPr>
            <a:r>
              <a:t/>
            </a:r>
            <a:endParaRPr sz="4000"/>
          </a:p>
        </p:txBody>
      </p:sp>
      <p:pic>
        <p:nvPicPr>
          <p:cNvPr id="282" name="Google Shape;282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1463128"/>
            <a:ext cx="5571248" cy="426265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825179" y="6315776"/>
            <a:ext cx="10389242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https://medium.com/the-data-sensei/how-to-frame-machine-learning-problems-for-business-impact-a-7-step-guide-68eb89b0a25a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289" name="Google Shape;28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333" y="2271251"/>
            <a:ext cx="8943254" cy="292083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625033" y="6311900"/>
            <a:ext cx="10105293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https://medium.com/the-data-sensei/how-to-frame-machine-learning-problems-for-business-impact-a-7-step-guide-68eb89b0a25a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Handling</a:t>
            </a:r>
            <a:endParaRPr/>
          </a:p>
        </p:txBody>
      </p:sp>
      <p:sp>
        <p:nvSpPr>
          <p:cNvPr id="298" name="Google Shape;298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Chances of missing weight data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Chances of missing weight data in older patients is higher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Chances of missing weight data due to bad weighing machine</a:t>
            </a:r>
            <a:endParaRPr/>
          </a:p>
        </p:txBody>
      </p:sp>
      <p:sp>
        <p:nvSpPr>
          <p:cNvPr id="299" name="Google Shape;299;p22"/>
          <p:cNvSpPr txBox="1"/>
          <p:nvPr>
            <p:ph idx="2" type="body"/>
          </p:nvPr>
        </p:nvSpPr>
        <p:spPr>
          <a:xfrm>
            <a:off x="6096000" y="1690688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/>
              <a:t>Missing Completely at Random (MCAR) </a:t>
            </a:r>
            <a:r>
              <a:rPr lang="en-US"/>
              <a:t>: Random and safe to drop.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/>
              <a:t>Missing at Random (MAR)</a:t>
            </a:r>
            <a:r>
              <a:rPr lang="en-US"/>
              <a:t>: Depends on observed data—care needed.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/>
              <a:t>MNAR (Missing Not at Random)</a:t>
            </a:r>
            <a:r>
              <a:rPr lang="en-US"/>
              <a:t>: Missing for a reason—must be modeled.</a:t>
            </a:r>
            <a:endParaRPr sz="20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00" name="Google Shape;300;p22"/>
          <p:cNvSpPr txBox="1"/>
          <p:nvPr/>
        </p:nvSpPr>
        <p:spPr>
          <a:xfrm>
            <a:off x="972272" y="4939942"/>
            <a:ext cx="10139423" cy="1818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Deletion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Drop rows/columns with too many missing values.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Imputation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Fill numeric with mean/median; categorical with mode.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Imputation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 ML models (e.g., KNN imputation).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Indicator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Add a binary column to indicate missingness.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method for handling missing data&#10;&#10;Description automatically generated" id="307" name="Google Shape;3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270" y="643467"/>
            <a:ext cx="10175460" cy="55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212204" y="6433324"/>
            <a:ext cx="1197979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https://www.researchgate.net/figure/Strategies-for-handling-missing-data_fig1_366428246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Feature Engineering – Making Raw Data Meaningful</a:t>
            </a:r>
            <a:endParaRPr/>
          </a:p>
        </p:txBody>
      </p:sp>
      <p:sp>
        <p:nvSpPr>
          <p:cNvPr id="314" name="Google Shape;314;p24"/>
          <p:cNvSpPr txBox="1"/>
          <p:nvPr>
            <p:ph idx="1" type="body"/>
          </p:nvPr>
        </p:nvSpPr>
        <p:spPr>
          <a:xfrm>
            <a:off x="474562" y="2068693"/>
            <a:ext cx="10879238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b="1" lang="en-US" sz="3000"/>
              <a:t>Why It’s Needed: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Models don’t understand raw timestamps or names—these need transformation.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Techniques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Extracting time-based features</a:t>
            </a:r>
            <a:r>
              <a:rPr lang="en-US" sz="2200"/>
              <a:t>: hour, day_of_week, season.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Binning numeric values:</a:t>
            </a:r>
            <a:r>
              <a:rPr lang="en-US" sz="2200"/>
              <a:t> Convert Age into Age_Group.</a:t>
            </a:r>
            <a:endParaRPr b="1"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Polynomial features:</a:t>
            </a:r>
            <a:r>
              <a:rPr lang="en-US" sz="2200"/>
              <a:t> Add x², x*y for better relationships.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Log transformations to deal with skewed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Example</a:t>
            </a:r>
            <a:r>
              <a:rPr lang="en-US"/>
              <a:t>:</a:t>
            </a:r>
            <a:br>
              <a:rPr lang="en-US"/>
            </a:br>
            <a:r>
              <a:rPr lang="en-US" sz="2000"/>
              <a:t>Timestamp → extract IsWeekend, TimeOfDay to understand purchase behaviors.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Feature Engineering – Making Raw Data Meaningful</a:t>
            </a:r>
            <a:endParaRPr/>
          </a:p>
        </p:txBody>
      </p:sp>
      <p:pic>
        <p:nvPicPr>
          <p:cNvPr descr="A diagram of a process&#10;&#10;AI-generated content may be incorrect." id="320" name="Google Shape;32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710" y="1825625"/>
            <a:ext cx="7925072" cy="392291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432620" y="5883473"/>
            <a:ext cx="1126776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https://www.google.com/search?q=Feature+Engineering+example+images&amp;udm=2&amp;sxsrf=AHTn8zo370AFsv9HQIxsoyQM3CSeryG-MQ%3A1747866290184#vhid=Kw7QPCnqEDXD7M&amp;vssid=mosaic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Encoding Categorical Variables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Explanation: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ML models need numerical inputs.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One-Hot Encoding: 		Creates binary flags for each category.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Label Encoding: 		Assigns unique integers (for ordinal features).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Frequency Encoding: 		Replace category with how often it appears.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Target Encoding: 		Replace with mean of target (can leak data).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Color = [Red, Blue, Green]	→ 	One-Hot: Color_Red, Color_Blue, Color_Green.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Categorical Features Types</a:t>
            </a:r>
            <a:endParaRPr/>
          </a:p>
        </p:txBody>
      </p:sp>
      <p:pic>
        <p:nvPicPr>
          <p:cNvPr descr="A diagram of a categorical feature&#10;&#10;AI-generated content may be incorrect." id="333" name="Google Shape;333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382" y="1825625"/>
            <a:ext cx="719723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924232" y="6034901"/>
            <a:ext cx="112677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https://medium.com/dwadda/ways-of-encoding-categorical-variables-b7a798931c8c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 txBox="1"/>
          <p:nvPr>
            <p:ph type="title"/>
          </p:nvPr>
        </p:nvSpPr>
        <p:spPr>
          <a:xfrm>
            <a:off x="630936" y="457200"/>
            <a:ext cx="4343400" cy="1929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Dimensionality</a:t>
            </a:r>
            <a:endParaRPr sz="4800"/>
          </a:p>
        </p:txBody>
      </p:sp>
      <p:sp>
        <p:nvSpPr>
          <p:cNvPr id="341" name="Google Shape;341;p28"/>
          <p:cNvSpPr/>
          <p:nvPr/>
        </p:nvSpPr>
        <p:spPr>
          <a:xfrm rot="5400000">
            <a:off x="4471415" y="1412748"/>
            <a:ext cx="1554480" cy="18288"/>
          </a:xfrm>
          <a:custGeom>
            <a:rect b="b" l="l" r="r" t="t"/>
            <a:pathLst>
              <a:path extrusionOk="0" fill="none" h="18288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extrusionOk="0" h="18288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 txBox="1"/>
          <p:nvPr>
            <p:ph idx="1" type="body"/>
          </p:nvPr>
        </p:nvSpPr>
        <p:spPr>
          <a:xfrm>
            <a:off x="5541263" y="457200"/>
            <a:ext cx="6007608" cy="1929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No of columns for one hot encoding is n-1. where n is the number of variables</a:t>
            </a:r>
            <a:endParaRPr/>
          </a:p>
        </p:txBody>
      </p:sp>
      <p:pic>
        <p:nvPicPr>
          <p:cNvPr descr="A black arrow pointing to a white square&#10;&#10;Description automatically generated" id="343" name="Google Shape;3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" y="2994058"/>
            <a:ext cx="5468112" cy="2829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rrow pointing to a white square&#10;&#10;Description automatically generated" id="344" name="Google Shape;3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117090"/>
            <a:ext cx="5468112" cy="2583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One Hot Encoding - Multicategory</a:t>
            </a:r>
            <a:endParaRPr/>
          </a:p>
        </p:txBody>
      </p:sp>
      <p:sp>
        <p:nvSpPr>
          <p:cNvPr id="350" name="Google Shape;350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607" y="2152649"/>
            <a:ext cx="7339743" cy="33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Mean Encoding</a:t>
            </a:r>
            <a:endParaRPr/>
          </a:p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58" name="Google Shape;3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0754" y="1084263"/>
            <a:ext cx="4457700" cy="50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1509532" y="1502214"/>
            <a:ext cx="324766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One Hot Encoding </a:t>
            </a:r>
            <a:br>
              <a:rPr lang="en-US"/>
            </a:br>
            <a:br>
              <a:rPr lang="en-US"/>
            </a:br>
            <a:r>
              <a:rPr lang="en-US"/>
              <a:t>vs </a:t>
            </a:r>
            <a:br>
              <a:rPr lang="en-US"/>
            </a:br>
            <a:br>
              <a:rPr lang="en-US"/>
            </a:br>
            <a:r>
              <a:rPr lang="en-US"/>
              <a:t>Label Encoding</a:t>
            </a:r>
            <a:endParaRPr/>
          </a:p>
        </p:txBody>
      </p:sp>
      <p:pic>
        <p:nvPicPr>
          <p:cNvPr descr="Image" id="364" name="Google Shape;3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6031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237281" y="4984224"/>
            <a:ext cx="498772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Use One-Hot encoding for not ordinal categories and less features.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0F14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Use Label encoding with ordinal data, or where the number of categories is large.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2D55"/>
              </a:buClr>
              <a:buSzPts val="4400"/>
              <a:buFont typeface="Be Vietnam Pro"/>
              <a:buNone/>
            </a:pPr>
            <a:r>
              <a:rPr b="1" i="0" lang="en-US" u="none" strike="noStrike">
                <a:solidFill>
                  <a:srgbClr val="302D5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Target guided ordinal categories</a:t>
            </a:r>
            <a:br>
              <a:rPr b="1" i="0" lang="en-US" u="none" strike="noStrike">
                <a:solidFill>
                  <a:srgbClr val="302D55"/>
                </a:solidFill>
                <a:latin typeface="Be Vietnam Pro"/>
                <a:ea typeface="Be Vietnam Pro"/>
                <a:cs typeface="Be Vietnam Pro"/>
                <a:sym typeface="Be Vietnam Pro"/>
              </a:rPr>
            </a:br>
            <a:endParaRPr/>
          </a:p>
        </p:txBody>
      </p:sp>
      <p:sp>
        <p:nvSpPr>
          <p:cNvPr id="371" name="Google Shape;37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72" name="Google Shape;3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9909" y="1416844"/>
            <a:ext cx="6997700" cy="51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/>
          <p:nvPr/>
        </p:nvSpPr>
        <p:spPr>
          <a:xfrm flipH="1" rot="10800000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rgbClr val="156082">
                  <a:alpha val="40784"/>
                </a:srgbClr>
              </a:gs>
              <a:gs pos="74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/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78000">
                <a:srgbClr val="156082">
                  <a:alpha val="14901"/>
                </a:srgbClr>
              </a:gs>
              <a:gs pos="100000">
                <a:srgbClr val="156082">
                  <a:alpha val="14901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 txBox="1"/>
          <p:nvPr>
            <p:ph type="title"/>
          </p:nvPr>
        </p:nvSpPr>
        <p:spPr>
          <a:xfrm>
            <a:off x="699713" y="248038"/>
            <a:ext cx="906932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Example: Perform Encoding – Decide Type etc.</a:t>
            </a:r>
            <a:endParaRPr/>
          </a:p>
        </p:txBody>
      </p:sp>
      <p:pic>
        <p:nvPicPr>
          <p:cNvPr descr="Image source: Illustrated by the author" id="382" name="Google Shape;382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225" y="2195892"/>
            <a:ext cx="11327549" cy="399296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/>
          <p:nvPr/>
        </p:nvSpPr>
        <p:spPr>
          <a:xfrm>
            <a:off x="622300" y="1638299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/>
          <p:nvPr/>
        </p:nvSpPr>
        <p:spPr>
          <a:xfrm>
            <a:off x="622300" y="20121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source: Illustrated by the author" id="389" name="Google Shape;3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8" y="141070"/>
            <a:ext cx="7170372" cy="144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4"/>
          <p:cNvSpPr/>
          <p:nvPr/>
        </p:nvSpPr>
        <p:spPr>
          <a:xfrm>
            <a:off x="622300" y="259218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source: Illustrated by the author" id="391" name="Google Shape;39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38" y="1688521"/>
            <a:ext cx="7170372" cy="76185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/>
          <p:nvPr/>
        </p:nvSpPr>
        <p:spPr>
          <a:xfrm>
            <a:off x="622300" y="3806624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source: Illustrated by the author" id="393" name="Google Shape;39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75" y="2533031"/>
            <a:ext cx="7249610" cy="101494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/>
          <p:nvPr/>
        </p:nvSpPr>
        <p:spPr>
          <a:xfrm>
            <a:off x="3658685" y="4289658"/>
            <a:ext cx="175973" cy="175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source: Illustrated by the author" id="395" name="Google Shape;39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498" y="4496899"/>
            <a:ext cx="3776080" cy="145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4"/>
          <p:cNvSpPr/>
          <p:nvPr/>
        </p:nvSpPr>
        <p:spPr>
          <a:xfrm>
            <a:off x="12698423" y="949058"/>
            <a:ext cx="6623663" cy="8556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b="0" i="0" lang="en-US" sz="1900" u="none" cap="none" strike="noStrike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      </a:t>
            </a:r>
            <a:r>
              <a:rPr b="0" i="0" lang="en-US" sz="1200" u="none" cap="none" strike="noStrike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b="0" i="0" lang="en-US" sz="24800" u="none" cap="none" strike="noStrike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               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1719336" y="2995783"/>
            <a:ext cx="206926" cy="206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source: Illustrated by the author" id="398" name="Google Shape;39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38730" y="4034789"/>
            <a:ext cx="6897536" cy="267279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4"/>
          <p:cNvSpPr txBox="1"/>
          <p:nvPr/>
        </p:nvSpPr>
        <p:spPr>
          <a:xfrm>
            <a:off x="7338349" y="368465"/>
            <a:ext cx="45629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 total of 5 engineers and 4 of them are Males. consider the fraction of </a:t>
            </a:r>
            <a:r>
              <a:rPr lang="en-US" sz="1800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male</a:t>
            </a:r>
            <a:r>
              <a:rPr b="0" i="0" lang="en-US" sz="1800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 class for this particular category ie ⅘ = 0.8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7338349" y="1884781"/>
            <a:ext cx="3345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Fraction = ½ = 0.5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 txBox="1"/>
          <p:nvPr/>
        </p:nvSpPr>
        <p:spPr>
          <a:xfrm>
            <a:off x="7338349" y="2811117"/>
            <a:ext cx="2864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C3C3B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Fraction = 1/3 = 0.3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Scaling and Normalization</a:t>
            </a:r>
            <a:endParaRPr/>
          </a:p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Explanation: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Features on different scales bias distance-based models (e.g., KNN, SVM).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Min-Max Scaling: Rescales values to [0, 1].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Z-score Standardization: Mean = 0, Std = 1.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Robust Scaling: Uses IQR—better for outliers.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In housing data, Price in $100,000s and Bedrooms in 1–5 — models give undue weight to price unless scaled.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US"/>
              <a:t>Model Selection – Based on Task &amp; Data Type</a:t>
            </a:r>
            <a:br>
              <a:rPr b="1" lang="en-US"/>
            </a:br>
            <a:endParaRPr/>
          </a:p>
        </p:txBody>
      </p:sp>
      <p:graphicFrame>
        <p:nvGraphicFramePr>
          <p:cNvPr id="413" name="Google Shape;413;p36"/>
          <p:cNvGraphicFramePr/>
          <p:nvPr/>
        </p:nvGraphicFramePr>
        <p:xfrm>
          <a:off x="2032012" y="2113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2709325"/>
                <a:gridCol w="2709325"/>
                <a:gridCol w="27093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Task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Models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Classification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Email Spam Detection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Logistic Regression, Random Forest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Regression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House Price Prediction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Linear Regression, XGBoost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Clustering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Customer Segmentation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K-Means, DBSCAN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NLP/Text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Sentiment Analysis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Naive Bayes, BERT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Vision/Image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Handwritten Digit Recognition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CNN, ResNet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do you say…</a:t>
            </a:r>
            <a:endParaRPr/>
          </a:p>
        </p:txBody>
      </p:sp>
      <p:sp>
        <p:nvSpPr>
          <p:cNvPr id="420" name="Google Shape;420;p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Can you think of a real-life example where you made choices before starting a task (like setting an alarm or choosing study time)? How do those choices compare to hyperparameters in ML?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Imagine baking a cake — the recipe has oven temperature and baking time. Which do you set beforehand and which change during baking? Can you relate this to ML training?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If two students follow the same study method (algorithm) but one adjusts study hours, the other adjusts subject focus — who will perform better? What are the equivalents of these adjustments in machine learning?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Why might it be dangerous to just “guess” values for hyperparameters instead of tuning them carefully?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Are Hyperparameters?</a:t>
            </a:r>
            <a:endParaRPr/>
          </a:p>
        </p:txBody>
      </p:sp>
      <p:sp>
        <p:nvSpPr>
          <p:cNvPr id="426" name="Google Shape;42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Hyperparameters are the </a:t>
            </a:r>
            <a:r>
              <a:rPr b="1" lang="en-US" sz="2000"/>
              <a:t>external configurations</a:t>
            </a:r>
            <a:r>
              <a:rPr lang="en-US" sz="2000"/>
              <a:t> to a model that must be </a:t>
            </a:r>
            <a:r>
              <a:rPr b="1" lang="en-US" sz="2000"/>
              <a:t>set manually</a:t>
            </a:r>
            <a:r>
              <a:rPr lang="en-US" sz="2000"/>
              <a:t> </a:t>
            </a:r>
            <a:r>
              <a:rPr i="1" lang="en-US" sz="2000"/>
              <a:t>before</a:t>
            </a:r>
            <a:r>
              <a:rPr lang="en-US" sz="2000"/>
              <a:t> training begins.</a:t>
            </a:r>
            <a:br>
              <a:rPr lang="en-US" sz="2000"/>
            </a:b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They </a:t>
            </a:r>
            <a:r>
              <a:rPr b="1" lang="en-US" sz="2000"/>
              <a:t>guide the learning process</a:t>
            </a:r>
            <a:r>
              <a:rPr lang="en-US" sz="2000"/>
              <a:t> but are </a:t>
            </a:r>
            <a:r>
              <a:rPr b="1" lang="en-US" sz="2000"/>
              <a:t>not updated or learned</a:t>
            </a:r>
            <a:r>
              <a:rPr lang="en-US" sz="2000"/>
              <a:t> during training (unlike model parameters like weights in neural networks).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Why They Matter: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Control </a:t>
            </a:r>
            <a:r>
              <a:rPr b="1" lang="en-US" sz="2000"/>
              <a:t>how fast</a:t>
            </a:r>
            <a:r>
              <a:rPr lang="en-US" sz="2000"/>
              <a:t> or </a:t>
            </a:r>
            <a:r>
              <a:rPr b="1" lang="en-US" sz="2000"/>
              <a:t>how accurately</a:t>
            </a:r>
            <a:r>
              <a:rPr lang="en-US" sz="2000"/>
              <a:t> a model learns.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Affect model </a:t>
            </a:r>
            <a:r>
              <a:rPr b="1" lang="en-US" sz="2000"/>
              <a:t>capacity</a:t>
            </a:r>
            <a:r>
              <a:rPr lang="en-US" sz="2000"/>
              <a:t>, </a:t>
            </a:r>
            <a:r>
              <a:rPr b="1" lang="en-US" sz="2000"/>
              <a:t>overfitting</a:t>
            </a:r>
            <a:r>
              <a:rPr lang="en-US" sz="2000"/>
              <a:t>, </a:t>
            </a:r>
            <a:r>
              <a:rPr b="1" lang="en-US" sz="2000"/>
              <a:t>underfitting</a:t>
            </a:r>
            <a:r>
              <a:rPr lang="en-US" sz="2000"/>
              <a:t>, and </a:t>
            </a:r>
            <a:r>
              <a:rPr b="1" lang="en-US" sz="2000"/>
              <a:t>training time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Choosing the right hyperparameters is </a:t>
            </a:r>
            <a:r>
              <a:rPr b="1" lang="en-US" sz="2000"/>
              <a:t>critical</a:t>
            </a:r>
            <a:r>
              <a:rPr lang="en-US" sz="2000"/>
              <a:t> for optimal performance.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Common Examples</a:t>
            </a:r>
            <a:endParaRPr/>
          </a:p>
        </p:txBody>
      </p:sp>
      <p:graphicFrame>
        <p:nvGraphicFramePr>
          <p:cNvPr id="432" name="Google Shape;432;p39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3505200"/>
                <a:gridCol w="3505200"/>
                <a:gridCol w="350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Model Type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Hyperparameters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Explanation / Impact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Logistic Regression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 (Regularization Strength)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Controls model simplicity; lower C = stronger regularization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Decision Trees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max_depth, min_samples_split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Deeper trees may overfit; shallow trees underfit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Random Forest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n_estimators, max_features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More trees = better performance but slower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SVM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kernel, C, gamma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Kernel affects decision boundary; C/gamma control model flexibility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Neural Networks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learning_rate, batch_size, epochs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Learning rate impacts convergence speed; batch size affects stability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K-Means Clustering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n_clusters, init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n_clusters defines number of groups, affecting result quality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Model Parameters vs. Hyperparameters:</a:t>
            </a:r>
            <a:br>
              <a:rPr b="1" lang="en-US"/>
            </a:br>
            <a:endParaRPr/>
          </a:p>
        </p:txBody>
      </p:sp>
      <p:graphicFrame>
        <p:nvGraphicFramePr>
          <p:cNvPr id="438" name="Google Shape;438;p40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5257800"/>
                <a:gridCol w="5257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Parameters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Hyperparameters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Learned during training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Set before training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Examples: weights, bias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Examples: learning rate, depth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Optimized using gradient descent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Optimized via search techniques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Evaluation Metrices</a:t>
            </a:r>
            <a:endParaRPr/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Amazon Product Recommendation System</a:t>
            </a:r>
            <a:endParaRPr/>
          </a:p>
        </p:txBody>
      </p:sp>
      <p:sp>
        <p:nvSpPr>
          <p:cNvPr id="452" name="Google Shape;452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Scenario: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Amazon uses machine learning models to recommend products to millions of users daily.</a:t>
            </a:r>
            <a:endParaRPr i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But how do they know if their recommendation system is actually good?</a:t>
            </a:r>
            <a:endParaRPr i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Is it just about whether the user clicked on the product?</a:t>
            </a:r>
            <a:endParaRPr i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Or whether they bought it?</a:t>
            </a:r>
            <a:endParaRPr i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en-US" sz="2000"/>
              <a:t>Or how long they looked at the page?</a:t>
            </a:r>
            <a:endParaRPr i="1"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Amazon Product Recommendation System</a:t>
            </a:r>
            <a:endParaRPr/>
          </a:p>
        </p:txBody>
      </p:sp>
      <p:sp>
        <p:nvSpPr>
          <p:cNvPr id="459" name="Google Shape;459;p43"/>
          <p:cNvSpPr txBox="1"/>
          <p:nvPr>
            <p:ph idx="1" type="body"/>
          </p:nvPr>
        </p:nvSpPr>
        <p:spPr>
          <a:xfrm>
            <a:off x="757177" y="188349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sz="2000"/>
              <a:t>If Amazon recommends a product and the user clicks it but doesn’t buy it — was it a good recommendation? Why or why not?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sz="2000"/>
              <a:t>Suppose Amazon’s algorithm recommends products, but only 2 out of 10 are relevant. How do we measure “how well” the model is doing?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sz="2000"/>
              <a:t>Can you think of a situation where being 95% accurate is actually misleading? For example, what if 95 out of 100 users don’t click anything?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sz="2000"/>
              <a:t>If you were the Amazon engineer, how would you judge whether the recommendations were useful or not? What would you measure?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sz="2000"/>
              <a:t>Should the goal always be “high accuracy”? Or are there situations where other things like precision or recall matter more? Why?</a:t>
            </a:r>
            <a:endParaRPr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Evaluation and Metrics</a:t>
            </a:r>
            <a:br>
              <a:rPr lang="en-US"/>
            </a:br>
            <a:endParaRPr/>
          </a:p>
        </p:txBody>
      </p:sp>
      <p:sp>
        <p:nvSpPr>
          <p:cNvPr id="465" name="Google Shape;465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Classification Metrics: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/>
              <a:t>Accuracy</a:t>
            </a:r>
            <a:r>
              <a:rPr lang="en-US" sz="2200"/>
              <a:t> – Proportion of correct predictions.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Example: Out of 100 emails, if 90 are correctly classified as spam/ham, accuracy = 90%.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/>
              <a:t>Precision</a:t>
            </a:r>
            <a:r>
              <a:rPr lang="en-US" sz="2200"/>
              <a:t> – Of all predicted positives, how many are correct?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Use Case: Minimizing false positives (e.g., spam detection).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/>
              <a:t>Recall (Sensitivity)</a:t>
            </a:r>
            <a:r>
              <a:rPr lang="en-US" sz="2200"/>
              <a:t> – Of all actual positives, how many were predicted correctly?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Use Case: Medical diagnosis (e.g., not missing actual cancer cases).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AutoNum type="arabicPeriod"/>
            </a:pPr>
            <a:r>
              <a:rPr b="1" lang="en-US" sz="2200"/>
              <a:t>F1-Score</a:t>
            </a:r>
            <a:r>
              <a:rPr lang="en-US" sz="2200"/>
              <a:t> – Harmonic mean of precision and recall.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Use Case: Balanced metric for imbalanced datasets.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Regression Metrics</a:t>
            </a:r>
            <a:endParaRPr/>
          </a:p>
        </p:txBody>
      </p:sp>
      <p:sp>
        <p:nvSpPr>
          <p:cNvPr id="471" name="Google Shape;471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Mean Absolute Error (MAE)</a:t>
            </a:r>
            <a:r>
              <a:rPr lang="en-US" sz="2000"/>
              <a:t> – Average absolute difference between predictions and true values.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Mean Squared Error (MSE)</a:t>
            </a:r>
            <a:r>
              <a:rPr lang="en-US" sz="2000"/>
              <a:t> – Average squared difference (penalizes large errors more).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Root Mean Squared Error (RMSE)</a:t>
            </a:r>
            <a:r>
              <a:rPr lang="en-US" sz="2000"/>
              <a:t> – Square root of MSE, in original units.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b="1" lang="en-US" sz="2000"/>
              <a:t>R² (Coefficient of Determination)</a:t>
            </a:r>
            <a:r>
              <a:rPr lang="en-US" sz="2000"/>
              <a:t> – Measures how well predictions fit actual data.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Cross-Validation – Making Metrics Reliable</a:t>
            </a:r>
            <a:endParaRPr/>
          </a:p>
        </p:txBody>
      </p:sp>
      <p:sp>
        <p:nvSpPr>
          <p:cNvPr id="477" name="Google Shape;477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What is Cross-Validation?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Cross-validation is a </a:t>
            </a:r>
            <a:r>
              <a:rPr b="1" lang="en-US" sz="2000"/>
              <a:t>resampling technique</a:t>
            </a:r>
            <a:r>
              <a:rPr lang="en-US" sz="2000"/>
              <a:t> used to evaluate model performance </a:t>
            </a:r>
            <a:r>
              <a:rPr b="1" lang="en-US" sz="2000"/>
              <a:t>more reliably</a:t>
            </a:r>
            <a:r>
              <a:rPr lang="en-US" sz="2000"/>
              <a:t> by using </a:t>
            </a:r>
            <a:r>
              <a:rPr b="1" lang="en-US" sz="2000"/>
              <a:t>multiple train/test splits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K-Fold Cross-Validation: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Dataset is split into </a:t>
            </a:r>
            <a:r>
              <a:rPr b="1" lang="en-US" sz="2000"/>
              <a:t>k subsets</a:t>
            </a:r>
            <a:r>
              <a:rPr lang="en-US" sz="2000"/>
              <a:t> (folds).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Model is trained on k-1 folds and tested on the remaining one.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Repeat </a:t>
            </a:r>
            <a:r>
              <a:rPr b="1" lang="en-US" sz="2000"/>
              <a:t>k times</a:t>
            </a:r>
            <a:r>
              <a:rPr lang="en-US" sz="2000"/>
              <a:t>, average results.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Example</a:t>
            </a:r>
            <a:r>
              <a:rPr lang="en-US"/>
              <a:t>: 5-Fold CV</a:t>
            </a:r>
            <a:br>
              <a:rPr lang="en-US"/>
            </a:br>
            <a:r>
              <a:rPr lang="en-US" sz="2000"/>
              <a:t>→ Train on 4 folds, validate on 1 → Repeat 5 times → Get averaged accuracy.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Cross-Validation – Making Metrics Reliable</a:t>
            </a:r>
            <a:endParaRPr/>
          </a:p>
        </p:txBody>
      </p:sp>
      <p:sp>
        <p:nvSpPr>
          <p:cNvPr id="483" name="Google Shape;483;p47"/>
          <p:cNvSpPr txBox="1"/>
          <p:nvPr>
            <p:ph idx="1" type="body"/>
          </p:nvPr>
        </p:nvSpPr>
        <p:spPr>
          <a:xfrm>
            <a:off x="838200" y="1825625"/>
            <a:ext cx="286856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Why Use It?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Reduces </a:t>
            </a:r>
            <a:r>
              <a:rPr b="1" lang="en-US" sz="2000"/>
              <a:t>variance</a:t>
            </a:r>
            <a:r>
              <a:rPr lang="en-US" sz="2000"/>
              <a:t> due to random splits.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Prevents </a:t>
            </a:r>
            <a:r>
              <a:rPr b="1" lang="en-US" sz="2000"/>
              <a:t>overfitting</a:t>
            </a:r>
            <a:r>
              <a:rPr lang="en-US" sz="2000"/>
              <a:t> to a particular train/test split.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Helps in </a:t>
            </a:r>
            <a:r>
              <a:rPr b="1" lang="en-US" sz="2000"/>
              <a:t>hyperparameter tuning</a:t>
            </a:r>
            <a:r>
              <a:rPr lang="en-US" sz="2000"/>
              <a:t> and </a:t>
            </a:r>
            <a:r>
              <a:rPr b="1" lang="en-US" sz="2000"/>
              <a:t>model selection</a:t>
            </a:r>
            <a:r>
              <a:rPr lang="en-US" sz="2000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diagram of a training data&#10;&#10;AI-generated content may be incorrect." id="484" name="Google Shape;484;p4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5114" y="1825625"/>
            <a:ext cx="6460253" cy="38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7"/>
          <p:cNvSpPr txBox="1"/>
          <p:nvPr/>
        </p:nvSpPr>
        <p:spPr>
          <a:xfrm>
            <a:off x="5019369" y="6007686"/>
            <a:ext cx="69317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source:https://sharpsight.ai/blog/cross-validation-explained/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US"/>
              <a:t>Confusion Matrix – Understanding Classification Behavior</a:t>
            </a:r>
            <a:br>
              <a:rPr b="1" lang="en-US"/>
            </a:br>
            <a:endParaRPr/>
          </a:p>
        </p:txBody>
      </p:sp>
      <p:sp>
        <p:nvSpPr>
          <p:cNvPr id="491" name="Google Shape;49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 </a:t>
            </a:r>
            <a:r>
              <a:rPr b="1" lang="en-US" sz="2000"/>
              <a:t>confusion matrix</a:t>
            </a:r>
            <a:r>
              <a:rPr lang="en-US" sz="2000"/>
              <a:t> is a performance measurement tool for classification models.</a:t>
            </a:r>
            <a:br>
              <a:rPr lang="en-US" sz="2000"/>
            </a:br>
            <a:r>
              <a:rPr lang="en-US" sz="2000"/>
              <a:t>It </a:t>
            </a:r>
            <a:r>
              <a:rPr b="1" lang="en-US" sz="2000"/>
              <a:t>compares actual labels with predicted labels</a:t>
            </a:r>
            <a:r>
              <a:rPr lang="en-US" sz="2000"/>
              <a:t> to help you understand where the model is making correct or incorrect decisions.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Confusion Matrix Layout: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  <p:pic>
        <p:nvPicPr>
          <p:cNvPr descr="A diagram of negative and negative&#10;&#10;AI-generated content may be incorrect." id="492" name="Google Shape;49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2454" y="2647369"/>
            <a:ext cx="6055850" cy="340819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8"/>
          <p:cNvSpPr txBox="1"/>
          <p:nvPr/>
        </p:nvSpPr>
        <p:spPr>
          <a:xfrm>
            <a:off x="5019369" y="6007686"/>
            <a:ext cx="69317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https://www.evidentlyai.com/classification-metrics/confusion-matrix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Confusion Matrix - Formulas</a:t>
            </a:r>
            <a:endParaRPr/>
          </a:p>
        </p:txBody>
      </p:sp>
      <p:pic>
        <p:nvPicPr>
          <p:cNvPr descr="A diagram of negative negatives&#10;&#10;AI-generated content may be incorrect." id="499" name="Google Shape;499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133" y="1442167"/>
            <a:ext cx="7719785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9"/>
          <p:cNvSpPr txBox="1"/>
          <p:nvPr/>
        </p:nvSpPr>
        <p:spPr>
          <a:xfrm>
            <a:off x="3072582" y="5908100"/>
            <a:ext cx="69317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https://encord.com/glossary/confusion-matrix/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Explanation of Terms:</a:t>
            </a:r>
            <a:endParaRPr/>
          </a:p>
        </p:txBody>
      </p:sp>
      <p:sp>
        <p:nvSpPr>
          <p:cNvPr id="506" name="Google Shape;506;p50"/>
          <p:cNvSpPr txBox="1"/>
          <p:nvPr>
            <p:ph idx="1" type="body"/>
          </p:nvPr>
        </p:nvSpPr>
        <p:spPr>
          <a:xfrm>
            <a:off x="838200" y="1646804"/>
            <a:ext cx="9013429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</a:rPr>
              <a:t>True Positive (TP)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0" lang="en-US" sz="2000" u="none" cap="none" strike="noStrike">
                <a:solidFill>
                  <a:schemeClr val="dk1"/>
                </a:solidFill>
              </a:rPr>
              <a:t>The model </a:t>
            </a:r>
            <a:r>
              <a:rPr b="1" i="0" lang="en-US" sz="2000" u="none" cap="none" strike="noStrike">
                <a:solidFill>
                  <a:schemeClr val="dk1"/>
                </a:solidFill>
              </a:rPr>
              <a:t>correctly predicted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the positive class.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1" lang="en-US" sz="2000" u="none" cap="none" strike="noStrike">
                <a:solidFill>
                  <a:schemeClr val="dk1"/>
                </a:solidFill>
              </a:rPr>
              <a:t>Example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 A test </a:t>
            </a:r>
            <a:r>
              <a:rPr b="1" i="0" lang="en-US" sz="2000" u="none" cap="none" strike="noStrike">
                <a:solidFill>
                  <a:schemeClr val="dk1"/>
                </a:solidFill>
              </a:rPr>
              <a:t>correctly identifies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a person as having COVID-19.</a:t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</a:rPr>
              <a:t>False Positive (FP)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</a:rPr>
              <a:t>(Type I Error)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0" lang="en-US" sz="2000" u="none" cap="none" strike="noStrike">
                <a:solidFill>
                  <a:schemeClr val="dk1"/>
                </a:solidFill>
              </a:rPr>
              <a:t>The model </a:t>
            </a:r>
            <a:r>
              <a:rPr b="1" i="0" lang="en-US" sz="2000" u="none" cap="none" strike="noStrike">
                <a:solidFill>
                  <a:schemeClr val="dk1"/>
                </a:solidFill>
              </a:rPr>
              <a:t>incorrectly predicted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positive for a negative case.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1" lang="en-US" sz="2000" u="none" cap="none" strike="noStrike">
                <a:solidFill>
                  <a:schemeClr val="dk1"/>
                </a:solidFill>
              </a:rPr>
              <a:t>Example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 A test says someone has COVID-19, but they are actually healthy.</a:t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</a:rPr>
              <a:t>False Negative (FN)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</a:rPr>
              <a:t>(Type II Error)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0" lang="en-US" sz="2000" u="none" cap="none" strike="noStrike">
                <a:solidFill>
                  <a:schemeClr val="dk1"/>
                </a:solidFill>
              </a:rPr>
              <a:t>The model </a:t>
            </a:r>
            <a:r>
              <a:rPr b="1" i="0" lang="en-US" sz="2000" u="none" cap="none" strike="noStrike">
                <a:solidFill>
                  <a:schemeClr val="dk1"/>
                </a:solidFill>
              </a:rPr>
              <a:t>missed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a positive case by predicting it as negative.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1" lang="en-US" sz="2000" u="none" cap="none" strike="noStrike">
                <a:solidFill>
                  <a:schemeClr val="dk1"/>
                </a:solidFill>
              </a:rPr>
              <a:t>Example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 A test says someone is healthy, but they actually have COVID-19.</a:t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</a:rPr>
              <a:t>True Negative (TN)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0" lang="en-US" sz="2000" u="none" cap="none" strike="noStrike">
                <a:solidFill>
                  <a:schemeClr val="dk1"/>
                </a:solidFill>
              </a:rPr>
              <a:t>The model </a:t>
            </a:r>
            <a:r>
              <a:rPr b="1" i="0" lang="en-US" sz="2000" u="none" cap="none" strike="noStrike">
                <a:solidFill>
                  <a:schemeClr val="dk1"/>
                </a:solidFill>
              </a:rPr>
              <a:t>correctly predicted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the negative class.</a:t>
            </a:r>
            <a:br>
              <a:rPr b="0" i="0" lang="en-US" sz="2000" u="none" cap="none" strike="noStrike">
                <a:solidFill>
                  <a:schemeClr val="dk1"/>
                </a:solidFill>
              </a:rPr>
            </a:br>
            <a:r>
              <a:rPr b="0" i="0" lang="en-US" sz="2000" u="none" cap="none" strike="noStrike">
                <a:solidFill>
                  <a:schemeClr val="dk1"/>
                </a:solidFill>
              </a:rPr>
              <a:t>🧪 </a:t>
            </a:r>
            <a:r>
              <a:rPr b="0" i="1" lang="en-US" sz="2000" u="none" cap="none" strike="noStrike">
                <a:solidFill>
                  <a:schemeClr val="dk1"/>
                </a:solidFill>
              </a:rPr>
              <a:t>Example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: A test correctly identifies a healthy person as not having COVID-19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1"/>
          <p:cNvSpPr txBox="1"/>
          <p:nvPr>
            <p:ph type="title"/>
          </p:nvPr>
        </p:nvSpPr>
        <p:spPr>
          <a:xfrm>
            <a:off x="723695" y="250615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Deployment and Monitoring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52"/>
          <p:cNvGrpSpPr/>
          <p:nvPr/>
        </p:nvGrpSpPr>
        <p:grpSpPr>
          <a:xfrm>
            <a:off x="1" y="2075420"/>
            <a:ext cx="12396066" cy="4440643"/>
            <a:chOff x="1" y="2075420"/>
            <a:chExt cx="12396066" cy="4440643"/>
          </a:xfrm>
        </p:grpSpPr>
        <p:sp>
          <p:nvSpPr>
            <p:cNvPr id="520" name="Google Shape;520;p52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2A7AD0">
                  <a:alpha val="9803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2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2A7AD0">
                  <a:alpha val="20000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2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0A1D30">
                    <a:alpha val="20000"/>
                  </a:srgbClr>
                </a:gs>
                <a:gs pos="100000">
                  <a:srgbClr val="061320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2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0A1D30">
                    <a:alpha val="9803"/>
                  </a:srgbClr>
                </a:gs>
                <a:gs pos="100000">
                  <a:srgbClr val="0A1D30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2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2A7AD0">
                  <a:alpha val="20000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2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2A7AD0">
                  <a:alpha val="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52"/>
          <p:cNvSpPr/>
          <p:nvPr/>
        </p:nvSpPr>
        <p:spPr>
          <a:xfrm rot="-5400000">
            <a:off x="10438146" y="1042605"/>
            <a:ext cx="2796461" cy="711252"/>
          </a:xfrm>
          <a:prstGeom prst="rect">
            <a:avLst/>
          </a:prstGeom>
          <a:gradFill>
            <a:gsLst>
              <a:gs pos="0">
                <a:srgbClr val="6DA5E3">
                  <a:alpha val="0"/>
                </a:srgbClr>
              </a:gs>
              <a:gs pos="100000">
                <a:srgbClr val="0A1D30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52"/>
          <p:cNvGrpSpPr/>
          <p:nvPr/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28" name="Google Shape;528;p52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52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52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52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532" name="Google Shape;532;p52"/>
          <p:cNvSpPr/>
          <p:nvPr/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>
            <a:gsLst>
              <a:gs pos="0">
                <a:srgbClr val="061320">
                  <a:alpha val="9803"/>
                </a:srgbClr>
              </a:gs>
              <a:gs pos="10000">
                <a:srgbClr val="061320">
                  <a:alpha val="9803"/>
                </a:srgbClr>
              </a:gs>
              <a:gs pos="100000">
                <a:srgbClr val="2A7AD0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p52"/>
          <p:cNvGrpSpPr/>
          <p:nvPr/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4" name="Google Shape;534;p52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p52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52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52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2A7AD0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538" name="Google Shape;538;p52"/>
          <p:cNvSpPr txBox="1"/>
          <p:nvPr>
            <p:ph type="title"/>
          </p:nvPr>
        </p:nvSpPr>
        <p:spPr>
          <a:xfrm>
            <a:off x="630936" y="630936"/>
            <a:ext cx="5465064" cy="5626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4800">
                <a:solidFill>
                  <a:schemeClr val="lt1"/>
                </a:solidFill>
              </a:rPr>
              <a:t>YouTube Spam Detection System</a:t>
            </a:r>
            <a:endParaRPr/>
          </a:p>
        </p:txBody>
      </p:sp>
      <p:sp>
        <p:nvSpPr>
          <p:cNvPr id="539" name="Google Shape;539;p52"/>
          <p:cNvSpPr txBox="1"/>
          <p:nvPr>
            <p:ph idx="1" type="body"/>
          </p:nvPr>
        </p:nvSpPr>
        <p:spPr>
          <a:xfrm>
            <a:off x="6502152" y="630936"/>
            <a:ext cx="4978592" cy="5626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Imagine this situation: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You are a machine learning engineer at YouTube, and you just developed a brilliant model to detect spam comments on videos. It performs with 99% accuracy on your test dataset.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Now you deploy it…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 sz="1500">
                <a:solidFill>
                  <a:schemeClr val="lt1"/>
                </a:solidFill>
              </a:rPr>
              <a:t>But suddenly: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9146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64"/>
              <a:buChar char="•"/>
            </a:pPr>
            <a:r>
              <a:rPr lang="en-US" sz="1500">
                <a:solidFill>
                  <a:schemeClr val="lt1"/>
                </a:solidFill>
              </a:rPr>
              <a:t>Real comments are being wrongly removed.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9146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64"/>
              <a:buChar char="•"/>
            </a:pPr>
            <a:r>
              <a:rPr lang="en-US" sz="1500">
                <a:solidFill>
                  <a:schemeClr val="lt1"/>
                </a:solidFill>
              </a:rPr>
              <a:t>Spam comments are slipping through.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9146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64"/>
              <a:buChar char="•"/>
            </a:pPr>
            <a:r>
              <a:rPr lang="en-US" sz="1500">
                <a:solidFill>
                  <a:schemeClr val="lt1"/>
                </a:solidFill>
              </a:rPr>
              <a:t>System crashes on high-traffic videos.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29146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64"/>
              <a:buChar char="•"/>
            </a:pPr>
            <a:r>
              <a:rPr lang="en-US" sz="1500">
                <a:solidFill>
                  <a:schemeClr val="lt1"/>
                </a:solidFill>
              </a:rPr>
              <a:t>A model update causes unexpected behavior.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/>
          <p:nvPr/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3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/>
              <a:t>What do you think went wrong even though the model was accurate during training?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/>
              <a:t>How can you ensure the model continues to work well after it is deployed?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/>
              <a:t>What steps would you take if the model starts behaving differently a month after deployment?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/>
              <a:t>Do you think deploying a model is the end of the process or just the beginning? Why?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/>
              <a:t>If YouTube adds new types of content (e.g., YouTube Shorts or Podcasts), do you think the same spam model would still work well?</a:t>
            </a:r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039801" y="392512"/>
            <a:ext cx="22402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54"/>
          <p:cNvGrpSpPr/>
          <p:nvPr/>
        </p:nvGrpSpPr>
        <p:grpSpPr>
          <a:xfrm>
            <a:off x="827089" y="1498602"/>
            <a:ext cx="4403345" cy="3940174"/>
            <a:chOff x="827089" y="1498602"/>
            <a:chExt cx="4403345" cy="3940174"/>
          </a:xfrm>
        </p:grpSpPr>
        <p:sp>
          <p:nvSpPr>
            <p:cNvPr id="557" name="Google Shape;557;p54"/>
            <p:cNvSpPr/>
            <p:nvPr/>
          </p:nvSpPr>
          <p:spPr>
            <a:xfrm>
              <a:off x="827089" y="1498602"/>
              <a:ext cx="4403345" cy="3940174"/>
            </a:xfrm>
            <a:custGeom>
              <a:rect b="b" l="l" r="r" t="t"/>
              <a:pathLst>
                <a:path extrusionOk="0" h="4707593" w="5260975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381000" rotWithShape="0" algn="ctr" dir="5400000" dist="152400">
                <a:srgbClr val="000000">
                  <a:alpha val="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4"/>
            <p:cNvSpPr/>
            <p:nvPr/>
          </p:nvSpPr>
          <p:spPr>
            <a:xfrm>
              <a:off x="827089" y="1498602"/>
              <a:ext cx="4403345" cy="3940174"/>
            </a:xfrm>
            <a:custGeom>
              <a:rect b="b" l="l" r="r" t="t"/>
              <a:pathLst>
                <a:path extrusionOk="0" h="4707593" w="5260975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dk1">
                <a:alpha val="85882"/>
              </a:schemeClr>
            </a:solidFill>
            <a:ln>
              <a:noFill/>
            </a:ln>
            <a:effectLst>
              <a:outerShdw blurRad="381000" rotWithShape="0" algn="ctr" dir="5400000" dist="152400">
                <a:srgbClr val="000000">
                  <a:alpha val="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9" name="Google Shape;559;p54"/>
          <p:cNvSpPr/>
          <p:nvPr/>
        </p:nvSpPr>
        <p:spPr>
          <a:xfrm>
            <a:off x="827088" y="4258080"/>
            <a:ext cx="4403345" cy="1180695"/>
          </a:xfrm>
          <a:custGeom>
            <a:rect b="b" l="l" r="r" t="t"/>
            <a:pathLst>
              <a:path extrusionOk="0" h="1410656" w="5260975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4"/>
          <p:cNvSpPr/>
          <p:nvPr/>
        </p:nvSpPr>
        <p:spPr>
          <a:xfrm>
            <a:off x="827088" y="4258080"/>
            <a:ext cx="4403345" cy="1180695"/>
          </a:xfrm>
          <a:custGeom>
            <a:rect b="b" l="l" r="r" t="t"/>
            <a:pathLst>
              <a:path extrusionOk="0" h="1410656" w="5260975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rotWithShape="1">
            <a:blip r:embed="rId3">
              <a:alphaModFix amt="57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4"/>
          <p:cNvSpPr txBox="1"/>
          <p:nvPr>
            <p:ph idx="1" type="body"/>
          </p:nvPr>
        </p:nvSpPr>
        <p:spPr>
          <a:xfrm>
            <a:off x="6099175" y="1311088"/>
            <a:ext cx="5276850" cy="4327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</a:rPr>
              <a:t>These questions show why model deployment and monitoring are essential.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</a:rPr>
              <a:t>A model that performs well in the lab may fail in the real world.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</a:rPr>
              <a:t>So let’s explore how companies successfully deploy machine learning models — and what they do to monitor them afterward.</a:t>
            </a:r>
            <a:endParaRPr/>
          </a:p>
        </p:txBody>
      </p:sp>
      <p:sp>
        <p:nvSpPr>
          <p:cNvPr id="562" name="Google Shape;562;p54"/>
          <p:cNvSpPr txBox="1"/>
          <p:nvPr/>
        </p:nvSpPr>
        <p:spPr>
          <a:xfrm>
            <a:off x="1840375" y="3102015"/>
            <a:ext cx="240322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Deployment Options – Batch vs. Real-Time</a:t>
            </a:r>
            <a:endParaRPr/>
          </a:p>
        </p:txBody>
      </p:sp>
      <p:sp>
        <p:nvSpPr>
          <p:cNvPr id="568" name="Google Shape;568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What is Model Deployment?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Model deployment is the </a:t>
            </a:r>
            <a:r>
              <a:rPr b="1" lang="en-US" sz="2000"/>
              <a:t>process of integrating a machine learning model into a production environment</a:t>
            </a:r>
            <a:r>
              <a:rPr lang="en-US" sz="2000"/>
              <a:t> where it can start making predictions on live data. It’s where your model transitions from a training notebook to </a:t>
            </a:r>
            <a:r>
              <a:rPr b="1" lang="en-US" sz="2000"/>
              <a:t>real-world impact</a:t>
            </a:r>
            <a:r>
              <a:rPr lang="en-US" sz="2000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 diagram of a model training&#10;&#10;AI-generated content may be incorrect." id="569" name="Google Shape;56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8761" y="3395341"/>
            <a:ext cx="5215975" cy="2903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5"/>
          <p:cNvSpPr txBox="1"/>
          <p:nvPr/>
        </p:nvSpPr>
        <p:spPr>
          <a:xfrm>
            <a:off x="1248697" y="6420566"/>
            <a:ext cx="9971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https://www.kdnuggets.com/deploying-machine-learning-models-a-step-by-step-tutorial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Deployment Types</a:t>
            </a:r>
            <a:endParaRPr/>
          </a:p>
        </p:txBody>
      </p:sp>
      <p:sp>
        <p:nvSpPr>
          <p:cNvPr id="577" name="Google Shape;577;p56"/>
          <p:cNvSpPr txBox="1"/>
          <p:nvPr>
            <p:ph idx="1" type="body"/>
          </p:nvPr>
        </p:nvSpPr>
        <p:spPr>
          <a:xfrm>
            <a:off x="836612" y="1563176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Batch Deployment</a:t>
            </a:r>
            <a:endParaRPr/>
          </a:p>
        </p:txBody>
      </p:sp>
      <p:sp>
        <p:nvSpPr>
          <p:cNvPr id="578" name="Google Shape;578;p5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Definition: </a:t>
            </a:r>
            <a:r>
              <a:rPr lang="en-US"/>
              <a:t>Model processes data in bulk at scheduled intervals (e.g., nightly, weekly).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When to use</a:t>
            </a:r>
            <a:r>
              <a:rPr lang="en-US"/>
              <a:t>: When immediate predictions are not required.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Cost-effective and suitable for large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A retail company predicts weekly inventory needs every Sunday night based on last week's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A hospital processes all patient risk assessments every morning before doctors' rounds.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79" name="Google Shape;579;p56"/>
          <p:cNvSpPr txBox="1"/>
          <p:nvPr>
            <p:ph idx="3" type="body"/>
          </p:nvPr>
        </p:nvSpPr>
        <p:spPr>
          <a:xfrm>
            <a:off x="6172200" y="1563176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Real-Time Deployment</a:t>
            </a:r>
            <a:endParaRPr/>
          </a:p>
        </p:txBody>
      </p:sp>
      <p:sp>
        <p:nvSpPr>
          <p:cNvPr id="580" name="Google Shape;580;p5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Definition</a:t>
            </a:r>
            <a:r>
              <a:rPr lang="en-US"/>
              <a:t>: Model is deployed as an API/microservice, making instant predictions on new incoming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When to use</a:t>
            </a:r>
            <a:r>
              <a:rPr lang="en-US"/>
              <a:t>: In time-sensitive scenarios where latency matters.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Requires high availability, auto-scaling, and low latency infrastructure.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Fraud detection system that blocks suspicious credit card transactions instantly.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Voice assistant (e.g., Alexa or Siri) giving a response in real time.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" name="Google Shape;586;p57"/>
          <p:cNvGrpSpPr/>
          <p:nvPr/>
        </p:nvGrpSpPr>
        <p:grpSpPr>
          <a:xfrm>
            <a:off x="-2" y="-1"/>
            <a:ext cx="4581526" cy="6858002"/>
            <a:chOff x="-2" y="-1"/>
            <a:chExt cx="4581526" cy="6858002"/>
          </a:xfrm>
        </p:grpSpPr>
        <p:grpSp>
          <p:nvGrpSpPr>
            <p:cNvPr id="587" name="Google Shape;587;p57"/>
            <p:cNvGrpSpPr/>
            <p:nvPr/>
          </p:nvGrpSpPr>
          <p:grpSpPr>
            <a:xfrm>
              <a:off x="-2" y="-1"/>
              <a:ext cx="4572002" cy="6858002"/>
              <a:chOff x="-2" y="-1"/>
              <a:chExt cx="4572002" cy="6858002"/>
            </a:xfrm>
          </p:grpSpPr>
          <p:sp>
            <p:nvSpPr>
              <p:cNvPr id="588" name="Google Shape;588;p57"/>
              <p:cNvSpPr/>
              <p:nvPr/>
            </p:nvSpPr>
            <p:spPr>
              <a:xfrm>
                <a:off x="-2" y="-1"/>
                <a:ext cx="4572002" cy="6858002"/>
              </a:xfrm>
              <a:custGeom>
                <a:rect b="b" l="l" r="r" t="t"/>
                <a:pathLst>
                  <a:path extrusionOk="0" h="6858002" w="4572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57"/>
              <p:cNvSpPr/>
              <p:nvPr/>
            </p:nvSpPr>
            <p:spPr>
              <a:xfrm>
                <a:off x="-2" y="-1"/>
                <a:ext cx="4572002" cy="6858002"/>
              </a:xfrm>
              <a:custGeom>
                <a:rect b="b" l="l" r="r" t="t"/>
                <a:pathLst>
                  <a:path extrusionOk="0" h="6858002" w="4572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dk1">
                  <a:alpha val="85882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57"/>
            <p:cNvGrpSpPr/>
            <p:nvPr/>
          </p:nvGrpSpPr>
          <p:grpSpPr>
            <a:xfrm>
              <a:off x="3697283" y="0"/>
              <a:ext cx="884241" cy="6858002"/>
              <a:chOff x="3697283" y="0"/>
              <a:chExt cx="884241" cy="6858002"/>
            </a:xfrm>
          </p:grpSpPr>
          <p:grpSp>
            <p:nvGrpSpPr>
              <p:cNvPr id="591" name="Google Shape;591;p57"/>
              <p:cNvGrpSpPr/>
              <p:nvPr/>
            </p:nvGrpSpPr>
            <p:grpSpPr>
              <a:xfrm>
                <a:off x="3697283" y="0"/>
                <a:ext cx="884241" cy="6858001"/>
                <a:chOff x="3697283" y="0"/>
                <a:chExt cx="884241" cy="6858001"/>
              </a:xfrm>
            </p:grpSpPr>
            <p:sp>
              <p:nvSpPr>
                <p:cNvPr id="592" name="Google Shape;592;p57"/>
                <p:cNvSpPr/>
                <p:nvPr/>
              </p:nvSpPr>
              <p:spPr>
                <a:xfrm flipH="1" rot="-5400000">
                  <a:off x="705641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Google Shape;593;p57"/>
                <p:cNvSpPr/>
                <p:nvPr/>
              </p:nvSpPr>
              <p:spPr>
                <a:xfrm flipH="1" rot="-5400000">
                  <a:off x="715166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4" name="Google Shape;594;p57"/>
              <p:cNvGrpSpPr/>
              <p:nvPr/>
            </p:nvGrpSpPr>
            <p:grpSpPr>
              <a:xfrm>
                <a:off x="3697283" y="1"/>
                <a:ext cx="884241" cy="6858001"/>
                <a:chOff x="3697283" y="0"/>
                <a:chExt cx="884241" cy="6858001"/>
              </a:xfrm>
            </p:grpSpPr>
            <p:sp>
              <p:nvSpPr>
                <p:cNvPr id="595" name="Google Shape;595;p57"/>
                <p:cNvSpPr/>
                <p:nvPr/>
              </p:nvSpPr>
              <p:spPr>
                <a:xfrm flipH="1" rot="-5400000">
                  <a:off x="705641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 rotWithShape="1">
                  <a:blip r:embed="rId3">
                    <a:alphaModFix amt="57000"/>
                  </a:blip>
                  <a:tile algn="tl" flip="none" tx="0" sx="100000" ty="0" sy="100000"/>
                </a:blip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6" name="Google Shape;596;p57"/>
                <p:cNvSpPr/>
                <p:nvPr/>
              </p:nvSpPr>
              <p:spPr>
                <a:xfrm flipH="1" rot="-5400000">
                  <a:off x="715166" y="2991642"/>
                  <a:ext cx="6858001" cy="874716"/>
                </a:xfrm>
                <a:custGeom>
                  <a:rect b="b" l="l" r="r" t="t"/>
                  <a:pathLst>
                    <a:path extrusionOk="0" h="874716" w="6858001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blipFill rotWithShape="1">
                  <a:blip r:embed="rId3">
                    <a:alphaModFix amt="57000"/>
                  </a:blip>
                  <a:tile algn="tl" flip="none" tx="0" sx="100000" ty="0" sy="100000"/>
                </a:blip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97" name="Google Shape;597;p57"/>
          <p:cNvSpPr txBox="1"/>
          <p:nvPr>
            <p:ph type="title"/>
          </p:nvPr>
        </p:nvSpPr>
        <p:spPr>
          <a:xfrm>
            <a:off x="827088" y="1641752"/>
            <a:ext cx="2655887" cy="321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3700"/>
              <a:t>Model Versioning – Tracking Changes Across Models</a:t>
            </a:r>
            <a:endParaRPr/>
          </a:p>
        </p:txBody>
      </p:sp>
      <p:sp>
        <p:nvSpPr>
          <p:cNvPr id="598" name="Google Shape;598;p57"/>
          <p:cNvSpPr txBox="1"/>
          <p:nvPr>
            <p:ph idx="1" type="body"/>
          </p:nvPr>
        </p:nvSpPr>
        <p:spPr>
          <a:xfrm>
            <a:off x="5232401" y="1721579"/>
            <a:ext cx="6140449" cy="395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700">
                <a:solidFill>
                  <a:schemeClr val="lt1"/>
                </a:solidFill>
              </a:rPr>
              <a:t>Why Model Versioning Matters</a:t>
            </a:r>
            <a:endParaRPr sz="17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700">
                <a:solidFill>
                  <a:schemeClr val="lt1"/>
                </a:solidFill>
              </a:rPr>
              <a:t>Just like software, ML models undergo updates. Model versioning is </a:t>
            </a:r>
            <a:r>
              <a:rPr b="1" lang="en-US" sz="1700">
                <a:solidFill>
                  <a:schemeClr val="lt1"/>
                </a:solidFill>
              </a:rPr>
              <a:t>tracking and managing multiple versions</a:t>
            </a:r>
            <a:r>
              <a:rPr lang="en-US" sz="1700">
                <a:solidFill>
                  <a:schemeClr val="lt1"/>
                </a:solidFill>
              </a:rPr>
              <a:t> of your model and its dependencies (data, code, metrics) for </a:t>
            </a:r>
            <a:r>
              <a:rPr b="1" lang="en-US" sz="1700">
                <a:solidFill>
                  <a:schemeClr val="lt1"/>
                </a:solidFill>
              </a:rPr>
              <a:t>reproducibility, auditability</a:t>
            </a:r>
            <a:r>
              <a:rPr lang="en-US" sz="1700">
                <a:solidFill>
                  <a:schemeClr val="lt1"/>
                </a:solidFill>
              </a:rPr>
              <a:t>, and </a:t>
            </a:r>
            <a:r>
              <a:rPr b="1" lang="en-US" sz="1700">
                <a:solidFill>
                  <a:schemeClr val="lt1"/>
                </a:solidFill>
              </a:rPr>
              <a:t>rollback</a:t>
            </a:r>
            <a:r>
              <a:rPr lang="en-US" sz="1700">
                <a:solidFill>
                  <a:schemeClr val="lt1"/>
                </a:solidFill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700">
                <a:solidFill>
                  <a:schemeClr val="lt1"/>
                </a:solidFill>
              </a:rPr>
              <a:t>Common Scenario: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700">
                <a:solidFill>
                  <a:schemeClr val="lt1"/>
                </a:solidFill>
              </a:rPr>
              <a:t>You deployed a model in January. After retraining it in March with more data and better hyperparameters, the new version performs better on validation — but in production, results worsen. Without versioning, you can't roll back or trace what went wrong.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Versioning – Tracking Changes Across Models</a:t>
            </a:r>
            <a:endParaRPr/>
          </a:p>
        </p:txBody>
      </p:sp>
      <p:sp>
        <p:nvSpPr>
          <p:cNvPr id="604" name="Google Shape;604;p58"/>
          <p:cNvSpPr txBox="1"/>
          <p:nvPr>
            <p:ph idx="1" type="body"/>
          </p:nvPr>
        </p:nvSpPr>
        <p:spPr>
          <a:xfrm>
            <a:off x="838200" y="1825625"/>
            <a:ext cx="35961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Versioning Includes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Model weights/parameters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Training data 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Preprocessing steps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Evaluation metrics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Hyperparameters used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5" name="Google Shape;605;p58"/>
          <p:cNvSpPr txBox="1"/>
          <p:nvPr>
            <p:ph idx="2" type="body"/>
          </p:nvPr>
        </p:nvSpPr>
        <p:spPr>
          <a:xfrm>
            <a:off x="5476568" y="1634012"/>
            <a:ext cx="691945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Tools for Model Versioning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graphicFrame>
        <p:nvGraphicFramePr>
          <p:cNvPr id="606" name="Google Shape;606;p58"/>
          <p:cNvGraphicFramePr/>
          <p:nvPr/>
        </p:nvGraphicFramePr>
        <p:xfrm>
          <a:off x="5219699" y="2174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3333125"/>
                <a:gridCol w="3333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Tool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Use Case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MLflow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Track models, experiments, parameters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DVC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Git-like version control for data/models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LakeFS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Version control for large datasets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Weights &amp; Biases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Track experiments and model lineage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Versioning – Tracking Changes Across Models</a:t>
            </a:r>
            <a:endParaRPr/>
          </a:p>
        </p:txBody>
      </p:sp>
      <p:pic>
        <p:nvPicPr>
          <p:cNvPr descr="A screenshot of a computer program&#10;&#10;AI-generated content may be incorrect." id="612" name="Google Shape;612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2637" y="1825625"/>
            <a:ext cx="7186725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9"/>
          <p:cNvSpPr txBox="1"/>
          <p:nvPr/>
        </p:nvSpPr>
        <p:spPr>
          <a:xfrm>
            <a:off x="1238649" y="6400470"/>
            <a:ext cx="9971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https://lakefs.io/blog/model-versioning/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Monitoring – Performance and Drift Detection</a:t>
            </a:r>
            <a:endParaRPr/>
          </a:p>
        </p:txBody>
      </p:sp>
      <p:sp>
        <p:nvSpPr>
          <p:cNvPr id="619" name="Google Shape;619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Why Monitoring is Critical: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Training performance ≠ real-world performance. Over time, changes in user behavior,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environment, or incoming data can cause </a:t>
            </a:r>
            <a:r>
              <a:rPr b="1" lang="en-US" sz="2000"/>
              <a:t>model degradation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Monitoring ensures that your model: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Performs consistently.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Detects </a:t>
            </a:r>
            <a:r>
              <a:rPr b="1" lang="en-US" sz="2000"/>
              <a:t>drift</a:t>
            </a:r>
            <a:r>
              <a:rPr lang="en-US" sz="2000"/>
              <a:t> in input data or concept.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Triggers </a:t>
            </a:r>
            <a:r>
              <a:rPr b="1" lang="en-US" sz="2000"/>
              <a:t>retraining</a:t>
            </a:r>
            <a:r>
              <a:rPr lang="en-US" sz="2000"/>
              <a:t> or rollback when needed.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Monitoring – Performance and Drift Detection</a:t>
            </a:r>
            <a:endParaRPr/>
          </a:p>
        </p:txBody>
      </p:sp>
      <p:sp>
        <p:nvSpPr>
          <p:cNvPr id="625" name="Google Shape;625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What to Monitor?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graphicFrame>
        <p:nvGraphicFramePr>
          <p:cNvPr id="626" name="Google Shape;626;p61"/>
          <p:cNvGraphicFramePr/>
          <p:nvPr/>
        </p:nvGraphicFramePr>
        <p:xfrm>
          <a:off x="1815691" y="269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{F2774E20-CA3E-40F1-B137-B4D2876B03A5}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Aspect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Description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Performance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Accuracy, Precision, F1, AUC, Latency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Data Drift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Shift in input feature distribution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Concept Drift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Change in relationship between features and target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Model Output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Frequency, confidence levels, error rates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Model Monitoring – Performance and Drift Detection</a:t>
            </a:r>
            <a:endParaRPr/>
          </a:p>
        </p:txBody>
      </p:sp>
      <p:sp>
        <p:nvSpPr>
          <p:cNvPr id="632" name="Google Shape;632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Best Practices: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Set </a:t>
            </a:r>
            <a:r>
              <a:rPr b="1" lang="en-US" sz="2000"/>
              <a:t>performance thresholds and alerts</a:t>
            </a:r>
            <a:r>
              <a:rPr lang="en-US" sz="20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Log </a:t>
            </a:r>
            <a:r>
              <a:rPr b="1" lang="en-US" sz="2000"/>
              <a:t>predictions and ground truth</a:t>
            </a:r>
            <a:r>
              <a:rPr lang="en-US" sz="2000"/>
              <a:t> regularly.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Schedule </a:t>
            </a:r>
            <a:r>
              <a:rPr b="1" lang="en-US" sz="2000"/>
              <a:t>model evaluations</a:t>
            </a:r>
            <a:r>
              <a:rPr lang="en-US" sz="2000"/>
              <a:t> monthly/weekly.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Use </a:t>
            </a:r>
            <a:r>
              <a:rPr b="1" lang="en-US" sz="2000"/>
              <a:t>automated retraining pipelines</a:t>
            </a:r>
            <a:r>
              <a:rPr lang="en-US" sz="2000"/>
              <a:t> on detected drift.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Types of Data Drifts</a:t>
            </a:r>
            <a:endParaRPr/>
          </a:p>
        </p:txBody>
      </p:sp>
      <p:pic>
        <p:nvPicPr>
          <p:cNvPr descr="A graph of progress bar&#10;&#10;AI-generated content may be incorrect." id="638" name="Google Shape;638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2199" y="1825625"/>
            <a:ext cx="606760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Activity — Example from Airbnb</a:t>
            </a:r>
            <a:endParaRPr/>
          </a:p>
        </p:txBody>
      </p:sp>
      <p:sp>
        <p:nvSpPr>
          <p:cNvPr id="645" name="Google Shape;645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Case Study: Airbnb Price Prediction Model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Airbnb built a model to recommend competitive pricing for hosts based on location, seasonality, demand, and more. After deployment, Lets suppose hosts reported: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Wild price fluctuations,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Lower bookings in some areas,</a:t>
            </a:r>
            <a:endParaRPr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5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ured pins pinned on a calendar" id="652" name="Google Shape;652;p65"/>
          <p:cNvPicPr preferRelativeResize="0"/>
          <p:nvPr/>
        </p:nvPicPr>
        <p:blipFill rotWithShape="1">
          <a:blip r:embed="rId3">
            <a:alphaModFix amt="55000"/>
          </a:blip>
          <a:srcRect b="1573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65"/>
          <p:cNvSpPr txBox="1"/>
          <p:nvPr>
            <p:ph type="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Activity — Example from Airbnb</a:t>
            </a:r>
            <a:endParaRPr/>
          </a:p>
        </p:txBody>
      </p:sp>
      <p:sp>
        <p:nvSpPr>
          <p:cNvPr id="654" name="Google Shape;654;p65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5"/>
          <p:cNvSpPr txBox="1"/>
          <p:nvPr>
            <p:ph idx="1" type="body"/>
          </p:nvPr>
        </p:nvSpPr>
        <p:spPr>
          <a:xfrm>
            <a:off x="4447308" y="115747"/>
            <a:ext cx="7474616" cy="65281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Instructions: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Step 1 – Read this scenario (add to a sticky note or card in Miro):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“Airbnb has deployed a price prediction model. After deployment, they notice strange pricing behavior. Some cities have unusually high prices, and bookings drop.”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Step 2 – Collaborate in teams and answer the following questions on Miro: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2933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20"/>
              <a:buChar char="•"/>
            </a:pPr>
            <a:r>
              <a:rPr lang="en-US" sz="1600">
                <a:solidFill>
                  <a:srgbClr val="FFFFFF"/>
                </a:solidFill>
              </a:rPr>
              <a:t>What deployment mistakes might have caused this?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2933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20"/>
              <a:buChar char="•"/>
            </a:pPr>
            <a:r>
              <a:rPr lang="en-US" sz="1600">
                <a:solidFill>
                  <a:srgbClr val="FFFFFF"/>
                </a:solidFill>
              </a:rPr>
              <a:t>What could Airbnb have done to monitor the model better?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2933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20"/>
              <a:buChar char="•"/>
            </a:pPr>
            <a:r>
              <a:rPr lang="en-US" sz="1600">
                <a:solidFill>
                  <a:srgbClr val="FFFFFF"/>
                </a:solidFill>
              </a:rPr>
              <a:t>How would you fix the issue without taking the system offline?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-29337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20"/>
              <a:buChar char="•"/>
            </a:pPr>
            <a:r>
              <a:rPr lang="en-US" sz="1600">
                <a:solidFill>
                  <a:srgbClr val="FFFFFF"/>
                </a:solidFill>
              </a:rPr>
              <a:t>What metrics should Airbnb continuously monitor?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Step 3 – Present your findings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40"/>
              <a:buNone/>
            </a:pPr>
            <a:r>
              <a:rPr lang="en-US" sz="1600">
                <a:solidFill>
                  <a:srgbClr val="FFFFFF"/>
                </a:solidFill>
              </a:rPr>
              <a:t>Each team presents a quick action plan based on their sticky notes in Miro.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CI/CD for ML</a:t>
            </a:r>
            <a:br>
              <a:rPr lang="en-US"/>
            </a:br>
            <a:endParaRPr/>
          </a:p>
        </p:txBody>
      </p:sp>
      <p:sp>
        <p:nvSpPr>
          <p:cNvPr id="661" name="Google Shape;661;p6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Brain Teaser</a:t>
            </a:r>
            <a:endParaRPr/>
          </a:p>
        </p:txBody>
      </p:sp>
      <p:sp>
        <p:nvSpPr>
          <p:cNvPr id="668" name="Google Shape;668;p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Imagine you're working as an ML engineer at Amazon.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You've trained a product recommendation model and deployed it last week.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Your team makes changes every day—new data, new features, and even tweaks to the model architecture.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Brain Teaser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75" name="Google Shape;675;p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/>
              <a:t>If the </a:t>
            </a:r>
            <a:r>
              <a:rPr b="1" lang="en-US" sz="2000"/>
              <a:t>data changes daily</a:t>
            </a:r>
            <a:r>
              <a:rPr lang="en-US" sz="2000"/>
              <a:t>, how do you ensure the model still performs well after each update?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/>
              <a:t>What if a new model version suddenly </a:t>
            </a:r>
            <a:r>
              <a:rPr b="1" lang="en-US" sz="2000"/>
              <a:t>recommends irrelevant products</a:t>
            </a:r>
            <a:r>
              <a:rPr lang="en-US" sz="2000"/>
              <a:t>?</a:t>
            </a:r>
            <a:br>
              <a:rPr lang="en-US" sz="2000"/>
            </a:br>
            <a:r>
              <a:rPr lang="en-US" sz="2000"/>
              <a:t> How would you detect and roll it back?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/>
              <a:t>In software engineering, we test code with unit tests.</a:t>
            </a:r>
            <a:br>
              <a:rPr lang="en-US" sz="2000"/>
            </a:br>
            <a:r>
              <a:rPr lang="en-US" sz="2000"/>
              <a:t> How would you </a:t>
            </a:r>
            <a:r>
              <a:rPr b="1" lang="en-US" sz="2000"/>
              <a:t>test a machine learning model</a:t>
            </a:r>
            <a:r>
              <a:rPr lang="en-US" sz="2000"/>
              <a:t> before deploying?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/>
              <a:t>How would you </a:t>
            </a:r>
            <a:r>
              <a:rPr b="1" lang="en-US" sz="2000"/>
              <a:t>track</a:t>
            </a:r>
            <a:r>
              <a:rPr lang="en-US" sz="2000"/>
              <a:t> which version of the model and data is live in production?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/>
              <a:t>Suppose multiple team members are working on different parts of the ML pipeline (data cleaning, training, monitoring).How do you </a:t>
            </a:r>
            <a:r>
              <a:rPr b="1" lang="en-US" sz="2000"/>
              <a:t>collaborate without breaking the system</a:t>
            </a:r>
            <a:r>
              <a:rPr lang="en-US" sz="2000"/>
              <a:t>?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CI/CD in MLOps and Why Does It Matter?</a:t>
            </a:r>
            <a:endParaRPr/>
          </a:p>
        </p:txBody>
      </p:sp>
      <p:sp>
        <p:nvSpPr>
          <p:cNvPr id="681" name="Google Shape;681;p69"/>
          <p:cNvSpPr txBox="1"/>
          <p:nvPr>
            <p:ph idx="1" type="body"/>
          </p:nvPr>
        </p:nvSpPr>
        <p:spPr>
          <a:xfrm>
            <a:off x="393539" y="1979270"/>
            <a:ext cx="10960261" cy="459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200"/>
              <a:t>MLOps</a:t>
            </a:r>
            <a:r>
              <a:rPr lang="en-US" sz="3200"/>
              <a:t> applies software engineering practices like DevOps to machine learning workflows, helping teams build, deploy, and maintain ML models efficiently.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200"/>
              <a:t>Continuous Integration (CI)</a:t>
            </a:r>
            <a:r>
              <a:rPr lang="en-US" sz="3200"/>
              <a:t> means automatically building and testing your ML pipeline components every time new code is added. This catches errors early and ensures your pipeline remains healthy.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200"/>
              <a:t>Continuous Delivery/Deployment (CD)</a:t>
            </a:r>
            <a:r>
              <a:rPr lang="en-US" sz="3200"/>
              <a:t> automates deploying these validated pipeline components and trained models to production or testing environments without manual intervention.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200"/>
              <a:t>Why?</a:t>
            </a:r>
            <a:endParaRPr sz="32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/>
              <a:t>Data and requirements change rapidly.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/>
              <a:t>You want to experiment and iterate fast without breaking your production system.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/>
              <a:t>Automation reduces human error and speeds up releases.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3200"/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/>
              <a:t>Imagine your team develops a model to detect fraudulent transactions. Every night, new transaction data comes in. With CI/CD, your team’s updated fraud model can be automatically retrained, tested, and deployed, keeping fraud detection up to date without manual effort.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ML Life Cycle</a:t>
            </a:r>
            <a:endParaRPr/>
          </a:p>
        </p:txBody>
      </p:sp>
      <p:pic>
        <p:nvPicPr>
          <p:cNvPr descr="A diagram of a machine learning lifecycle&#10;&#10;AI-generated content may be incorrect." id="687" name="Google Shape;687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1885" y="995423"/>
            <a:ext cx="8564063" cy="5260989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0"/>
          <p:cNvSpPr txBox="1"/>
          <p:nvPr/>
        </p:nvSpPr>
        <p:spPr>
          <a:xfrm>
            <a:off x="1238649" y="6400470"/>
            <a:ext cx="9971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https://www.geeksforgeeks.org/machine-learning-lifecycle//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Core Components of a CI/CD Pipeline for ML</a:t>
            </a:r>
            <a:endParaRPr/>
          </a:p>
        </p:txBody>
      </p:sp>
      <p:sp>
        <p:nvSpPr>
          <p:cNvPr id="694" name="Google Shape;694;p71"/>
          <p:cNvSpPr txBox="1"/>
          <p:nvPr>
            <p:ph idx="1" type="body"/>
          </p:nvPr>
        </p:nvSpPr>
        <p:spPr>
          <a:xfrm>
            <a:off x="405114" y="1825625"/>
            <a:ext cx="10948686" cy="4933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/>
              <a:t>To automate your ML lifecycle effectively, you need these key components: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Source Control (e.g., GitHub, GitLab)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Where your code, configs, and sometimes data snapshots live.</a:t>
            </a:r>
            <a:endParaRPr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Enables version tracking and collaboration.</a:t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Test &amp; Build Services (e.g., Jenkins, GitHub Actions)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Automatically run tests on your feature engineering code and model training scripts.</a:t>
            </a:r>
            <a:endParaRPr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Build artifacts like container images or packages for deployment.</a:t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Model Registry (e.g., MLflow, Vertex AI Model Registry)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Stores, versions, and tracks your trained models.</a:t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Feature Store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Central repository for reusable, consistent feature data, avoiding discrepancies between training and serving.</a:t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Pipeline Orchestrator (e.g., Kubeflow Pipelines, TFX)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Automates running your ML workflow steps (data processing, training, evaluation, deployment).</a:t>
            </a:r>
            <a:endParaRPr/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b="1" lang="en-US" sz="2900"/>
              <a:t>Deployment Services</a:t>
            </a:r>
            <a:endParaRPr sz="2900"/>
          </a:p>
          <a:p>
            <a:pPr indent="-285781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900"/>
              <a:t>Infrastructure to serve your models via APIs, e.g., cloud platforms or Kubernetes.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Core Components of a CI/CD Pipeline for ML</a:t>
            </a:r>
            <a:endParaRPr/>
          </a:p>
        </p:txBody>
      </p:sp>
      <p:sp>
        <p:nvSpPr>
          <p:cNvPr id="700" name="Google Shape;700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701" name="Google Shape;701;p72"/>
          <p:cNvGrpSpPr/>
          <p:nvPr/>
        </p:nvGrpSpPr>
        <p:grpSpPr>
          <a:xfrm>
            <a:off x="1562665" y="1726039"/>
            <a:ext cx="9515673" cy="5109121"/>
            <a:chOff x="2614" y="0"/>
            <a:chExt cx="9515673" cy="5109121"/>
          </a:xfrm>
        </p:grpSpPr>
        <p:sp>
          <p:nvSpPr>
            <p:cNvPr id="702" name="Google Shape;702;p72"/>
            <p:cNvSpPr/>
            <p:nvPr/>
          </p:nvSpPr>
          <p:spPr>
            <a:xfrm>
              <a:off x="714067" y="0"/>
              <a:ext cx="8092767" cy="510912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2"/>
            <p:cNvSpPr/>
            <p:nvPr/>
          </p:nvSpPr>
          <p:spPr>
            <a:xfrm>
              <a:off x="2614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2"/>
            <p:cNvSpPr txBox="1"/>
            <p:nvPr/>
          </p:nvSpPr>
          <p:spPr>
            <a:xfrm>
              <a:off x="76937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Control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2"/>
            <p:cNvSpPr/>
            <p:nvPr/>
          </p:nvSpPr>
          <p:spPr>
            <a:xfrm>
              <a:off x="1601248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2"/>
            <p:cNvSpPr txBox="1"/>
            <p:nvPr/>
          </p:nvSpPr>
          <p:spPr>
            <a:xfrm>
              <a:off x="1675571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CI Build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2"/>
            <p:cNvSpPr/>
            <p:nvPr/>
          </p:nvSpPr>
          <p:spPr>
            <a:xfrm>
              <a:off x="3199881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2"/>
            <p:cNvSpPr txBox="1"/>
            <p:nvPr/>
          </p:nvSpPr>
          <p:spPr>
            <a:xfrm>
              <a:off x="3274204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 Registry &amp; Feature Store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2"/>
            <p:cNvSpPr/>
            <p:nvPr/>
          </p:nvSpPr>
          <p:spPr>
            <a:xfrm>
              <a:off x="4798514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2"/>
            <p:cNvSpPr txBox="1"/>
            <p:nvPr/>
          </p:nvSpPr>
          <p:spPr>
            <a:xfrm>
              <a:off x="4872837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Orchestrator 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2"/>
            <p:cNvSpPr/>
            <p:nvPr/>
          </p:nvSpPr>
          <p:spPr>
            <a:xfrm>
              <a:off x="6397147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2"/>
            <p:cNvSpPr txBox="1"/>
            <p:nvPr/>
          </p:nvSpPr>
          <p:spPr>
            <a:xfrm>
              <a:off x="6471470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Deployment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2"/>
            <p:cNvSpPr/>
            <p:nvPr/>
          </p:nvSpPr>
          <p:spPr>
            <a:xfrm>
              <a:off x="7995780" y="1532736"/>
              <a:ext cx="1522507" cy="2043648"/>
            </a:xfrm>
            <a:prstGeom prst="roundRect">
              <a:avLst>
                <a:gd fmla="val 16667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2"/>
            <p:cNvSpPr txBox="1"/>
            <p:nvPr/>
          </p:nvSpPr>
          <p:spPr>
            <a:xfrm>
              <a:off x="8070103" y="1607059"/>
              <a:ext cx="1373861" cy="1895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n-US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Monitoring</a:t>
              </a:r>
              <a:endParaRPr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How the CI/CD Pipeline Works in Practice</a:t>
            </a:r>
            <a:endParaRPr/>
          </a:p>
        </p:txBody>
      </p:sp>
      <p:sp>
        <p:nvSpPr>
          <p:cNvPr id="720" name="Google Shape;720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To succeed with CI/CD in ML, keep these best practices in mind: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Unit test your feature engineering logic</a:t>
            </a:r>
            <a:r>
              <a:rPr lang="en-US"/>
              <a:t> to catch bugs early (e.g., check if categorical encoding works as intended).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Test model training stability:</a:t>
            </a:r>
            <a:br>
              <a:rPr lang="en-US"/>
            </a:br>
            <a:r>
              <a:rPr lang="en-US"/>
              <a:t>Make sure training converges and doesn’t produce invalid results like NaNs or infinite losses.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Validate API inputs/outputs:</a:t>
            </a:r>
            <a:br>
              <a:rPr lang="en-US"/>
            </a:br>
            <a:r>
              <a:rPr lang="en-US"/>
              <a:t>When deploying new models, test if the prediction API accepts expected inputs and returns valid predictions.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Progressive Deployment:</a:t>
            </a:r>
            <a:br>
              <a:rPr lang="en-US"/>
            </a:br>
            <a:r>
              <a:rPr lang="en-US"/>
              <a:t>Use environments like development → staging → production with manual approvals to avoid risky immediate releases.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Performance &amp; Load Testing:</a:t>
            </a:r>
            <a:br>
              <a:rPr lang="en-US"/>
            </a:br>
            <a:r>
              <a:rPr lang="en-US"/>
              <a:t>Check that your prediction service can handle expected request volumes with acceptable latency.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/>
              <a:t>Model Validation:</a:t>
            </a:r>
            <a:br>
              <a:rPr lang="en-US"/>
            </a:br>
            <a:r>
              <a:rPr lang="en-US"/>
              <a:t>Only deploy models meeting business and accuracy targets.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4"/>
          <p:cNvSpPr txBox="1"/>
          <p:nvPr>
            <p:ph type="title"/>
          </p:nvPr>
        </p:nvSpPr>
        <p:spPr>
          <a:xfrm>
            <a:off x="495997" y="1189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How the CI/CD Pipeline Works in Practice?</a:t>
            </a:r>
            <a:endParaRPr/>
          </a:p>
        </p:txBody>
      </p:sp>
      <p:pic>
        <p:nvPicPr>
          <p:cNvPr descr="A diagram of software development&#10;&#10;AI-generated content may be incorrect." id="726" name="Google Shape;726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997" y="1030148"/>
            <a:ext cx="10515600" cy="5708876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4"/>
          <p:cNvSpPr txBox="1"/>
          <p:nvPr/>
        </p:nvSpPr>
        <p:spPr>
          <a:xfrm>
            <a:off x="1238649" y="6400470"/>
            <a:ext cx="99714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source: https://www.opsera.io/blog/all-you-need-to-know-about-ci-cd-pipeline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33" name="Google Shape;733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2025-07-08T09:29:07Z</dcterms:created>
  <dc:creator>Mian Muhammad Awais</dc:creator>
</cp:coreProperties>
</file>