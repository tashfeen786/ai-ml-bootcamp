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5"/>
  </p:notesMasterIdLst>
  <p:sldIdLst>
    <p:sldId id="359" r:id="rId3"/>
    <p:sldId id="360" r:id="rId4"/>
    <p:sldId id="337" r:id="rId5"/>
    <p:sldId id="335" r:id="rId6"/>
    <p:sldId id="295" r:id="rId7"/>
    <p:sldId id="296" r:id="rId8"/>
    <p:sldId id="297" r:id="rId9"/>
    <p:sldId id="291" r:id="rId10"/>
    <p:sldId id="294" r:id="rId11"/>
    <p:sldId id="338" r:id="rId12"/>
    <p:sldId id="258" r:id="rId13"/>
    <p:sldId id="257" r:id="rId14"/>
    <p:sldId id="263" r:id="rId15"/>
    <p:sldId id="328" r:id="rId16"/>
    <p:sldId id="361" r:id="rId17"/>
    <p:sldId id="329" r:id="rId18"/>
    <p:sldId id="330" r:id="rId19"/>
    <p:sldId id="333" r:id="rId20"/>
    <p:sldId id="334" r:id="rId21"/>
    <p:sldId id="362" r:id="rId22"/>
    <p:sldId id="268" r:id="rId23"/>
    <p:sldId id="269" r:id="rId24"/>
    <p:sldId id="260" r:id="rId25"/>
    <p:sldId id="327" r:id="rId26"/>
    <p:sldId id="264" r:id="rId27"/>
    <p:sldId id="266" r:id="rId28"/>
    <p:sldId id="267" r:id="rId29"/>
    <p:sldId id="271" r:id="rId30"/>
    <p:sldId id="272" r:id="rId31"/>
    <p:sldId id="273" r:id="rId32"/>
    <p:sldId id="274" r:id="rId33"/>
    <p:sldId id="363" r:id="rId34"/>
    <p:sldId id="275" r:id="rId35"/>
    <p:sldId id="276" r:id="rId36"/>
    <p:sldId id="364" r:id="rId37"/>
    <p:sldId id="365" r:id="rId38"/>
    <p:sldId id="366" r:id="rId39"/>
    <p:sldId id="367" r:id="rId40"/>
    <p:sldId id="369" r:id="rId41"/>
    <p:sldId id="340" r:id="rId42"/>
    <p:sldId id="370" r:id="rId43"/>
    <p:sldId id="277" r:id="rId44"/>
    <p:sldId id="371" r:id="rId45"/>
    <p:sldId id="344" r:id="rId46"/>
    <p:sldId id="282" r:id="rId47"/>
    <p:sldId id="343" r:id="rId48"/>
    <p:sldId id="345" r:id="rId49"/>
    <p:sldId id="319" r:id="rId50"/>
    <p:sldId id="341" r:id="rId51"/>
    <p:sldId id="306" r:id="rId52"/>
    <p:sldId id="372" r:id="rId53"/>
    <p:sldId id="373" r:id="rId54"/>
    <p:sldId id="374" r:id="rId55"/>
    <p:sldId id="375" r:id="rId56"/>
    <p:sldId id="376" r:id="rId57"/>
    <p:sldId id="377" r:id="rId58"/>
    <p:sldId id="348" r:id="rId59"/>
    <p:sldId id="321" r:id="rId60"/>
    <p:sldId id="299" r:id="rId61"/>
    <p:sldId id="300" r:id="rId62"/>
    <p:sldId id="290" r:id="rId63"/>
    <p:sldId id="301" r:id="rId64"/>
    <p:sldId id="302" r:id="rId65"/>
    <p:sldId id="303" r:id="rId66"/>
    <p:sldId id="304" r:id="rId67"/>
    <p:sldId id="305" r:id="rId68"/>
    <p:sldId id="349" r:id="rId69"/>
    <p:sldId id="350" r:id="rId70"/>
    <p:sldId id="351" r:id="rId71"/>
    <p:sldId id="352" r:id="rId72"/>
    <p:sldId id="378" r:id="rId73"/>
    <p:sldId id="353" r:id="rId74"/>
    <p:sldId id="354" r:id="rId75"/>
    <p:sldId id="380" r:id="rId76"/>
    <p:sldId id="381" r:id="rId77"/>
    <p:sldId id="382" r:id="rId78"/>
    <p:sldId id="379" r:id="rId79"/>
    <p:sldId id="355" r:id="rId80"/>
    <p:sldId id="356" r:id="rId81"/>
    <p:sldId id="357" r:id="rId82"/>
    <p:sldId id="310" r:id="rId83"/>
    <p:sldId id="311" r:id="rId84"/>
    <p:sldId id="346" r:id="rId85"/>
    <p:sldId id="347" r:id="rId86"/>
    <p:sldId id="312" r:id="rId87"/>
    <p:sldId id="314" r:id="rId88"/>
    <p:sldId id="316" r:id="rId89"/>
    <p:sldId id="317" r:id="rId90"/>
    <p:sldId id="318" r:id="rId91"/>
    <p:sldId id="339" r:id="rId92"/>
    <p:sldId id="307" r:id="rId93"/>
    <p:sldId id="308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59" autoAdjust="0"/>
    <p:restoredTop sz="98168" autoAdjust="0"/>
  </p:normalViewPr>
  <p:slideViewPr>
    <p:cSldViewPr snapToGrid="0">
      <p:cViewPr varScale="1">
        <p:scale>
          <a:sx n="72" d="100"/>
          <a:sy n="72" d="100"/>
        </p:scale>
        <p:origin x="845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1A6530-8D34-45CE-B6A4-6EF80DFF543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</dgm:pt>
    <dgm:pt modelId="{30CCE1FC-5D55-43A1-AB53-04503B4F5E34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Data</a:t>
          </a:r>
        </a:p>
      </dgm:t>
    </dgm:pt>
    <dgm:pt modelId="{F9ADECF2-01E5-448E-9B00-69BD8D9E3C0D}" type="parTrans" cxnId="{E97E10CB-BA7D-4A54-B553-C548520F97AC}">
      <dgm:prSet/>
      <dgm:spPr/>
      <dgm:t>
        <a:bodyPr/>
        <a:lstStyle/>
        <a:p>
          <a:endParaRPr lang="en-CA"/>
        </a:p>
      </dgm:t>
    </dgm:pt>
    <dgm:pt modelId="{18F1771C-B514-4F73-A456-AF2C8B512B43}" type="sibTrans" cxnId="{E97E10CB-BA7D-4A54-B553-C548520F97AC}">
      <dgm:prSet/>
      <dgm:spPr/>
      <dgm:t>
        <a:bodyPr/>
        <a:lstStyle/>
        <a:p>
          <a:endParaRPr lang="en-CA" dirty="0"/>
        </a:p>
      </dgm:t>
    </dgm:pt>
    <dgm:pt modelId="{B3C6A279-042D-4BCC-BAB1-9E5D61A3635F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Regression</a:t>
          </a:r>
        </a:p>
      </dgm:t>
    </dgm:pt>
    <dgm:pt modelId="{2780C3B5-1572-4055-876C-D47C29007A27}" type="parTrans" cxnId="{E48697CB-FD61-4266-8BC4-FDB33D229AF4}">
      <dgm:prSet/>
      <dgm:spPr/>
      <dgm:t>
        <a:bodyPr/>
        <a:lstStyle/>
        <a:p>
          <a:endParaRPr lang="en-CA"/>
        </a:p>
      </dgm:t>
    </dgm:pt>
    <dgm:pt modelId="{12528EB0-0416-41D9-A6E3-E961C2770D7C}" type="sibTrans" cxnId="{E48697CB-FD61-4266-8BC4-FDB33D229AF4}">
      <dgm:prSet/>
      <dgm:spPr/>
      <dgm:t>
        <a:bodyPr/>
        <a:lstStyle/>
        <a:p>
          <a:endParaRPr lang="en-CA"/>
        </a:p>
      </dgm:t>
    </dgm:pt>
    <dgm:pt modelId="{F65FF908-FB55-44B7-AA42-52459ABB5EB2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Intelligence</a:t>
          </a:r>
        </a:p>
      </dgm:t>
    </dgm:pt>
    <dgm:pt modelId="{874EED93-1171-4794-B04B-37A5E5080733}" type="parTrans" cxnId="{8A648758-9B0D-4EC0-BB0E-9F780687F4A5}">
      <dgm:prSet/>
      <dgm:spPr/>
      <dgm:t>
        <a:bodyPr/>
        <a:lstStyle/>
        <a:p>
          <a:endParaRPr lang="en-CA"/>
        </a:p>
      </dgm:t>
    </dgm:pt>
    <dgm:pt modelId="{5202152C-5434-47B3-84F6-F6C0076645F7}" type="sibTrans" cxnId="{8A648758-9B0D-4EC0-BB0E-9F780687F4A5}">
      <dgm:prSet/>
      <dgm:spPr/>
      <dgm:t>
        <a:bodyPr/>
        <a:lstStyle/>
        <a:p>
          <a:endParaRPr lang="en-CA"/>
        </a:p>
      </dgm:t>
    </dgm:pt>
    <dgm:pt modelId="{FD7A26E5-7EBC-46CF-B35C-E0DCD6E0AC86}" type="pres">
      <dgm:prSet presAssocID="{211A6530-8D34-45CE-B6A4-6EF80DFF543D}" presName="root" presStyleCnt="0">
        <dgm:presLayoutVars>
          <dgm:dir/>
          <dgm:resizeHandles val="exact"/>
        </dgm:presLayoutVars>
      </dgm:prSet>
      <dgm:spPr/>
    </dgm:pt>
    <dgm:pt modelId="{6FD41046-A1E9-47E2-9D0C-C081DD79CB8D}" type="pres">
      <dgm:prSet presAssocID="{30CCE1FC-5D55-43A1-AB53-04503B4F5E34}" presName="compNode" presStyleCnt="0"/>
      <dgm:spPr/>
    </dgm:pt>
    <dgm:pt modelId="{AB9943B3-33F5-42EC-B3A8-86D150E0699C}" type="pres">
      <dgm:prSet presAssocID="{30CCE1FC-5D55-43A1-AB53-04503B4F5E3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0C30E3C-D1AE-493A-8117-EF80B42E22E4}" type="pres">
      <dgm:prSet presAssocID="{30CCE1FC-5D55-43A1-AB53-04503B4F5E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9FC618F-FD94-4BB7-B26E-3E00CC698C1D}" type="pres">
      <dgm:prSet presAssocID="{30CCE1FC-5D55-43A1-AB53-04503B4F5E34}" presName="spaceRect" presStyleCnt="0"/>
      <dgm:spPr/>
    </dgm:pt>
    <dgm:pt modelId="{77E1BF26-DD1D-4930-897B-26D0F73CD7FE}" type="pres">
      <dgm:prSet presAssocID="{30CCE1FC-5D55-43A1-AB53-04503B4F5E34}" presName="textRect" presStyleLbl="revTx" presStyleIdx="0" presStyleCnt="3">
        <dgm:presLayoutVars>
          <dgm:chMax val="1"/>
          <dgm:chPref val="1"/>
        </dgm:presLayoutVars>
      </dgm:prSet>
      <dgm:spPr/>
    </dgm:pt>
    <dgm:pt modelId="{01F36669-B217-456E-9807-619FB81A9091}" type="pres">
      <dgm:prSet presAssocID="{18F1771C-B514-4F73-A456-AF2C8B512B43}" presName="sibTrans" presStyleCnt="0"/>
      <dgm:spPr/>
    </dgm:pt>
    <dgm:pt modelId="{6589A477-B738-4E1B-98AB-E44938635659}" type="pres">
      <dgm:prSet presAssocID="{B3C6A279-042D-4BCC-BAB1-9E5D61A3635F}" presName="compNode" presStyleCnt="0"/>
      <dgm:spPr/>
    </dgm:pt>
    <dgm:pt modelId="{9A3916C5-96AA-47A3-96FD-271BD2FACB92}" type="pres">
      <dgm:prSet presAssocID="{B3C6A279-042D-4BCC-BAB1-9E5D61A3635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21E9527-816E-4F90-A52B-28661810D6F0}" type="pres">
      <dgm:prSet presAssocID="{B3C6A279-042D-4BCC-BAB1-9E5D61A363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868C779-826A-4FA7-819E-8CBB1B3E38A7}" type="pres">
      <dgm:prSet presAssocID="{B3C6A279-042D-4BCC-BAB1-9E5D61A3635F}" presName="spaceRect" presStyleCnt="0"/>
      <dgm:spPr/>
    </dgm:pt>
    <dgm:pt modelId="{889F1C95-6034-4405-B6D0-710AAB354338}" type="pres">
      <dgm:prSet presAssocID="{B3C6A279-042D-4BCC-BAB1-9E5D61A3635F}" presName="textRect" presStyleLbl="revTx" presStyleIdx="1" presStyleCnt="3">
        <dgm:presLayoutVars>
          <dgm:chMax val="1"/>
          <dgm:chPref val="1"/>
        </dgm:presLayoutVars>
      </dgm:prSet>
      <dgm:spPr/>
    </dgm:pt>
    <dgm:pt modelId="{B745741D-3D68-4B34-8B34-D6340DF1F4FA}" type="pres">
      <dgm:prSet presAssocID="{12528EB0-0416-41D9-A6E3-E961C2770D7C}" presName="sibTrans" presStyleCnt="0"/>
      <dgm:spPr/>
    </dgm:pt>
    <dgm:pt modelId="{85FF2BCF-BFAE-44BC-A1E8-E2F675E44C4C}" type="pres">
      <dgm:prSet presAssocID="{F65FF908-FB55-44B7-AA42-52459ABB5EB2}" presName="compNode" presStyleCnt="0"/>
      <dgm:spPr/>
    </dgm:pt>
    <dgm:pt modelId="{69C780A6-0A4D-4B48-B1B4-9641BFC9EFC4}" type="pres">
      <dgm:prSet presAssocID="{F65FF908-FB55-44B7-AA42-52459ABB5EB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4D89F2C-9D15-49C2-8151-9EE52777B978}" type="pres">
      <dgm:prSet presAssocID="{F65FF908-FB55-44B7-AA42-52459ABB5E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8CC33310-DFBD-4C85-9F30-F296239D01E2}" type="pres">
      <dgm:prSet presAssocID="{F65FF908-FB55-44B7-AA42-52459ABB5EB2}" presName="spaceRect" presStyleCnt="0"/>
      <dgm:spPr/>
    </dgm:pt>
    <dgm:pt modelId="{A8D000B0-A503-462C-9F89-CC077A263BAD}" type="pres">
      <dgm:prSet presAssocID="{F65FF908-FB55-44B7-AA42-52459ABB5EB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4357766-311B-454D-A25A-23E7F2300C25}" type="presOf" srcId="{211A6530-8D34-45CE-B6A4-6EF80DFF543D}" destId="{FD7A26E5-7EBC-46CF-B35C-E0DCD6E0AC86}" srcOrd="0" destOrd="0" presId="urn:microsoft.com/office/officeart/2018/5/layout/IconLeafLabelList"/>
    <dgm:cxn modelId="{9EDA986D-496A-4FCC-8228-40B1895689AB}" type="presOf" srcId="{B3C6A279-042D-4BCC-BAB1-9E5D61A3635F}" destId="{889F1C95-6034-4405-B6D0-710AAB354338}" srcOrd="0" destOrd="0" presId="urn:microsoft.com/office/officeart/2018/5/layout/IconLeafLabelList"/>
    <dgm:cxn modelId="{8A648758-9B0D-4EC0-BB0E-9F780687F4A5}" srcId="{211A6530-8D34-45CE-B6A4-6EF80DFF543D}" destId="{F65FF908-FB55-44B7-AA42-52459ABB5EB2}" srcOrd="2" destOrd="0" parTransId="{874EED93-1171-4794-B04B-37A5E5080733}" sibTransId="{5202152C-5434-47B3-84F6-F6C0076645F7}"/>
    <dgm:cxn modelId="{81C869B0-593A-4A14-8526-2B4C4CA60FA0}" type="presOf" srcId="{30CCE1FC-5D55-43A1-AB53-04503B4F5E34}" destId="{77E1BF26-DD1D-4930-897B-26D0F73CD7FE}" srcOrd="0" destOrd="0" presId="urn:microsoft.com/office/officeart/2018/5/layout/IconLeafLabelList"/>
    <dgm:cxn modelId="{157F8CB3-8657-43D7-94D9-E313235C7370}" type="presOf" srcId="{F65FF908-FB55-44B7-AA42-52459ABB5EB2}" destId="{A8D000B0-A503-462C-9F89-CC077A263BAD}" srcOrd="0" destOrd="0" presId="urn:microsoft.com/office/officeart/2018/5/layout/IconLeafLabelList"/>
    <dgm:cxn modelId="{E97E10CB-BA7D-4A54-B553-C548520F97AC}" srcId="{211A6530-8D34-45CE-B6A4-6EF80DFF543D}" destId="{30CCE1FC-5D55-43A1-AB53-04503B4F5E34}" srcOrd="0" destOrd="0" parTransId="{F9ADECF2-01E5-448E-9B00-69BD8D9E3C0D}" sibTransId="{18F1771C-B514-4F73-A456-AF2C8B512B43}"/>
    <dgm:cxn modelId="{E48697CB-FD61-4266-8BC4-FDB33D229AF4}" srcId="{211A6530-8D34-45CE-B6A4-6EF80DFF543D}" destId="{B3C6A279-042D-4BCC-BAB1-9E5D61A3635F}" srcOrd="1" destOrd="0" parTransId="{2780C3B5-1572-4055-876C-D47C29007A27}" sibTransId="{12528EB0-0416-41D9-A6E3-E961C2770D7C}"/>
    <dgm:cxn modelId="{9D9C54D4-8575-4EB5-890A-14CED9EC3DF7}" type="presParOf" srcId="{FD7A26E5-7EBC-46CF-B35C-E0DCD6E0AC86}" destId="{6FD41046-A1E9-47E2-9D0C-C081DD79CB8D}" srcOrd="0" destOrd="0" presId="urn:microsoft.com/office/officeart/2018/5/layout/IconLeafLabelList"/>
    <dgm:cxn modelId="{04664FA1-5FCF-4484-9C38-327ED5E3D0D1}" type="presParOf" srcId="{6FD41046-A1E9-47E2-9D0C-C081DD79CB8D}" destId="{AB9943B3-33F5-42EC-B3A8-86D150E0699C}" srcOrd="0" destOrd="0" presId="urn:microsoft.com/office/officeart/2018/5/layout/IconLeafLabelList"/>
    <dgm:cxn modelId="{1983BCEB-00EE-457A-B284-84B50EB27B97}" type="presParOf" srcId="{6FD41046-A1E9-47E2-9D0C-C081DD79CB8D}" destId="{D0C30E3C-D1AE-493A-8117-EF80B42E22E4}" srcOrd="1" destOrd="0" presId="urn:microsoft.com/office/officeart/2018/5/layout/IconLeafLabelList"/>
    <dgm:cxn modelId="{2A898733-C626-478C-91BD-AA33291D3CD1}" type="presParOf" srcId="{6FD41046-A1E9-47E2-9D0C-C081DD79CB8D}" destId="{B9FC618F-FD94-4BB7-B26E-3E00CC698C1D}" srcOrd="2" destOrd="0" presId="urn:microsoft.com/office/officeart/2018/5/layout/IconLeafLabelList"/>
    <dgm:cxn modelId="{FBD7C9F8-1F50-4B85-9970-5D24AE68713D}" type="presParOf" srcId="{6FD41046-A1E9-47E2-9D0C-C081DD79CB8D}" destId="{77E1BF26-DD1D-4930-897B-26D0F73CD7FE}" srcOrd="3" destOrd="0" presId="urn:microsoft.com/office/officeart/2018/5/layout/IconLeafLabelList"/>
    <dgm:cxn modelId="{B92620AA-9DCF-4832-981C-3E06C841205A}" type="presParOf" srcId="{FD7A26E5-7EBC-46CF-B35C-E0DCD6E0AC86}" destId="{01F36669-B217-456E-9807-619FB81A9091}" srcOrd="1" destOrd="0" presId="urn:microsoft.com/office/officeart/2018/5/layout/IconLeafLabelList"/>
    <dgm:cxn modelId="{B6BAB815-BD16-4E2B-92C2-9094C8657B6C}" type="presParOf" srcId="{FD7A26E5-7EBC-46CF-B35C-E0DCD6E0AC86}" destId="{6589A477-B738-4E1B-98AB-E44938635659}" srcOrd="2" destOrd="0" presId="urn:microsoft.com/office/officeart/2018/5/layout/IconLeafLabelList"/>
    <dgm:cxn modelId="{5D207E81-B19A-41E8-A496-6048FB8E2ED2}" type="presParOf" srcId="{6589A477-B738-4E1B-98AB-E44938635659}" destId="{9A3916C5-96AA-47A3-96FD-271BD2FACB92}" srcOrd="0" destOrd="0" presId="urn:microsoft.com/office/officeart/2018/5/layout/IconLeafLabelList"/>
    <dgm:cxn modelId="{5DE57EAD-A932-4347-B128-F1D6E573B967}" type="presParOf" srcId="{6589A477-B738-4E1B-98AB-E44938635659}" destId="{821E9527-816E-4F90-A52B-28661810D6F0}" srcOrd="1" destOrd="0" presId="urn:microsoft.com/office/officeart/2018/5/layout/IconLeafLabelList"/>
    <dgm:cxn modelId="{CFD5A9E7-5D08-4729-9029-C75178B36BB1}" type="presParOf" srcId="{6589A477-B738-4E1B-98AB-E44938635659}" destId="{E868C779-826A-4FA7-819E-8CBB1B3E38A7}" srcOrd="2" destOrd="0" presId="urn:microsoft.com/office/officeart/2018/5/layout/IconLeafLabelList"/>
    <dgm:cxn modelId="{A1B4C453-7C9F-41EE-9320-67B6C4B5C7CD}" type="presParOf" srcId="{6589A477-B738-4E1B-98AB-E44938635659}" destId="{889F1C95-6034-4405-B6D0-710AAB354338}" srcOrd="3" destOrd="0" presId="urn:microsoft.com/office/officeart/2018/5/layout/IconLeafLabelList"/>
    <dgm:cxn modelId="{9CEDDD6A-2233-44FF-8482-C492307F8025}" type="presParOf" srcId="{FD7A26E5-7EBC-46CF-B35C-E0DCD6E0AC86}" destId="{B745741D-3D68-4B34-8B34-D6340DF1F4FA}" srcOrd="3" destOrd="0" presId="urn:microsoft.com/office/officeart/2018/5/layout/IconLeafLabelList"/>
    <dgm:cxn modelId="{DE718AF7-16FF-4855-830F-87B0CD4591B5}" type="presParOf" srcId="{FD7A26E5-7EBC-46CF-B35C-E0DCD6E0AC86}" destId="{85FF2BCF-BFAE-44BC-A1E8-E2F675E44C4C}" srcOrd="4" destOrd="0" presId="urn:microsoft.com/office/officeart/2018/5/layout/IconLeafLabelList"/>
    <dgm:cxn modelId="{EA1D376D-A1B7-465D-9623-6EA37011A6CA}" type="presParOf" srcId="{85FF2BCF-BFAE-44BC-A1E8-E2F675E44C4C}" destId="{69C780A6-0A4D-4B48-B1B4-9641BFC9EFC4}" srcOrd="0" destOrd="0" presId="urn:microsoft.com/office/officeart/2018/5/layout/IconLeafLabelList"/>
    <dgm:cxn modelId="{90AFE538-5226-4061-8693-830FCF0CB48C}" type="presParOf" srcId="{85FF2BCF-BFAE-44BC-A1E8-E2F675E44C4C}" destId="{44D89F2C-9D15-49C2-8151-9EE52777B978}" srcOrd="1" destOrd="0" presId="urn:microsoft.com/office/officeart/2018/5/layout/IconLeafLabelList"/>
    <dgm:cxn modelId="{2C3328D4-0D32-488E-83F3-4AA273A3C1E6}" type="presParOf" srcId="{85FF2BCF-BFAE-44BC-A1E8-E2F675E44C4C}" destId="{8CC33310-DFBD-4C85-9F30-F296239D01E2}" srcOrd="2" destOrd="0" presId="urn:microsoft.com/office/officeart/2018/5/layout/IconLeafLabelList"/>
    <dgm:cxn modelId="{1108BAB9-E327-4305-A48C-F6EACF42C686}" type="presParOf" srcId="{85FF2BCF-BFAE-44BC-A1E8-E2F675E44C4C}" destId="{A8D000B0-A503-462C-9F89-CC077A263BA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6D0898-FC86-B944-BBD7-90A2C231684C}" type="doc">
      <dgm:prSet loTypeId="urn:microsoft.com/office/officeart/2005/8/layout/radial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DBF7B0-99A0-154D-83F7-8DC2A93CE799}">
      <dgm:prSet phldrT="[Text]"/>
      <dgm:spPr/>
      <dgm:t>
        <a:bodyPr/>
        <a:lstStyle/>
        <a:p>
          <a:r>
            <a:rPr lang="en-US" dirty="0"/>
            <a:t>Model</a:t>
          </a:r>
        </a:p>
      </dgm:t>
    </dgm:pt>
    <dgm:pt modelId="{06296AF3-532D-3C49-A7E2-B65D5C3FA53B}" type="parTrans" cxnId="{B7C1D54B-957E-B040-BB7B-CAC2605ACAB6}">
      <dgm:prSet/>
      <dgm:spPr/>
      <dgm:t>
        <a:bodyPr/>
        <a:lstStyle/>
        <a:p>
          <a:endParaRPr lang="en-US"/>
        </a:p>
      </dgm:t>
    </dgm:pt>
    <dgm:pt modelId="{78C3BFDC-2839-5A48-8EFB-D16FFF4D2260}" type="sibTrans" cxnId="{B7C1D54B-957E-B040-BB7B-CAC2605ACAB6}">
      <dgm:prSet/>
      <dgm:spPr/>
      <dgm:t>
        <a:bodyPr/>
        <a:lstStyle/>
        <a:p>
          <a:endParaRPr lang="en-US"/>
        </a:p>
      </dgm:t>
    </dgm:pt>
    <dgm:pt modelId="{69080974-5A71-1647-BD60-347C11BDB3D0}">
      <dgm:prSet phldrT="[Text]"/>
      <dgm:spPr/>
      <dgm:t>
        <a:bodyPr/>
        <a:lstStyle/>
        <a:p>
          <a:r>
            <a:rPr lang="en-US" dirty="0"/>
            <a:t>Inputs</a:t>
          </a:r>
        </a:p>
      </dgm:t>
    </dgm:pt>
    <dgm:pt modelId="{DF1B5F8A-1BCD-9B4C-8A1E-D483D379FE10}" type="parTrans" cxnId="{0BC83074-0B65-CE4C-BE3D-40342E4AAFC7}">
      <dgm:prSet/>
      <dgm:spPr/>
      <dgm:t>
        <a:bodyPr/>
        <a:lstStyle/>
        <a:p>
          <a:endParaRPr lang="en-US"/>
        </a:p>
      </dgm:t>
    </dgm:pt>
    <dgm:pt modelId="{AA3DDE46-27D3-C344-91EB-88316F7724EF}" type="sibTrans" cxnId="{0BC83074-0B65-CE4C-BE3D-40342E4AAFC7}">
      <dgm:prSet/>
      <dgm:spPr/>
      <dgm:t>
        <a:bodyPr/>
        <a:lstStyle/>
        <a:p>
          <a:endParaRPr lang="en-US"/>
        </a:p>
      </dgm:t>
    </dgm:pt>
    <dgm:pt modelId="{75D687AA-5233-C14B-958D-C63552AC34C6}">
      <dgm:prSet phldrT="[Text]"/>
      <dgm:spPr/>
      <dgm:t>
        <a:bodyPr/>
        <a:lstStyle/>
        <a:p>
          <a:r>
            <a:rPr lang="en-US" dirty="0"/>
            <a:t>Outputs</a:t>
          </a:r>
        </a:p>
      </dgm:t>
    </dgm:pt>
    <dgm:pt modelId="{02626E47-94C0-8640-AD93-57867D85193E}" type="parTrans" cxnId="{E2AEB5AB-1F4E-F144-AAB1-DEADE7AD87FC}">
      <dgm:prSet/>
      <dgm:spPr/>
      <dgm:t>
        <a:bodyPr/>
        <a:lstStyle/>
        <a:p>
          <a:endParaRPr lang="en-US"/>
        </a:p>
      </dgm:t>
    </dgm:pt>
    <dgm:pt modelId="{9298B494-799C-724A-83D7-1780085BF74E}" type="sibTrans" cxnId="{E2AEB5AB-1F4E-F144-AAB1-DEADE7AD87FC}">
      <dgm:prSet/>
      <dgm:spPr/>
      <dgm:t>
        <a:bodyPr/>
        <a:lstStyle/>
        <a:p>
          <a:endParaRPr lang="en-US"/>
        </a:p>
      </dgm:t>
    </dgm:pt>
    <dgm:pt modelId="{DEF59021-0F15-374C-AAD3-212A0C807701}">
      <dgm:prSet phldrT="[Text]"/>
      <dgm:spPr/>
      <dgm:t>
        <a:bodyPr/>
        <a:lstStyle/>
        <a:p>
          <a:r>
            <a:rPr lang="en-US" dirty="0"/>
            <a:t>Parameters</a:t>
          </a:r>
        </a:p>
      </dgm:t>
    </dgm:pt>
    <dgm:pt modelId="{E84D5EC9-3204-3545-8954-91D2A1B23F2B}" type="parTrans" cxnId="{FE880D0D-2FD3-4847-8369-5924487FC7AA}">
      <dgm:prSet/>
      <dgm:spPr/>
      <dgm:t>
        <a:bodyPr/>
        <a:lstStyle/>
        <a:p>
          <a:endParaRPr lang="en-US"/>
        </a:p>
      </dgm:t>
    </dgm:pt>
    <dgm:pt modelId="{E71B1BF3-FD64-8D41-80FF-12D163B2AD29}" type="sibTrans" cxnId="{FE880D0D-2FD3-4847-8369-5924487FC7AA}">
      <dgm:prSet/>
      <dgm:spPr/>
      <dgm:t>
        <a:bodyPr/>
        <a:lstStyle/>
        <a:p>
          <a:endParaRPr lang="en-US"/>
        </a:p>
      </dgm:t>
    </dgm:pt>
    <dgm:pt modelId="{EA32A817-5998-5F46-A598-ED23E86CB5EC}" type="pres">
      <dgm:prSet presAssocID="{E36D0898-FC86-B944-BBD7-90A2C231684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6D10E09-EFE8-EC46-8925-79DA52AA944F}" type="pres">
      <dgm:prSet presAssocID="{E7DBF7B0-99A0-154D-83F7-8DC2A93CE799}" presName="centerShape" presStyleLbl="node0" presStyleIdx="0" presStyleCnt="1" custLinFactNeighborX="-365"/>
      <dgm:spPr/>
    </dgm:pt>
    <dgm:pt modelId="{CD91C6E4-2D03-7044-94A3-537B2FE61701}" type="pres">
      <dgm:prSet presAssocID="{DF1B5F8A-1BCD-9B4C-8A1E-D483D379FE10}" presName="parTrans" presStyleLbl="bgSibTrans2D1" presStyleIdx="0" presStyleCnt="3"/>
      <dgm:spPr/>
    </dgm:pt>
    <dgm:pt modelId="{FCAA78A1-A838-F64C-9634-8B2E3494FA7A}" type="pres">
      <dgm:prSet presAssocID="{69080974-5A71-1647-BD60-347C11BDB3D0}" presName="node" presStyleLbl="node1" presStyleIdx="0" presStyleCnt="3">
        <dgm:presLayoutVars>
          <dgm:bulletEnabled val="1"/>
        </dgm:presLayoutVars>
      </dgm:prSet>
      <dgm:spPr/>
    </dgm:pt>
    <dgm:pt modelId="{E8D9E38B-AEC2-7142-8AC7-4742D3987D99}" type="pres">
      <dgm:prSet presAssocID="{02626E47-94C0-8640-AD93-57867D85193E}" presName="parTrans" presStyleLbl="bgSibTrans2D1" presStyleIdx="1" presStyleCnt="3"/>
      <dgm:spPr/>
    </dgm:pt>
    <dgm:pt modelId="{6A899607-3538-694C-A9DA-24CCB481F071}" type="pres">
      <dgm:prSet presAssocID="{75D687AA-5233-C14B-958D-C63552AC34C6}" presName="node" presStyleLbl="node1" presStyleIdx="1" presStyleCnt="3">
        <dgm:presLayoutVars>
          <dgm:bulletEnabled val="1"/>
        </dgm:presLayoutVars>
      </dgm:prSet>
      <dgm:spPr/>
    </dgm:pt>
    <dgm:pt modelId="{D99DF425-23D9-A240-9D06-DCE4E862012B}" type="pres">
      <dgm:prSet presAssocID="{E84D5EC9-3204-3545-8954-91D2A1B23F2B}" presName="parTrans" presStyleLbl="bgSibTrans2D1" presStyleIdx="2" presStyleCnt="3"/>
      <dgm:spPr/>
    </dgm:pt>
    <dgm:pt modelId="{D8D4DA00-C909-944F-B266-4CAFF7414E70}" type="pres">
      <dgm:prSet presAssocID="{DEF59021-0F15-374C-AAD3-212A0C807701}" presName="node" presStyleLbl="node1" presStyleIdx="2" presStyleCnt="3">
        <dgm:presLayoutVars>
          <dgm:bulletEnabled val="1"/>
        </dgm:presLayoutVars>
      </dgm:prSet>
      <dgm:spPr/>
    </dgm:pt>
  </dgm:ptLst>
  <dgm:cxnLst>
    <dgm:cxn modelId="{FE880D0D-2FD3-4847-8369-5924487FC7AA}" srcId="{E7DBF7B0-99A0-154D-83F7-8DC2A93CE799}" destId="{DEF59021-0F15-374C-AAD3-212A0C807701}" srcOrd="2" destOrd="0" parTransId="{E84D5EC9-3204-3545-8954-91D2A1B23F2B}" sibTransId="{E71B1BF3-FD64-8D41-80FF-12D163B2AD29}"/>
    <dgm:cxn modelId="{CDF0D345-A1FF-0445-A943-D60721E4A633}" type="presOf" srcId="{02626E47-94C0-8640-AD93-57867D85193E}" destId="{E8D9E38B-AEC2-7142-8AC7-4742D3987D99}" srcOrd="0" destOrd="0" presId="urn:microsoft.com/office/officeart/2005/8/layout/radial4"/>
    <dgm:cxn modelId="{B7C1D54B-957E-B040-BB7B-CAC2605ACAB6}" srcId="{E36D0898-FC86-B944-BBD7-90A2C231684C}" destId="{E7DBF7B0-99A0-154D-83F7-8DC2A93CE799}" srcOrd="0" destOrd="0" parTransId="{06296AF3-532D-3C49-A7E2-B65D5C3FA53B}" sibTransId="{78C3BFDC-2839-5A48-8EFB-D16FFF4D2260}"/>
    <dgm:cxn modelId="{0BC83074-0B65-CE4C-BE3D-40342E4AAFC7}" srcId="{E7DBF7B0-99A0-154D-83F7-8DC2A93CE799}" destId="{69080974-5A71-1647-BD60-347C11BDB3D0}" srcOrd="0" destOrd="0" parTransId="{DF1B5F8A-1BCD-9B4C-8A1E-D483D379FE10}" sibTransId="{AA3DDE46-27D3-C344-91EB-88316F7724EF}"/>
    <dgm:cxn modelId="{EEA37C56-2E24-CA42-8EA4-4F93328FE20E}" type="presOf" srcId="{69080974-5A71-1647-BD60-347C11BDB3D0}" destId="{FCAA78A1-A838-F64C-9634-8B2E3494FA7A}" srcOrd="0" destOrd="0" presId="urn:microsoft.com/office/officeart/2005/8/layout/radial4"/>
    <dgm:cxn modelId="{BFC81492-DD32-5848-831C-A58596C90976}" type="presOf" srcId="{DEF59021-0F15-374C-AAD3-212A0C807701}" destId="{D8D4DA00-C909-944F-B266-4CAFF7414E70}" srcOrd="0" destOrd="0" presId="urn:microsoft.com/office/officeart/2005/8/layout/radial4"/>
    <dgm:cxn modelId="{127CE694-9636-4340-B036-E37DA2977173}" type="presOf" srcId="{E7DBF7B0-99A0-154D-83F7-8DC2A93CE799}" destId="{B6D10E09-EFE8-EC46-8925-79DA52AA944F}" srcOrd="0" destOrd="0" presId="urn:microsoft.com/office/officeart/2005/8/layout/radial4"/>
    <dgm:cxn modelId="{89D13096-0808-444C-9739-33FE542A7C03}" type="presOf" srcId="{E84D5EC9-3204-3545-8954-91D2A1B23F2B}" destId="{D99DF425-23D9-A240-9D06-DCE4E862012B}" srcOrd="0" destOrd="0" presId="urn:microsoft.com/office/officeart/2005/8/layout/radial4"/>
    <dgm:cxn modelId="{03056EA2-8B81-6A43-A3C3-47A76B8176FA}" type="presOf" srcId="{E36D0898-FC86-B944-BBD7-90A2C231684C}" destId="{EA32A817-5998-5F46-A598-ED23E86CB5EC}" srcOrd="0" destOrd="0" presId="urn:microsoft.com/office/officeart/2005/8/layout/radial4"/>
    <dgm:cxn modelId="{E2AEB5AB-1F4E-F144-AAB1-DEADE7AD87FC}" srcId="{E7DBF7B0-99A0-154D-83F7-8DC2A93CE799}" destId="{75D687AA-5233-C14B-958D-C63552AC34C6}" srcOrd="1" destOrd="0" parTransId="{02626E47-94C0-8640-AD93-57867D85193E}" sibTransId="{9298B494-799C-724A-83D7-1780085BF74E}"/>
    <dgm:cxn modelId="{319BF7B2-0886-D247-91CF-1F3E6BA10763}" type="presOf" srcId="{75D687AA-5233-C14B-958D-C63552AC34C6}" destId="{6A899607-3538-694C-A9DA-24CCB481F071}" srcOrd="0" destOrd="0" presId="urn:microsoft.com/office/officeart/2005/8/layout/radial4"/>
    <dgm:cxn modelId="{EAAC76CA-22DE-9640-8460-55E06900E9FB}" type="presOf" srcId="{DF1B5F8A-1BCD-9B4C-8A1E-D483D379FE10}" destId="{CD91C6E4-2D03-7044-94A3-537B2FE61701}" srcOrd="0" destOrd="0" presId="urn:microsoft.com/office/officeart/2005/8/layout/radial4"/>
    <dgm:cxn modelId="{E3E86D25-92D0-224B-B543-5E109780DD70}" type="presParOf" srcId="{EA32A817-5998-5F46-A598-ED23E86CB5EC}" destId="{B6D10E09-EFE8-EC46-8925-79DA52AA944F}" srcOrd="0" destOrd="0" presId="urn:microsoft.com/office/officeart/2005/8/layout/radial4"/>
    <dgm:cxn modelId="{3387072B-D126-C647-B161-B7CC6842B34E}" type="presParOf" srcId="{EA32A817-5998-5F46-A598-ED23E86CB5EC}" destId="{CD91C6E4-2D03-7044-94A3-537B2FE61701}" srcOrd="1" destOrd="0" presId="urn:microsoft.com/office/officeart/2005/8/layout/radial4"/>
    <dgm:cxn modelId="{F7FEE9D5-C786-1147-8E38-5D3E3BE94DA4}" type="presParOf" srcId="{EA32A817-5998-5F46-A598-ED23E86CB5EC}" destId="{FCAA78A1-A838-F64C-9634-8B2E3494FA7A}" srcOrd="2" destOrd="0" presId="urn:microsoft.com/office/officeart/2005/8/layout/radial4"/>
    <dgm:cxn modelId="{D8AB89BF-CFF1-C04D-979F-818AABF7070E}" type="presParOf" srcId="{EA32A817-5998-5F46-A598-ED23E86CB5EC}" destId="{E8D9E38B-AEC2-7142-8AC7-4742D3987D99}" srcOrd="3" destOrd="0" presId="urn:microsoft.com/office/officeart/2005/8/layout/radial4"/>
    <dgm:cxn modelId="{A64931E0-0A0D-7D49-80D9-CDC4E294ACE9}" type="presParOf" srcId="{EA32A817-5998-5F46-A598-ED23E86CB5EC}" destId="{6A899607-3538-694C-A9DA-24CCB481F071}" srcOrd="4" destOrd="0" presId="urn:microsoft.com/office/officeart/2005/8/layout/radial4"/>
    <dgm:cxn modelId="{FD030041-9A52-EF4F-8290-A56CEDB0E00D}" type="presParOf" srcId="{EA32A817-5998-5F46-A598-ED23E86CB5EC}" destId="{D99DF425-23D9-A240-9D06-DCE4E862012B}" srcOrd="5" destOrd="0" presId="urn:microsoft.com/office/officeart/2005/8/layout/radial4"/>
    <dgm:cxn modelId="{5B7710BD-1D00-8B43-BEA0-7BBEEFE4DF2F}" type="presParOf" srcId="{EA32A817-5998-5F46-A598-ED23E86CB5EC}" destId="{D8D4DA00-C909-944F-B266-4CAFF7414E70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267E16-9383-9340-85B7-E102358A9675}" type="doc">
      <dgm:prSet loTypeId="urn:microsoft.com/office/officeart/2009/layout/Reverse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705A6E-A991-B542-A245-5A47E4779345}">
      <dgm:prSet phldrT="[Text]" custT="1"/>
      <dgm:spPr/>
      <dgm:t>
        <a:bodyPr/>
        <a:lstStyle/>
        <a:p>
          <a:r>
            <a:rPr lang="en-US" sz="1600" dirty="0"/>
            <a:t>Training</a:t>
          </a:r>
        </a:p>
      </dgm:t>
    </dgm:pt>
    <dgm:pt modelId="{86A24176-52F6-E343-8B32-D8653587F370}" type="parTrans" cxnId="{FA666A41-F49C-AB4B-B25F-91573A4FF766}">
      <dgm:prSet/>
      <dgm:spPr/>
      <dgm:t>
        <a:bodyPr/>
        <a:lstStyle/>
        <a:p>
          <a:endParaRPr lang="en-US" sz="2400"/>
        </a:p>
      </dgm:t>
    </dgm:pt>
    <dgm:pt modelId="{FE51F0E4-CBDF-3F4F-8134-8BFF384804E6}" type="sibTrans" cxnId="{FA666A41-F49C-AB4B-B25F-91573A4FF766}">
      <dgm:prSet/>
      <dgm:spPr/>
      <dgm:t>
        <a:bodyPr/>
        <a:lstStyle/>
        <a:p>
          <a:endParaRPr lang="en-US" sz="2400"/>
        </a:p>
      </dgm:t>
    </dgm:pt>
    <dgm:pt modelId="{185D9B17-CC9A-3842-A66A-A46792298853}">
      <dgm:prSet phldrT="[Text]" custT="1"/>
      <dgm:spPr/>
      <dgm:t>
        <a:bodyPr/>
        <a:lstStyle/>
        <a:p>
          <a:r>
            <a:rPr lang="en-US" sz="1600" dirty="0"/>
            <a:t>Testing</a:t>
          </a:r>
        </a:p>
      </dgm:t>
    </dgm:pt>
    <dgm:pt modelId="{CD430666-DFC8-D44D-B57F-A7CB768F887A}" type="parTrans" cxnId="{83F0CA38-E3A2-5D41-88A4-376EF849F597}">
      <dgm:prSet/>
      <dgm:spPr/>
      <dgm:t>
        <a:bodyPr/>
        <a:lstStyle/>
        <a:p>
          <a:endParaRPr lang="en-US" sz="2400"/>
        </a:p>
      </dgm:t>
    </dgm:pt>
    <dgm:pt modelId="{78C33AFF-4839-A04C-AFDE-AD6CBFA4FB34}" type="sibTrans" cxnId="{83F0CA38-E3A2-5D41-88A4-376EF849F597}">
      <dgm:prSet/>
      <dgm:spPr/>
      <dgm:t>
        <a:bodyPr/>
        <a:lstStyle/>
        <a:p>
          <a:endParaRPr lang="en-US" sz="2400"/>
        </a:p>
      </dgm:t>
    </dgm:pt>
    <dgm:pt modelId="{889E8128-36A6-6243-9DA2-EE4B51C75491}" type="pres">
      <dgm:prSet presAssocID="{92267E16-9383-9340-85B7-E102358A9675}" presName="Name0" presStyleCnt="0">
        <dgm:presLayoutVars>
          <dgm:chMax val="2"/>
          <dgm:chPref val="2"/>
          <dgm:animLvl val="lvl"/>
        </dgm:presLayoutVars>
      </dgm:prSet>
      <dgm:spPr/>
    </dgm:pt>
    <dgm:pt modelId="{9D184645-F2E6-D146-B8AC-AE186F285F8A}" type="pres">
      <dgm:prSet presAssocID="{92267E16-9383-9340-85B7-E102358A9675}" presName="LeftText" presStyleLbl="revTx" presStyleIdx="0" presStyleCnt="0">
        <dgm:presLayoutVars>
          <dgm:bulletEnabled val="1"/>
        </dgm:presLayoutVars>
      </dgm:prSet>
      <dgm:spPr/>
    </dgm:pt>
    <dgm:pt modelId="{A16752D3-58BE-A440-BEF9-3003E397F063}" type="pres">
      <dgm:prSet presAssocID="{92267E16-9383-9340-85B7-E102358A9675}" presName="LeftNode" presStyleLbl="bgImgPlace1" presStyleIdx="0" presStyleCnt="2">
        <dgm:presLayoutVars>
          <dgm:chMax val="2"/>
          <dgm:chPref val="2"/>
        </dgm:presLayoutVars>
      </dgm:prSet>
      <dgm:spPr/>
    </dgm:pt>
    <dgm:pt modelId="{D8BEEF96-EB48-F547-8DBB-234FF9064624}" type="pres">
      <dgm:prSet presAssocID="{92267E16-9383-9340-85B7-E102358A9675}" presName="RightText" presStyleLbl="revTx" presStyleIdx="0" presStyleCnt="0">
        <dgm:presLayoutVars>
          <dgm:bulletEnabled val="1"/>
        </dgm:presLayoutVars>
      </dgm:prSet>
      <dgm:spPr/>
    </dgm:pt>
    <dgm:pt modelId="{0EE8460D-46C1-F44A-9B47-F9665CCC36DD}" type="pres">
      <dgm:prSet presAssocID="{92267E16-9383-9340-85B7-E102358A9675}" presName="RightNode" presStyleLbl="bgImgPlace1" presStyleIdx="1" presStyleCnt="2">
        <dgm:presLayoutVars>
          <dgm:chMax val="0"/>
          <dgm:chPref val="0"/>
        </dgm:presLayoutVars>
      </dgm:prSet>
      <dgm:spPr/>
    </dgm:pt>
    <dgm:pt modelId="{4B20C9CB-720A-5848-A09F-F86B9B1C4E3A}" type="pres">
      <dgm:prSet presAssocID="{92267E16-9383-9340-85B7-E102358A9675}" presName="TopArrow" presStyleLbl="node1" presStyleIdx="0" presStyleCnt="2" custLinFactNeighborY="-5418"/>
      <dgm:spPr/>
    </dgm:pt>
    <dgm:pt modelId="{EC2B8442-3E13-3D4F-AAD4-7CDB9AF84146}" type="pres">
      <dgm:prSet presAssocID="{92267E16-9383-9340-85B7-E102358A9675}" presName="BottomArrow" presStyleLbl="node1" presStyleIdx="1" presStyleCnt="2"/>
      <dgm:spPr/>
    </dgm:pt>
  </dgm:ptLst>
  <dgm:cxnLst>
    <dgm:cxn modelId="{F2470A02-95DD-6A4E-B167-E489BA6372C3}" type="presOf" srcId="{AF705A6E-A991-B542-A245-5A47E4779345}" destId="{A16752D3-58BE-A440-BEF9-3003E397F063}" srcOrd="1" destOrd="0" presId="urn:microsoft.com/office/officeart/2009/layout/ReverseList"/>
    <dgm:cxn modelId="{83F0CA38-E3A2-5D41-88A4-376EF849F597}" srcId="{92267E16-9383-9340-85B7-E102358A9675}" destId="{185D9B17-CC9A-3842-A66A-A46792298853}" srcOrd="1" destOrd="0" parTransId="{CD430666-DFC8-D44D-B57F-A7CB768F887A}" sibTransId="{78C33AFF-4839-A04C-AFDE-AD6CBFA4FB34}"/>
    <dgm:cxn modelId="{FA666A41-F49C-AB4B-B25F-91573A4FF766}" srcId="{92267E16-9383-9340-85B7-E102358A9675}" destId="{AF705A6E-A991-B542-A245-5A47E4779345}" srcOrd="0" destOrd="0" parTransId="{86A24176-52F6-E343-8B32-D8653587F370}" sibTransId="{FE51F0E4-CBDF-3F4F-8134-8BFF384804E6}"/>
    <dgm:cxn modelId="{FF6ABA78-6D7D-E444-ABFE-71906D5DCFAC}" type="presOf" srcId="{AF705A6E-A991-B542-A245-5A47E4779345}" destId="{9D184645-F2E6-D146-B8AC-AE186F285F8A}" srcOrd="0" destOrd="0" presId="urn:microsoft.com/office/officeart/2009/layout/ReverseList"/>
    <dgm:cxn modelId="{988B8293-7A21-4344-BE18-DFFCD0C24D2B}" type="presOf" srcId="{92267E16-9383-9340-85B7-E102358A9675}" destId="{889E8128-36A6-6243-9DA2-EE4B51C75491}" srcOrd="0" destOrd="0" presId="urn:microsoft.com/office/officeart/2009/layout/ReverseList"/>
    <dgm:cxn modelId="{5718F8E8-2C94-8E49-8694-AF0EA35C1E28}" type="presOf" srcId="{185D9B17-CC9A-3842-A66A-A46792298853}" destId="{0EE8460D-46C1-F44A-9B47-F9665CCC36DD}" srcOrd="1" destOrd="0" presId="urn:microsoft.com/office/officeart/2009/layout/ReverseList"/>
    <dgm:cxn modelId="{1CBE3CFC-1B5E-0E42-B38D-8A16C7D42442}" type="presOf" srcId="{185D9B17-CC9A-3842-A66A-A46792298853}" destId="{D8BEEF96-EB48-F547-8DBB-234FF9064624}" srcOrd="0" destOrd="0" presId="urn:microsoft.com/office/officeart/2009/layout/ReverseList"/>
    <dgm:cxn modelId="{C754794F-2789-8247-88E7-C5B0197C1A7C}" type="presParOf" srcId="{889E8128-36A6-6243-9DA2-EE4B51C75491}" destId="{9D184645-F2E6-D146-B8AC-AE186F285F8A}" srcOrd="0" destOrd="0" presId="urn:microsoft.com/office/officeart/2009/layout/ReverseList"/>
    <dgm:cxn modelId="{65365C5B-E4C1-994B-B0A6-8C641CA79507}" type="presParOf" srcId="{889E8128-36A6-6243-9DA2-EE4B51C75491}" destId="{A16752D3-58BE-A440-BEF9-3003E397F063}" srcOrd="1" destOrd="0" presId="urn:microsoft.com/office/officeart/2009/layout/ReverseList"/>
    <dgm:cxn modelId="{43FD944D-53D9-124F-8432-3C8F9A555CE1}" type="presParOf" srcId="{889E8128-36A6-6243-9DA2-EE4B51C75491}" destId="{D8BEEF96-EB48-F547-8DBB-234FF9064624}" srcOrd="2" destOrd="0" presId="urn:microsoft.com/office/officeart/2009/layout/ReverseList"/>
    <dgm:cxn modelId="{D6E7591B-CAD4-364E-9887-0C5B1C2EF17F}" type="presParOf" srcId="{889E8128-36A6-6243-9DA2-EE4B51C75491}" destId="{0EE8460D-46C1-F44A-9B47-F9665CCC36DD}" srcOrd="3" destOrd="0" presId="urn:microsoft.com/office/officeart/2009/layout/ReverseList"/>
    <dgm:cxn modelId="{9B7BE311-BC75-C541-9E9C-5EE3BEA07A8D}" type="presParOf" srcId="{889E8128-36A6-6243-9DA2-EE4B51C75491}" destId="{4B20C9CB-720A-5848-A09F-F86B9B1C4E3A}" srcOrd="4" destOrd="0" presId="urn:microsoft.com/office/officeart/2009/layout/ReverseList"/>
    <dgm:cxn modelId="{5E87D69D-5AC4-2D41-BF07-A4C9D345A037}" type="presParOf" srcId="{889E8128-36A6-6243-9DA2-EE4B51C75491}" destId="{EC2B8442-3E13-3D4F-AAD4-7CDB9AF84146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9943B3-33F5-42EC-B3A8-86D150E0699C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30E3C-D1AE-493A-8117-EF80B42E22E4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1BF26-DD1D-4930-897B-26D0F73CD7FE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4000" kern="1200" dirty="0"/>
            <a:t>Data</a:t>
          </a:r>
        </a:p>
      </dsp:txBody>
      <dsp:txXfrm>
        <a:off x="75768" y="3053169"/>
        <a:ext cx="3093750" cy="720000"/>
      </dsp:txXfrm>
    </dsp:sp>
    <dsp:sp modelId="{9A3916C5-96AA-47A3-96FD-271BD2FACB92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E9527-816E-4F90-A52B-28661810D6F0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F1C95-6034-4405-B6D0-710AAB354338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4000" kern="1200" dirty="0"/>
            <a:t>Regression</a:t>
          </a:r>
        </a:p>
      </dsp:txBody>
      <dsp:txXfrm>
        <a:off x="3710925" y="3053169"/>
        <a:ext cx="3093750" cy="720000"/>
      </dsp:txXfrm>
    </dsp:sp>
    <dsp:sp modelId="{69C780A6-0A4D-4B48-B1B4-9641BFC9EFC4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89F2C-9D15-49C2-8151-9EE52777B978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000B0-A503-462C-9F89-CC077A263BAD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4000" kern="1200" dirty="0"/>
            <a:t>Intelligence</a:t>
          </a:r>
        </a:p>
      </dsp:txBody>
      <dsp:txXfrm>
        <a:off x="7346081" y="3053169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D10E09-EFE8-EC46-8925-79DA52AA944F}">
      <dsp:nvSpPr>
        <dsp:cNvPr id="0" name=""/>
        <dsp:cNvSpPr/>
      </dsp:nvSpPr>
      <dsp:spPr>
        <a:xfrm>
          <a:off x="2299617" y="2025994"/>
          <a:ext cx="1701685" cy="170168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Model</a:t>
          </a:r>
        </a:p>
      </dsp:txBody>
      <dsp:txXfrm>
        <a:off x="2548823" y="2275200"/>
        <a:ext cx="1203273" cy="1203273"/>
      </dsp:txXfrm>
    </dsp:sp>
    <dsp:sp modelId="{CD91C6E4-2D03-7044-94A3-537B2FE61701}">
      <dsp:nvSpPr>
        <dsp:cNvPr id="0" name=""/>
        <dsp:cNvSpPr/>
      </dsp:nvSpPr>
      <dsp:spPr>
        <a:xfrm rot="12914481">
          <a:off x="1222650" y="1727960"/>
          <a:ext cx="1289782" cy="4849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AA78A1-A838-F64C-9634-8B2E3494FA7A}">
      <dsp:nvSpPr>
        <dsp:cNvPr id="0" name=""/>
        <dsp:cNvSpPr/>
      </dsp:nvSpPr>
      <dsp:spPr>
        <a:xfrm>
          <a:off x="532540" y="951694"/>
          <a:ext cx="1616600" cy="12932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Inputs</a:t>
          </a:r>
        </a:p>
      </dsp:txBody>
      <dsp:txXfrm>
        <a:off x="570419" y="989573"/>
        <a:ext cx="1540842" cy="1217522"/>
      </dsp:txXfrm>
    </dsp:sp>
    <dsp:sp modelId="{E8D9E38B-AEC2-7142-8AC7-4742D3987D99}">
      <dsp:nvSpPr>
        <dsp:cNvPr id="0" name=""/>
        <dsp:cNvSpPr/>
      </dsp:nvSpPr>
      <dsp:spPr>
        <a:xfrm rot="16225095">
          <a:off x="2510769" y="1056536"/>
          <a:ext cx="1302415" cy="4849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899607-3538-694C-A9DA-24CCB481F071}">
      <dsp:nvSpPr>
        <dsp:cNvPr id="0" name=""/>
        <dsp:cNvSpPr/>
      </dsp:nvSpPr>
      <dsp:spPr>
        <a:xfrm>
          <a:off x="2358431" y="1195"/>
          <a:ext cx="1616600" cy="12932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Outputs</a:t>
          </a:r>
        </a:p>
      </dsp:txBody>
      <dsp:txXfrm>
        <a:off x="2396310" y="39074"/>
        <a:ext cx="1540842" cy="1217522"/>
      </dsp:txXfrm>
    </dsp:sp>
    <dsp:sp modelId="{D99DF425-23D9-A240-9D06-DCE4E862012B}">
      <dsp:nvSpPr>
        <dsp:cNvPr id="0" name=""/>
        <dsp:cNvSpPr/>
      </dsp:nvSpPr>
      <dsp:spPr>
        <a:xfrm rot="19514309">
          <a:off x="3794988" y="1730718"/>
          <a:ext cx="1314974" cy="48498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D4DA00-C909-944F-B266-4CAFF7414E70}">
      <dsp:nvSpPr>
        <dsp:cNvPr id="0" name=""/>
        <dsp:cNvSpPr/>
      </dsp:nvSpPr>
      <dsp:spPr>
        <a:xfrm>
          <a:off x="4184321" y="951694"/>
          <a:ext cx="1616600" cy="12932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Parameters</a:t>
          </a:r>
        </a:p>
      </dsp:txBody>
      <dsp:txXfrm>
        <a:off x="4222200" y="989573"/>
        <a:ext cx="1540842" cy="12175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6752D3-58BE-A440-BEF9-3003E397F063}">
      <dsp:nvSpPr>
        <dsp:cNvPr id="0" name=""/>
        <dsp:cNvSpPr/>
      </dsp:nvSpPr>
      <dsp:spPr>
        <a:xfrm rot="16200000">
          <a:off x="1154098" y="666264"/>
          <a:ext cx="1410828" cy="86216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101600" rIns="91440" bIns="1016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Training</a:t>
          </a:r>
        </a:p>
      </dsp:txBody>
      <dsp:txXfrm rot="5400000">
        <a:off x="1470525" y="434028"/>
        <a:ext cx="820070" cy="1326638"/>
      </dsp:txXfrm>
    </dsp:sp>
    <dsp:sp modelId="{0EE8460D-46C1-F44A-9B47-F9665CCC36DD}">
      <dsp:nvSpPr>
        <dsp:cNvPr id="0" name=""/>
        <dsp:cNvSpPr/>
      </dsp:nvSpPr>
      <dsp:spPr>
        <a:xfrm rot="5400000">
          <a:off x="2055413" y="666264"/>
          <a:ext cx="1410828" cy="86216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101600" rIns="60960" bIns="1016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Testing</a:t>
          </a:r>
        </a:p>
      </dsp:txBody>
      <dsp:txXfrm rot="-5400000">
        <a:off x="2329745" y="434028"/>
        <a:ext cx="820070" cy="1326638"/>
      </dsp:txXfrm>
    </dsp:sp>
    <dsp:sp modelId="{4B20C9CB-720A-5848-A09F-F86B9B1C4E3A}">
      <dsp:nvSpPr>
        <dsp:cNvPr id="0" name=""/>
        <dsp:cNvSpPr/>
      </dsp:nvSpPr>
      <dsp:spPr>
        <a:xfrm>
          <a:off x="1859424" y="-48830"/>
          <a:ext cx="901315" cy="901271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2B8442-3E13-3D4F-AAD4-7CDB9AF84146}">
      <dsp:nvSpPr>
        <dsp:cNvPr id="0" name=""/>
        <dsp:cNvSpPr/>
      </dsp:nvSpPr>
      <dsp:spPr>
        <a:xfrm rot="10800000">
          <a:off x="1859424" y="1293204"/>
          <a:ext cx="901315" cy="901271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9320-FBC5-4FFA-BC97-A191B357FA00}" type="datetimeFigureOut">
              <a:rPr lang="en-CA" smtClean="0"/>
              <a:t>2025-07-31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33AE-5818-4B6A-BA4E-9AC96301BF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027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unsupervised learning task is clustering: detecting potentially useful clusters of input examples. For example, when shown millions of images taken from the Internet, a computer vision system can identify a large cluster of similar images which an English speaker would call “cats.”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33AE-5818-4B6A-BA4E-9AC96301BF7A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8606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33AE-5818-4B6A-BA4E-9AC96301BF7A}" type="slidenum">
              <a:rPr lang="en-CA" smtClean="0"/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9880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43BF-199F-4343-8473-83DC5940C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D0217-F558-4853-8381-626449444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9DCA-3399-4DB4-9C5A-4166714F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B6FD4-E3F8-4BC6-96D5-5B16E66E9030}" type="datetime1">
              <a:rPr lang="en-CA" smtClean="0"/>
              <a:t>2025-07-31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441E-525F-4002-AA9D-213BDA90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9B74-FD22-4853-AC23-ACD69759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37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0305-6CAF-46F5-817A-05FC0D13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95CBE-A552-4793-9294-368F5DD25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2ED7F-A232-4741-94FE-20C29FF23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47D3-1F87-46E2-8930-4ADE25DD866F}" type="datetime1">
              <a:rPr lang="en-CA" smtClean="0"/>
              <a:t>2025-07-31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30591-A332-4697-BB33-1E6B58F8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C393B-52FC-4921-A3C8-DE253383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742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F6EC-7FCC-475A-A736-7F20FB706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47BCB-61CB-4ACB-82D0-2A563E4BC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76033-BACC-41EE-BB72-036C57E6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2618-6B55-4752-8143-D8DC01327273}" type="datetime1">
              <a:rPr lang="en-CA" smtClean="0"/>
              <a:t>2025-07-31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13154-9625-4610-88BC-103E922D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CBA15-2787-43D2-A61B-7B160A35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655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4596-9ED5-4303-8210-0BEECF48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E1DC3-7376-4B9B-ABFB-FC7F26716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EA62D-F874-4596-918B-5D5B83433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3F967-4F88-48AF-905B-B98B62B6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26421-6E0A-4411-A6B2-71961C135E1E}" type="datetime1">
              <a:rPr lang="en-CA" smtClean="0"/>
              <a:t>2025-07-31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5978E-25D5-41C8-A671-32B6EDBF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2E423-2125-4B33-AC3F-B5A4C51EC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50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55F2-D34F-499C-92C0-675D375CD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F43AF-2344-46E7-B153-683BD1091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B7397-928B-48FC-A715-E150D3DAB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B4FE6-2A03-4521-93E4-4D75E987D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83F09-DEA9-45FF-AB8F-C5C90BCEB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5741E0-1861-4087-BBDD-546526D3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5EE1-6B59-4605-8ECA-A930D9A97277}" type="datetime1">
              <a:rPr lang="en-CA" smtClean="0"/>
              <a:t>2025-07-31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656A77-E850-4E64-87E0-D57112B79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B6E23-5828-4DF9-B92E-1892DDEA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46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3AC0-40FF-4B80-8A01-79499A93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51AA6-7266-489E-9A4E-727D83D5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E8D4-0600-4584-84FA-B494AFD70CEB}" type="datetime1">
              <a:rPr lang="en-CA" smtClean="0"/>
              <a:t>2025-07-31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A031B-33BF-4C05-BE78-50FD4152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780F9-B404-4C47-AB01-BAC58CF0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647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49F50-3A18-467B-9DBB-BB518816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E40-6199-4E8F-9D27-23D1EC23C64B}" type="datetime1">
              <a:rPr lang="en-CA" smtClean="0"/>
              <a:t>2025-07-31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B9492-17A7-4B08-96E3-33F2EB3D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00FAC-F3D6-4850-B282-FD2C8631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371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6027-D562-412F-9788-8CCB942D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176D-096C-48C7-8679-7075C14DD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28554-B3F7-4A84-A313-7B3200580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83103-547A-4FCF-98E8-7EE20F7B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2CAD2-0C1C-4FE5-83F2-9A975AAA44DD}" type="datetime1">
              <a:rPr lang="en-CA" smtClean="0"/>
              <a:t>2025-07-31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0D18-4C1D-40BA-8515-8A2F2A04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40C43-8738-4E98-A431-19D9FCC8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88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A860-9D13-4581-9FEC-E20FEB80D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25DCF-745B-4B6A-ABDB-D7DED567F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04976-4889-4F97-A26A-BC170B19C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00ADD-465A-4A04-A60B-BADA6513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4716-E2F8-4BC0-82C0-43503CDABC44}" type="datetime1">
              <a:rPr lang="en-CA" smtClean="0"/>
              <a:t>2025-07-31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64A08-18E0-4C62-9485-74C5108A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9D19C-8C8D-43FD-BB39-BD06C4E8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188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9CD4-DE09-4B86-9BCD-C90EBF1C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17038-5F95-4B1E-A831-021AC0CE4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002ED-E97A-4C54-BB1D-9F6F3E1F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BA91-DE5E-4096-97D4-92D61977373C}" type="datetime1">
              <a:rPr lang="en-CA" smtClean="0"/>
              <a:t>2025-07-31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B9354-8AB0-4692-9AC7-BFF90C67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5BAE3-EA27-43A1-ACB6-E771709B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694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781DA-DE43-4757-8DBC-FFEA19C8C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100E9-DA3B-4EDC-9574-4EEEA9C47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C65FF-605E-406E-B884-A3A55E08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440B-DBBA-4CDC-AF70-796421F5C549}" type="datetime1">
              <a:rPr lang="en-CA" smtClean="0"/>
              <a:t>2025-07-31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00D4E-B1A0-480F-8E88-08CC5CB4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24B70-CAB6-4DB8-BD0B-4903EE48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8904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395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9366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982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199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0900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266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79904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354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627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239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985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0967D-2D23-4CC6-AC3A-FFF4AB71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7E6AA-96C1-46A4-BC1A-0CB368FD1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06CE3-44BA-40B6-9D3F-8E31E7C28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8AB8D-3D38-41A1-8C09-D6731EA6C91E}" type="datetime1">
              <a:rPr lang="en-CA" smtClean="0"/>
              <a:t>2025-07-31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0F003-CCE6-44D8-B2D6-1B2556E86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5AE1D-5B6D-4C39-8C0F-4AB15773F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49DD-9EE2-4342-8B02-2B18EB8B7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334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38E02C8D-A857-8549-AE34-226E7EAADCF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7/31/2025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A39224-D01A-C94A-A029-89FC120BDCA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852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8/01/the-role-of-big-data-in-strengthening-machine-learning-projects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gi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10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1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1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1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1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1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118.png"/><Relationship Id="rId4" Type="http://schemas.openxmlformats.org/officeDocument/2006/relationships/image" Target="../media/image11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119.png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7C7E-C165-37CD-D02E-FA1452CE6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Regression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113BD-2F7F-8AAA-4E17-9B18D0C57D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081E0-0296-03EE-3928-D84BC881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97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E15A-389D-3AF6-212D-4F7E2D14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Machine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AC3DB-A286-A0C6-ECD9-6116C11FF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8C3BA-1119-6003-CC02-2A2F152A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06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"/>
            <a:ext cx="12192000" cy="63746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5398" y="1074490"/>
            <a:ext cx="5601399" cy="5632921"/>
          </a:xfrm>
          <a:prstGeom prst="rect">
            <a:avLst/>
          </a:prstGeom>
          <a:noFill/>
          <a:ln w="28575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63435" y="632562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medium.com</a:t>
            </a:r>
            <a:r>
              <a:rPr lang="en-US" sz="1400" dirty="0"/>
              <a:t>/@dkatzman_3920/supervised-vs-unsupervised-learning-and-use-cases-for-each-8b9cc3ebd301</a:t>
            </a:r>
          </a:p>
        </p:txBody>
      </p:sp>
    </p:spTree>
    <p:extLst>
      <p:ext uri="{BB962C8B-B14F-4D97-AF65-F5344CB8AC3E}">
        <p14:creationId xmlns:p14="http://schemas.microsoft.com/office/powerpoint/2010/main" val="388844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724" y="186046"/>
            <a:ext cx="4290989" cy="1325563"/>
          </a:xfrm>
        </p:spPr>
        <p:txBody>
          <a:bodyPr/>
          <a:lstStyle/>
          <a:p>
            <a:r>
              <a:rPr lang="en-US" dirty="0"/>
              <a:t>Learning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4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8056"/>
            <a:ext cx="7050600" cy="35531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733" y="0"/>
            <a:ext cx="5040711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42097" y="162801"/>
            <a:ext cx="1758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supervised</a:t>
            </a:r>
          </a:p>
        </p:txBody>
      </p:sp>
    </p:spTree>
    <p:extLst>
      <p:ext uri="{BB962C8B-B14F-4D97-AF65-F5344CB8AC3E}">
        <p14:creationId xmlns:p14="http://schemas.microsoft.com/office/powerpoint/2010/main" val="8846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B7E95-C4B8-44CD-9DAB-BE7D1413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Types of Learning Problems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b="1" dirty="0">
                <a:solidFill>
                  <a:srgbClr val="FF0000"/>
                </a:solidFill>
              </a:rPr>
              <a:t>Supervised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C27F-00B6-404F-BC75-5B64DF0A6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5" y="801866"/>
            <a:ext cx="5306084" cy="523063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The agent observes input-output pairs and learns a function that maps from input to output</a:t>
            </a:r>
          </a:p>
          <a:p>
            <a:pPr marL="0" indent="0">
              <a:buNone/>
            </a:pPr>
            <a:endParaRPr lang="en-US" sz="36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The output is called a </a:t>
            </a:r>
            <a:r>
              <a:rPr lang="en-US" sz="3600" dirty="0">
                <a:solidFill>
                  <a:srgbClr val="0070C0"/>
                </a:solidFill>
              </a:rPr>
              <a:t>label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3A10-95EC-4E5D-A2B2-C4E2224A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221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B7E95-C4B8-44CD-9DAB-BE7D1413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Types of Learning Problems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b="1" dirty="0">
                <a:solidFill>
                  <a:srgbClr val="FF0000"/>
                </a:solidFill>
              </a:rPr>
              <a:t>Unsupervised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C27F-00B6-404F-BC75-5B64DF0A6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5" y="801866"/>
            <a:ext cx="5306084" cy="523063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The agent learns patterns in the input without any explicit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3A10-95EC-4E5D-A2B2-C4E2224A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675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B7E95-C4B8-44CD-9DAB-BE7D1413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4065748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Types of Learning Problems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b="1" dirty="0">
                <a:solidFill>
                  <a:srgbClr val="FF0000"/>
                </a:solidFill>
              </a:rPr>
              <a:t>Reinforcement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C27F-00B6-404F-BC75-5B64DF0A6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828" y="81402"/>
            <a:ext cx="7404757" cy="330486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The agent learns from a series of reinforcements: rewards and punishments. 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For example, at the end of a chess game the agent is told that it has won (a reward) or lost (a punishment)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3A10-95EC-4E5D-A2B2-C4E2224A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7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053" y="3713564"/>
            <a:ext cx="5295649" cy="306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4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B7E95-C4B8-44CD-9DAB-BE7D1413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Types of Learning Problems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b="1" dirty="0">
                <a:solidFill>
                  <a:srgbClr val="FF0000"/>
                </a:solidFill>
              </a:rPr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C27F-00B6-404F-BC75-5B64DF0A6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5" y="801866"/>
            <a:ext cx="5306084" cy="523063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The output is a number (such as tomorrow’s temperature)</a:t>
            </a:r>
            <a:endParaRPr lang="en-CA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3A10-95EC-4E5D-A2B2-C4E2224A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8</a:t>
            </a:fld>
            <a:endParaRPr lang="en-CA"/>
          </a:p>
        </p:txBody>
      </p:sp>
      <p:sp>
        <p:nvSpPr>
          <p:cNvPr id="5" name="TextBox 4"/>
          <p:cNvSpPr txBox="1"/>
          <p:nvPr/>
        </p:nvSpPr>
        <p:spPr>
          <a:xfrm>
            <a:off x="9199974" y="179083"/>
            <a:ext cx="26965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Supervised</a:t>
            </a:r>
          </a:p>
        </p:txBody>
      </p:sp>
    </p:spTree>
    <p:extLst>
      <p:ext uri="{BB962C8B-B14F-4D97-AF65-F5344CB8AC3E}">
        <p14:creationId xmlns:p14="http://schemas.microsoft.com/office/powerpoint/2010/main" val="309281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B7E95-C4B8-44CD-9DAB-BE7D1413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Types of Learning Problems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b="1" dirty="0">
                <a:solidFill>
                  <a:srgbClr val="FF0000"/>
                </a:solidFill>
              </a:rPr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C27F-00B6-404F-BC75-5B64DF0A6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5" y="801866"/>
            <a:ext cx="5306084" cy="523063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The output is one of a finite set of values (such as sunny/cloudy/rainy or true/false)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3A10-95EC-4E5D-A2B2-C4E2224A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9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9199974" y="179083"/>
            <a:ext cx="26965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Supervised</a:t>
            </a:r>
          </a:p>
        </p:txBody>
      </p:sp>
    </p:spTree>
    <p:extLst>
      <p:ext uri="{BB962C8B-B14F-4D97-AF65-F5344CB8AC3E}">
        <p14:creationId xmlns:p14="http://schemas.microsoft.com/office/powerpoint/2010/main" val="1260571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10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0" y="32565"/>
            <a:ext cx="5404189" cy="28652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79322" y="6488669"/>
            <a:ext cx="71126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https://www.guru99.com/supervised-</a:t>
            </a:r>
            <a:r>
              <a:rPr lang="en-US" dirty="0" err="1"/>
              <a:t>vs</a:t>
            </a:r>
            <a:r>
              <a:rPr lang="en-US" dirty="0"/>
              <a:t>-unsupervised-</a:t>
            </a:r>
            <a:r>
              <a:rPr lang="en-US" dirty="0" err="1"/>
              <a:t>learning.html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65" y="4038859"/>
            <a:ext cx="3566008" cy="26197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044" y="4949157"/>
            <a:ext cx="2702381" cy="16098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7057" y="2906837"/>
            <a:ext cx="4282467" cy="34536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025" y="2"/>
            <a:ext cx="5916547" cy="28325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620" y="3060662"/>
            <a:ext cx="3776369" cy="16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7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264897-6B3F-4B60-AEE0-24694B362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1" y="0"/>
            <a:ext cx="9102275" cy="4102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55A2B2-D51F-458E-8250-8357BCB7DA4F}"/>
              </a:ext>
            </a:extLst>
          </p:cNvPr>
          <p:cNvSpPr txBox="1"/>
          <p:nvPr/>
        </p:nvSpPr>
        <p:spPr>
          <a:xfrm>
            <a:off x="178176" y="4303456"/>
            <a:ext cx="73446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50"/>
                </a:solidFill>
              </a:rPr>
              <a:t>What is the market value?</a:t>
            </a:r>
          </a:p>
          <a:p>
            <a:r>
              <a:rPr lang="en-CA" sz="3200" b="1" dirty="0">
                <a:solidFill>
                  <a:srgbClr val="00B050"/>
                </a:solidFill>
              </a:rPr>
              <a:t>Output/Target: Price</a:t>
            </a:r>
          </a:p>
          <a:p>
            <a:r>
              <a:rPr lang="en-CA" sz="3200" dirty="0">
                <a:solidFill>
                  <a:srgbClr val="FF0000"/>
                </a:solidFill>
              </a:rPr>
              <a:t>Inputs/Features/Attributes/Properties ?</a:t>
            </a:r>
          </a:p>
          <a:p>
            <a:r>
              <a:rPr lang="en-CA" sz="3200" dirty="0">
                <a:solidFill>
                  <a:srgbClr val="FF0000"/>
                </a:solidFill>
              </a:rPr>
              <a:t># of Beds, baths, sq ft, year built, yard size, 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482A15-37C0-4453-A9BB-59D202FC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11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708" y="3497889"/>
            <a:ext cx="4358221" cy="29001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14742" y="134833"/>
            <a:ext cx="59305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4400" dirty="0"/>
              <a:t>Sell or purchase a house!</a:t>
            </a:r>
          </a:p>
        </p:txBody>
      </p:sp>
    </p:spTree>
    <p:extLst>
      <p:ext uri="{BB962C8B-B14F-4D97-AF65-F5344CB8AC3E}">
        <p14:creationId xmlns:p14="http://schemas.microsoft.com/office/powerpoint/2010/main" val="136746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2178BEA-5422-4577-A0E2-D284CB6EF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689251"/>
              </p:ext>
            </p:extLst>
          </p:nvPr>
        </p:nvGraphicFramePr>
        <p:xfrm>
          <a:off x="838200" y="21512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5240BEF7-215D-494F-8D99-7D0CED4944F7}"/>
              </a:ext>
            </a:extLst>
          </p:cNvPr>
          <p:cNvSpPr/>
          <p:nvPr/>
        </p:nvSpPr>
        <p:spPr>
          <a:xfrm>
            <a:off x="3414713" y="3480621"/>
            <a:ext cx="1757363" cy="431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1A5C1C6-D6C4-4A3F-8B1E-A2C029DB0D7B}"/>
              </a:ext>
            </a:extLst>
          </p:cNvPr>
          <p:cNvSpPr/>
          <p:nvPr/>
        </p:nvSpPr>
        <p:spPr>
          <a:xfrm>
            <a:off x="7019926" y="3441179"/>
            <a:ext cx="1757363" cy="431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EBF16F-5F93-4166-89EA-618BF877FB10}"/>
              </a:ext>
            </a:extLst>
          </p:cNvPr>
          <p:cNvCxnSpPr>
            <a:cxnSpLocks/>
          </p:cNvCxnSpPr>
          <p:nvPr/>
        </p:nvCxnSpPr>
        <p:spPr>
          <a:xfrm flipH="1">
            <a:off x="3993357" y="3140968"/>
            <a:ext cx="14412" cy="359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6DB66D-BCB0-454D-BDFA-88E1388A856E}"/>
              </a:ext>
            </a:extLst>
          </p:cNvPr>
          <p:cNvSpPr txBox="1"/>
          <p:nvPr/>
        </p:nvSpPr>
        <p:spPr>
          <a:xfrm>
            <a:off x="3544983" y="1587196"/>
            <a:ext cx="14686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FF0000"/>
                </a:solidFill>
              </a:rPr>
              <a:t>Input: </a:t>
            </a:r>
            <a:r>
              <a:rPr lang="en-CA" sz="2400" b="1" dirty="0">
                <a:solidFill>
                  <a:srgbClr val="FF0000"/>
                </a:solidFill>
              </a:rPr>
              <a:t>x</a:t>
            </a:r>
          </a:p>
          <a:p>
            <a:r>
              <a:rPr lang="en-CA" sz="2400" dirty="0">
                <a:solidFill>
                  <a:srgbClr val="00B0F0"/>
                </a:solidFill>
              </a:rPr>
              <a:t>Features derived from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2EF0B-6C0B-4D9B-A246-F15BB38DE518}"/>
              </a:ext>
            </a:extLst>
          </p:cNvPr>
          <p:cNvSpPr txBox="1"/>
          <p:nvPr/>
        </p:nvSpPr>
        <p:spPr>
          <a:xfrm>
            <a:off x="4110357" y="5779290"/>
            <a:ext cx="417195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</a:rPr>
              <a:t>Learn x to y relationship</a:t>
            </a:r>
            <a:endParaRPr lang="en-CA" sz="3200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7E7ED2-7729-4253-ABC3-47EA3220B34A}"/>
              </a:ext>
            </a:extLst>
          </p:cNvPr>
          <p:cNvCxnSpPr>
            <a:cxnSpLocks/>
          </p:cNvCxnSpPr>
          <p:nvPr/>
        </p:nvCxnSpPr>
        <p:spPr>
          <a:xfrm>
            <a:off x="9675019" y="2194692"/>
            <a:ext cx="0" cy="785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20D23B-52E8-47E2-A57D-B2DBB147909B}"/>
              </a:ext>
            </a:extLst>
          </p:cNvPr>
          <p:cNvSpPr txBox="1"/>
          <p:nvPr/>
        </p:nvSpPr>
        <p:spPr>
          <a:xfrm>
            <a:off x="8777289" y="1566451"/>
            <a:ext cx="180498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</a:rPr>
              <a:t>Predict: 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36DCC-EC4F-460C-A076-AA56C0037031}"/>
              </a:ext>
            </a:extLst>
          </p:cNvPr>
          <p:cNvSpPr txBox="1"/>
          <p:nvPr/>
        </p:nvSpPr>
        <p:spPr>
          <a:xfrm>
            <a:off x="8423344" y="1060031"/>
            <a:ext cx="251892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0070C0"/>
                </a:solidFill>
              </a:rPr>
              <a:t>y is numerical</a:t>
            </a:r>
            <a:endParaRPr lang="en-CA" sz="3200" b="1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E93A76-554A-45A7-BCD3-5F9B63F5CE34}"/>
              </a:ext>
            </a:extLst>
          </p:cNvPr>
          <p:cNvSpPr txBox="1"/>
          <p:nvPr/>
        </p:nvSpPr>
        <p:spPr>
          <a:xfrm>
            <a:off x="3414712" y="6298236"/>
            <a:ext cx="57912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00B0F0"/>
                </a:solidFill>
              </a:rPr>
              <a:t>Assumption: y is dependent on 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4930F6-7044-4703-8294-03CBD8A06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12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74A2AB-3466-4B34-B8F2-540D881FB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8855"/>
            <a:ext cx="6754441" cy="15377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60838" y="2"/>
            <a:ext cx="19311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316904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14DE7FB2-950D-4BAA-AB4E-4F7209F13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7727" y="920833"/>
            <a:ext cx="11694724" cy="5379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B558D0-00C6-48A9-9A2C-E32075D71DCD}"/>
              </a:ext>
            </a:extLst>
          </p:cNvPr>
          <p:cNvSpPr txBox="1"/>
          <p:nvPr/>
        </p:nvSpPr>
        <p:spPr>
          <a:xfrm>
            <a:off x="9106839" y="5737111"/>
            <a:ext cx="244169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s://technofaq.org/posts/2018/01/the-role-of-big-data-in-strengthening-machine-learning-project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1427F-6717-4898-A605-F8185F35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5508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43" y="2346589"/>
            <a:ext cx="7987261" cy="4351338"/>
          </a:xfrm>
        </p:spPr>
        <p:txBody>
          <a:bodyPr/>
          <a:lstStyle/>
          <a:p>
            <a:r>
              <a:rPr lang="en-US" dirty="0"/>
              <a:t>What are INPUTS?</a:t>
            </a:r>
          </a:p>
          <a:p>
            <a:r>
              <a:rPr lang="en-US" dirty="0"/>
              <a:t>What are OUTPUTS?</a:t>
            </a:r>
          </a:p>
          <a:p>
            <a:r>
              <a:rPr lang="en-US" dirty="0"/>
              <a:t>What are the adjustable parameters?</a:t>
            </a:r>
          </a:p>
          <a:p>
            <a:r>
              <a:rPr lang="en-US" dirty="0"/>
              <a:t> How to find the adjustable parameters?</a:t>
            </a:r>
          </a:p>
          <a:p>
            <a:r>
              <a:rPr lang="en-US" dirty="0"/>
              <a:t>Findings adjustable Parameters is called TRAINING</a:t>
            </a:r>
          </a:p>
          <a:p>
            <a:r>
              <a:rPr lang="en-US" dirty="0"/>
              <a:t>Findings OUTPUTS for new INPUTS is called TESTING</a:t>
            </a:r>
          </a:p>
          <a:p>
            <a:r>
              <a:rPr lang="en-US" dirty="0"/>
              <a:t>What is the generalization test ?</a:t>
            </a:r>
          </a:p>
          <a:p>
            <a:r>
              <a:rPr lang="en-US" dirty="0"/>
              <a:t>(Performance during TESTING)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14</a:t>
            </a:fld>
            <a:endParaRPr lang="en-CA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668777451"/>
              </p:ext>
            </p:extLst>
          </p:nvPr>
        </p:nvGraphicFramePr>
        <p:xfrm>
          <a:off x="5760841" y="374442"/>
          <a:ext cx="6333463" cy="372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0418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74456-FC61-1D4D-B01C-0009FA96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Splits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6BCF0-BA1B-ADC9-60F7-016BDFDBD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DBEF9-B902-1A33-424E-AE1C61CA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8679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16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3740"/>
            <a:ext cx="12039600" cy="6261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8648" y="2"/>
            <a:ext cx="3643352" cy="1325563"/>
          </a:xfrm>
        </p:spPr>
        <p:txBody>
          <a:bodyPr/>
          <a:lstStyle/>
          <a:p>
            <a:r>
              <a:rPr lang="en-US" dirty="0"/>
              <a:t>Data Splitting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0335" y="976807"/>
            <a:ext cx="3112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6600"/>
                </a:solidFill>
              </a:rPr>
              <a:t>To avoid </a:t>
            </a:r>
            <a:r>
              <a:rPr lang="en-US" sz="2800" b="1" dirty="0" err="1">
                <a:solidFill>
                  <a:srgbClr val="FF6600"/>
                </a:solidFill>
              </a:rPr>
              <a:t>overfitting</a:t>
            </a:r>
            <a:endParaRPr lang="en-US" sz="2800" b="1" dirty="0">
              <a:solidFill>
                <a:srgbClr val="FF6600"/>
              </a:solidFill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75684875"/>
              </p:ext>
            </p:extLst>
          </p:nvPr>
        </p:nvGraphicFramePr>
        <p:xfrm>
          <a:off x="7571659" y="2705840"/>
          <a:ext cx="4620341" cy="2194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39269" y="2116418"/>
            <a:ext cx="3975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many models and select the best</a:t>
            </a:r>
          </a:p>
          <a:p>
            <a:r>
              <a:rPr lang="en-US" dirty="0"/>
              <a:t>Unless training and testing sets are fixed</a:t>
            </a:r>
          </a:p>
        </p:txBody>
      </p:sp>
    </p:spTree>
    <p:extLst>
      <p:ext uri="{BB962C8B-B14F-4D97-AF65-F5344CB8AC3E}">
        <p14:creationId xmlns:p14="http://schemas.microsoft.com/office/powerpoint/2010/main" val="128838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79126"/>
          </a:xfrm>
        </p:spPr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17</a:t>
            </a:fld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419293" y="856359"/>
            <a:ext cx="11772708" cy="600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b="1" dirty="0"/>
              <a:t>Training Set: </a:t>
            </a:r>
          </a:p>
          <a:p>
            <a:r>
              <a:rPr lang="en-US" sz="3200" dirty="0"/>
              <a:t>	Here, you have the complete training dataset. You can extract 	features and train to fit a model and so on.</a:t>
            </a:r>
          </a:p>
          <a:p>
            <a:pPr marL="457200" indent="-457200">
              <a:buFont typeface="Arial"/>
              <a:buChar char="•"/>
            </a:pPr>
            <a:r>
              <a:rPr lang="en-US" sz="3200" b="1" dirty="0"/>
              <a:t>Validation Set (fine tuning): </a:t>
            </a:r>
          </a:p>
          <a:p>
            <a:r>
              <a:rPr lang="en-US" sz="3200" dirty="0"/>
              <a:t>	This is crucial to choose the right parameters for your estimator. 	We can divide the training set into a train set and validation set. 	Based on the validation test results, the model can be 	trained(for instance, changing parameters, classifiers). This will 	help us get the most optimized model.</a:t>
            </a:r>
          </a:p>
          <a:p>
            <a:pPr marL="457200" indent="-457200">
              <a:buFont typeface="Arial"/>
              <a:buChar char="•"/>
            </a:pPr>
            <a:r>
              <a:rPr lang="en-US" sz="3200" b="1" dirty="0"/>
              <a:t>Testing Set: </a:t>
            </a:r>
          </a:p>
          <a:p>
            <a:r>
              <a:rPr lang="en-US" sz="3200" dirty="0"/>
              <a:t>	Here, once the model is obtained, you can predict using the 	model obtained on the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4112765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18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21" y="0"/>
            <a:ext cx="4893579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724" y="0"/>
            <a:ext cx="4541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61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19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6" y="0"/>
            <a:ext cx="4849091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0074" y="6550224"/>
            <a:ext cx="72419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towardsdatascience.com</a:t>
            </a:r>
            <a:r>
              <a:rPr lang="en-US" sz="1400" dirty="0"/>
              <a:t>/how-to-build-a-machine-learning-model-439ab8fb3fb1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071" y="56228"/>
            <a:ext cx="6075392" cy="21090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425" y="4327336"/>
            <a:ext cx="3008076" cy="22466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4548" y="2163720"/>
            <a:ext cx="4457509" cy="253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0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6E9C-CA4B-E1C7-C9D2-0001AB84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91869-36A1-711C-5362-E2CDE7532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709BC-25F3-9A65-D9CB-8811BBC5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1966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D158A-C636-4DBF-AF33-09B50F97C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1833-ADE5-47D4-B972-C8A4E4078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6140449" cy="28622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Our assumption of how the world works (process that generated the data)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3CBDBE1-B300-4C21-9F06-E127BB316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EBCA523-1BD1-4D5D-B427-8C329C4EE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A049276B-6C4C-4A4E-AF63-6A54348B52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326F8B1-A013-4590-B8BA-A294E3B9B1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9A2027A-1422-4C0B-B855-07B9F92A7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5FD7551-23BB-489D-B839-1F9B49FFE3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1DDEA6D9-5283-4A19-B6BE-898029BCCF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68" y="4921528"/>
            <a:ext cx="3550110" cy="10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00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18318"/>
            <a:ext cx="5294716" cy="3021361"/>
          </a:xfrm>
          <a:prstGeom prst="rect">
            <a:avLst/>
          </a:prstGeom>
        </p:spPr>
      </p:pic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41C0AB9-2B5D-BC76-0842-C30F11EC4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450100"/>
            <a:ext cx="5294715" cy="39577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DB7AC-C173-4449-826A-B0055699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32049DD-9EE2-4342-8B02-2B18EB8B7024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0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9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DD158A-C636-4DBF-AF33-09B50F97C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643575"/>
            <a:ext cx="6105195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Simple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1833-ADE5-47D4-B972-C8A4E4078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755" y="2788588"/>
            <a:ext cx="7017471" cy="133028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buNone/>
            </a:pP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Single input and the input-output relationship is a </a:t>
            </a:r>
            <a:r>
              <a:rPr lang="en-US" sz="5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straight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32C8E2-D6CC-4885-8F4C-F33F7BD89479}"/>
                  </a:ext>
                </a:extLst>
              </p:cNvPr>
              <p:cNvSpPr txBox="1"/>
              <p:nvPr/>
            </p:nvSpPr>
            <p:spPr>
              <a:xfrm>
                <a:off x="3038805" y="797612"/>
                <a:ext cx="6105195" cy="203105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endParaRPr lang="en-US" sz="6000" b="0" kern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endParaRPr>
              </a:p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endParaRPr lang="en-US" sz="6000" b="0" kern="12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32C8E2-D6CC-4885-8F4C-F33F7BD89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806" y="797610"/>
                <a:ext cx="6105194" cy="20310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E858-BCB1-407D-B91E-12C420B6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23</a:t>
            </a:fld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5856672" y="4493414"/>
            <a:ext cx="5859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What can change and cannot change 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9" y="4665606"/>
            <a:ext cx="49022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38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66" y="86582"/>
            <a:ext cx="7158604" cy="875881"/>
          </a:xfrm>
        </p:spPr>
        <p:txBody>
          <a:bodyPr/>
          <a:lstStyle/>
          <a:p>
            <a:r>
              <a:rPr lang="en-US" dirty="0"/>
              <a:t>Simple Search -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24</a:t>
            </a:fld>
            <a:endParaRPr lang="en-CA"/>
          </a:p>
        </p:txBody>
      </p:sp>
      <p:pic>
        <p:nvPicPr>
          <p:cNvPr id="6" name="Picture 5" descr="reg_simualtion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64" y="1092623"/>
            <a:ext cx="10613603" cy="558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77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2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8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5" y="6115503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Content Placeholder 33" descr="A close up of a map&#10;&#10;Description automatically generated">
            <a:extLst>
              <a:ext uri="{FF2B5EF4-FFF2-40B4-BE49-F238E27FC236}">
                <a16:creationId xmlns:a16="http://schemas.microsoft.com/office/drawing/2014/main" id="{17DB42D4-EC60-4D50-B0FA-C5C6512F9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64" r="1" b="2"/>
          <a:stretch/>
        </p:blipFill>
        <p:spPr>
          <a:xfrm>
            <a:off x="643467" y="716327"/>
            <a:ext cx="10905067" cy="5661007"/>
          </a:xfrm>
          <a:prstGeom prst="rect">
            <a:avLst/>
          </a:prstGeom>
          <a:ln>
            <a:noFill/>
          </a:ln>
        </p:spPr>
      </p:pic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8" y="6453145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CD3187-5ACB-4335-AFF9-A8177F85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5703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9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3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4" y="2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Isosceles Triangle 13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5" y="6115503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a map&#10;&#10;Description automatically generated">
            <a:extLst>
              <a:ext uri="{FF2B5EF4-FFF2-40B4-BE49-F238E27FC236}">
                <a16:creationId xmlns:a16="http://schemas.microsoft.com/office/drawing/2014/main" id="{782DB7E4-4278-4F87-B387-B7A61AB73A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0" t="17781" r="330" b="-19762"/>
          <a:stretch/>
        </p:blipFill>
        <p:spPr>
          <a:xfrm>
            <a:off x="1004427" y="434824"/>
            <a:ext cx="10183146" cy="6134985"/>
          </a:xfrm>
          <a:prstGeom prst="rect">
            <a:avLst/>
          </a:prstGeom>
          <a:ln>
            <a:noFill/>
          </a:ln>
        </p:spPr>
      </p:pic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2" y="6453145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A1C128-B282-4E42-9ED9-5335ECF7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26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016" y="1009066"/>
            <a:ext cx="3200400" cy="965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047" y="3154461"/>
            <a:ext cx="28702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1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5D7BF2-A48C-4744-A3FC-8A14CD8E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How do we fit a line to the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58FE1-F4F7-4054-91A7-C016216D9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5999" y="801867"/>
            <a:ext cx="6511716" cy="5319459"/>
          </a:xfrm>
        </p:spPr>
        <p:txBody>
          <a:bodyPr anchor="ctr">
            <a:normAutofit/>
          </a:bodyPr>
          <a:lstStyle/>
          <a:p>
            <a:pPr>
              <a:lnSpc>
                <a:spcPct val="70000"/>
              </a:lnSpc>
            </a:pPr>
            <a:r>
              <a:rPr lang="en-CA" sz="4000" dirty="0">
                <a:solidFill>
                  <a:srgbClr val="000000"/>
                </a:solidFill>
              </a:rPr>
              <a:t>Error?</a:t>
            </a:r>
          </a:p>
          <a:p>
            <a:pPr>
              <a:lnSpc>
                <a:spcPct val="70000"/>
              </a:lnSpc>
            </a:pPr>
            <a:r>
              <a:rPr lang="en-CA" sz="4000" dirty="0">
                <a:solidFill>
                  <a:srgbClr val="000000"/>
                </a:solidFill>
              </a:rPr>
              <a:t>Cost of fit?</a:t>
            </a:r>
          </a:p>
          <a:p>
            <a:pPr>
              <a:lnSpc>
                <a:spcPct val="70000"/>
              </a:lnSpc>
            </a:pPr>
            <a:r>
              <a:rPr lang="en-CA" sz="4000" dirty="0">
                <a:solidFill>
                  <a:srgbClr val="000000"/>
                </a:solidFill>
              </a:rPr>
              <a:t>How do we compare multiple lines? </a:t>
            </a:r>
          </a:p>
          <a:p>
            <a:pPr>
              <a:lnSpc>
                <a:spcPct val="70000"/>
              </a:lnSpc>
            </a:pPr>
            <a:r>
              <a:rPr lang="en-CA" sz="4000" dirty="0">
                <a:solidFill>
                  <a:srgbClr val="000000"/>
                </a:solidFill>
              </a:rPr>
              <a:t>What is a good metric?</a:t>
            </a:r>
          </a:p>
          <a:p>
            <a:pPr>
              <a:lnSpc>
                <a:spcPct val="70000"/>
              </a:lnSpc>
            </a:pPr>
            <a:r>
              <a:rPr lang="en-CA" sz="4000" dirty="0">
                <a:solidFill>
                  <a:srgbClr val="000000"/>
                </a:solidFill>
              </a:rPr>
              <a:t>Sum of error?</a:t>
            </a:r>
          </a:p>
          <a:p>
            <a:pPr>
              <a:lnSpc>
                <a:spcPct val="70000"/>
              </a:lnSpc>
            </a:pPr>
            <a:r>
              <a:rPr lang="en-CA" sz="4000" dirty="0">
                <a:solidFill>
                  <a:srgbClr val="000000"/>
                </a:solidFill>
              </a:rPr>
              <a:t>Sum of absolute error?</a:t>
            </a:r>
          </a:p>
          <a:p>
            <a:pPr>
              <a:lnSpc>
                <a:spcPct val="70000"/>
              </a:lnSpc>
            </a:pPr>
            <a:r>
              <a:rPr lang="en-CA" sz="4000" dirty="0">
                <a:solidFill>
                  <a:srgbClr val="000000"/>
                </a:solidFill>
              </a:rPr>
              <a:t>Sum of square error?</a:t>
            </a:r>
          </a:p>
          <a:p>
            <a:endParaRPr lang="en-CA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CA" sz="32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756EA-67DB-4471-90AC-66487D03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150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5B7AE2-F583-4E5B-BD64-AC8E219EC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99" t="-8871" r="11808" b="24297"/>
          <a:stretch/>
        </p:blipFill>
        <p:spPr>
          <a:xfrm>
            <a:off x="1033199" y="2"/>
            <a:ext cx="7644076" cy="64928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ECE962-AB65-451A-8E4B-667F9EC4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28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715" y="2212703"/>
            <a:ext cx="5514679" cy="3403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6737" y="588603"/>
            <a:ext cx="536637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Residuals Sum of Squares (RSS)</a:t>
            </a:r>
          </a:p>
        </p:txBody>
      </p:sp>
    </p:spTree>
    <p:extLst>
      <p:ext uri="{BB962C8B-B14F-4D97-AF65-F5344CB8AC3E}">
        <p14:creationId xmlns:p14="http://schemas.microsoft.com/office/powerpoint/2010/main" val="2751498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5B7AE2-F583-4E5B-BD64-AC8E219EC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99" t="-8871" r="11808" b="24297"/>
          <a:stretch/>
        </p:blipFill>
        <p:spPr>
          <a:xfrm>
            <a:off x="1033199" y="2"/>
            <a:ext cx="7644076" cy="64928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5F63E4-D014-404B-8237-3E37BEB0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29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163" y="2791023"/>
            <a:ext cx="44831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26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5B7AE2-F583-4E5B-BD64-AC8E219EC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99" t="-8871" r="11808" b="24297"/>
          <a:stretch/>
        </p:blipFill>
        <p:spPr>
          <a:xfrm>
            <a:off x="1033199" y="2"/>
            <a:ext cx="7644076" cy="64928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0A5E03-6C1B-422B-9A61-CE7D403E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30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681" y="2621099"/>
            <a:ext cx="5912923" cy="2979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7430" y="618645"/>
            <a:ext cx="478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can you solve this ?</a:t>
            </a:r>
          </a:p>
        </p:txBody>
      </p:sp>
    </p:spTree>
    <p:extLst>
      <p:ext uri="{BB962C8B-B14F-4D97-AF65-F5344CB8AC3E}">
        <p14:creationId xmlns:p14="http://schemas.microsoft.com/office/powerpoint/2010/main" val="3918061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9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C3F09C-0589-4EF2-8A0F-EAECBB75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5"/>
            <a:ext cx="6105195" cy="20310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Finding minimum or Maximum of a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0DB30-1C37-4064-AE7A-FCAB611A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6391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AA4F-91ED-DF00-5A7E-E2C70935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Principle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5E76F-8C8C-FCC6-0179-A771EC646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0036F-0F8C-7347-9D5A-B373AFF0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8167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 up of a mans face&#10;&#10;Description automatically generated">
            <a:extLst>
              <a:ext uri="{FF2B5EF4-FFF2-40B4-BE49-F238E27FC236}">
                <a16:creationId xmlns:a16="http://schemas.microsoft.com/office/drawing/2014/main" id="{0C743B6E-1E7F-455D-B399-D124C9F099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6" r="6284"/>
          <a:stretch/>
        </p:blipFill>
        <p:spPr>
          <a:xfrm>
            <a:off x="1450957" y="1409075"/>
            <a:ext cx="8435057" cy="5453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EB9452-0F0C-46A8-90F3-1D6AA2558819}"/>
              </a:ext>
            </a:extLst>
          </p:cNvPr>
          <p:cNvSpPr txBox="1"/>
          <p:nvPr/>
        </p:nvSpPr>
        <p:spPr>
          <a:xfrm>
            <a:off x="4690984" y="2135982"/>
            <a:ext cx="484239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solidFill>
                  <a:srgbClr val="0070C0"/>
                </a:solidFill>
              </a:rPr>
              <a:t>Function of a single variable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D84C33-36B5-46C2-988A-83119FC8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33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635" y="421188"/>
            <a:ext cx="7251700" cy="88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87245" y="3060663"/>
            <a:ext cx="7230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Find the value of w that minimizes the function?</a:t>
            </a:r>
          </a:p>
        </p:txBody>
      </p:sp>
    </p:spTree>
    <p:extLst>
      <p:ext uri="{BB962C8B-B14F-4D97-AF65-F5344CB8AC3E}">
        <p14:creationId xmlns:p14="http://schemas.microsoft.com/office/powerpoint/2010/main" val="152750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1" y="1524000"/>
            <a:ext cx="52959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6195" y="374443"/>
            <a:ext cx="4055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Analytical Solution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404" y="5779442"/>
            <a:ext cx="103016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Not Always possible </a:t>
            </a:r>
            <a:r>
              <a:rPr lang="mr-IN" sz="4000" dirty="0"/>
              <a:t>–</a:t>
            </a:r>
            <a:r>
              <a:rPr lang="en-US" sz="4000" dirty="0"/>
              <a:t> Find an iterative Solution?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E4220-48FB-C5FB-244E-E4FABE27B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35" y="170810"/>
            <a:ext cx="72517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11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B9D3-2D33-2E3A-3BB8-E66877C5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– Analytical Solution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0750E-7222-E49D-C511-3A94780B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F486B-1444-3507-67EE-93A26588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8040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549B-88B6-DF58-D545-FE9B5D1A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FDBB08-FCD4-33A2-ECDE-712D5BB3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36</a:t>
            </a:fld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D6061B-B485-4194-951E-85EDA2257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23" y="438018"/>
            <a:ext cx="5310541" cy="6171710"/>
          </a:xfrm>
          <a:prstGeom prst="rect">
            <a:avLst/>
          </a:prstGeom>
          <a:solidFill>
            <a:srgbClr val="D6DCE5"/>
          </a:solidFill>
          <a:ln>
            <a:solidFill>
              <a:srgbClr val="8000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2CAC56-7B8E-56B1-7550-6689788F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850" y="455845"/>
            <a:ext cx="5767389" cy="6131687"/>
          </a:xfrm>
          <a:prstGeom prst="rect">
            <a:avLst/>
          </a:prstGeom>
          <a:ln>
            <a:solidFill>
              <a:srgbClr val="800000"/>
            </a:solidFill>
          </a:ln>
        </p:spPr>
      </p:pic>
    </p:spTree>
    <p:extLst>
      <p:ext uri="{BB962C8B-B14F-4D97-AF65-F5344CB8AC3E}">
        <p14:creationId xmlns:p14="http://schemas.microsoft.com/office/powerpoint/2010/main" val="263739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6088-9D3E-D4EB-BF62-B4368549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11CDBA-A6F0-6D1D-4FF7-B2815BAD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37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6BF30-0419-355B-0423-46D9B86A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561" y="130242"/>
            <a:ext cx="6852003" cy="659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355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32108-595D-7697-E32A-58F16510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474D5C-641D-0C3B-DCBD-0B63BB115E9D}"/>
              </a:ext>
            </a:extLst>
          </p:cNvPr>
          <p:cNvSpPr txBox="1"/>
          <p:nvPr/>
        </p:nvSpPr>
        <p:spPr>
          <a:xfrm>
            <a:off x="554900" y="242254"/>
            <a:ext cx="52079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u="sng" dirty="0">
                <a:solidFill>
                  <a:srgbClr val="0070C0"/>
                </a:solidFill>
              </a:rPr>
              <a:t>Analytical Approach # 1</a:t>
            </a:r>
          </a:p>
          <a:p>
            <a:endParaRPr lang="en-CA" sz="4000" dirty="0">
              <a:solidFill>
                <a:srgbClr val="0070C0"/>
              </a:solidFill>
            </a:endParaRPr>
          </a:p>
          <a:p>
            <a:r>
              <a:rPr lang="en-CA" sz="4000" dirty="0">
                <a:solidFill>
                  <a:srgbClr val="0070C0"/>
                </a:solidFill>
              </a:rPr>
              <a:t>Equate gradient to 0 </a:t>
            </a:r>
          </a:p>
          <a:p>
            <a:endParaRPr lang="en-CA" sz="4000" dirty="0">
              <a:solidFill>
                <a:srgbClr val="0070C0"/>
              </a:solidFill>
            </a:endParaRPr>
          </a:p>
          <a:p>
            <a:r>
              <a:rPr lang="en-CA" sz="4000" dirty="0">
                <a:solidFill>
                  <a:srgbClr val="0070C0"/>
                </a:solidFill>
              </a:rPr>
              <a:t>and </a:t>
            </a:r>
          </a:p>
          <a:p>
            <a:endParaRPr lang="en-CA" sz="4000" dirty="0">
              <a:solidFill>
                <a:srgbClr val="0070C0"/>
              </a:solidFill>
            </a:endParaRPr>
          </a:p>
          <a:p>
            <a:r>
              <a:rPr lang="en-CA" sz="4000" dirty="0">
                <a:solidFill>
                  <a:srgbClr val="0070C0"/>
                </a:solidFill>
              </a:rPr>
              <a:t>solve for w0 and  w1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7A6C3-83E3-4E83-6D7F-44F70690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38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EA114-B26E-C7CE-0840-BC7F71DAD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993" y="266355"/>
            <a:ext cx="4865011" cy="644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129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EF77-7727-4645-1A3B-6A896805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4DB861-727F-4748-DABB-186278535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3955" y="2531951"/>
            <a:ext cx="3899127" cy="23922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90AA7-6089-9F58-48EC-28BB9CFA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39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D9224-8C5F-787F-3CA7-A8EEEE442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7" y="1705089"/>
            <a:ext cx="5355366" cy="2296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EC4EDF-572F-E695-95EC-AD1064B04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787" y="4217534"/>
            <a:ext cx="1266825" cy="295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D7B05-2348-C94F-29F4-8256E116D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04" y="4549777"/>
            <a:ext cx="5048250" cy="2171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AF65B8-C031-0F78-0156-92958ED18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5066" y="555588"/>
            <a:ext cx="4058330" cy="272759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82818D2-FE9B-3DB5-D6A6-92E77A2CBF78}"/>
              </a:ext>
            </a:extLst>
          </p:cNvPr>
          <p:cNvGrpSpPr/>
          <p:nvPr/>
        </p:nvGrpSpPr>
        <p:grpSpPr>
          <a:xfrm>
            <a:off x="4947558" y="4724508"/>
            <a:ext cx="4231821" cy="1996969"/>
            <a:chOff x="4947558" y="4724508"/>
            <a:chExt cx="4231821" cy="199696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7C7B7B1-B736-134A-581B-E8FC63EB9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47558" y="4724508"/>
              <a:ext cx="4231821" cy="199696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38C30C6-8772-29A4-7346-3ECD507B6662}"/>
                </a:ext>
              </a:extLst>
            </p:cNvPr>
            <p:cNvSpPr/>
            <p:nvPr/>
          </p:nvSpPr>
          <p:spPr>
            <a:xfrm>
              <a:off x="4983955" y="6356352"/>
              <a:ext cx="2265931" cy="2621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DAA94EF-C1B8-3E50-2F29-56BCDBB4B6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7619" y="5582221"/>
            <a:ext cx="3333926" cy="11392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582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DD26-F2EC-4C16-A2C1-67E051B7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Gradient </a:t>
            </a:r>
            <a:r>
              <a:rPr lang="en-CA" dirty="0">
                <a:solidFill>
                  <a:srgbClr val="C00000"/>
                </a:solidFill>
              </a:rPr>
              <a:t>Descent</a:t>
            </a:r>
            <a:r>
              <a:rPr lang="en-CA" dirty="0"/>
              <a:t>/Ascent to find </a:t>
            </a:r>
            <a:r>
              <a:rPr lang="en-CA" dirty="0">
                <a:solidFill>
                  <a:srgbClr val="C00000"/>
                </a:solidFill>
              </a:rPr>
              <a:t>Minima</a:t>
            </a:r>
            <a:r>
              <a:rPr lang="en-CA" dirty="0"/>
              <a:t>/Maxima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8DEC0-CC06-4CC5-BE9B-B1D55A99E9EF}"/>
              </a:ext>
            </a:extLst>
          </p:cNvPr>
          <p:cNvSpPr txBox="1"/>
          <p:nvPr/>
        </p:nvSpPr>
        <p:spPr>
          <a:xfrm>
            <a:off x="2467987" y="1776820"/>
            <a:ext cx="6677799" cy="200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CA" sz="4400" dirty="0">
                <a:solidFill>
                  <a:srgbClr val="C00000"/>
                </a:solidFill>
                <a:latin typeface="Cambria Math" panose="02040503050406030204" pitchFamily="18" charset="0"/>
                <a:ea typeface="+mj-ea"/>
                <a:cs typeface="+mj-cs"/>
              </a:rPr>
              <a:t>Initialize</a:t>
            </a:r>
            <a:r>
              <a:rPr lang="en-CA" sz="4400" i="1" dirty="0">
                <a:latin typeface="Cambria Math" panose="02040503050406030204" pitchFamily="18" charset="0"/>
                <a:ea typeface="+mj-ea"/>
                <a:cs typeface="+mj-cs"/>
              </a:rPr>
              <a:t> w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CA" sz="4400" b="0" kern="1200" dirty="0">
                <a:solidFill>
                  <a:srgbClr val="C00000"/>
                </a:solidFill>
                <a:latin typeface="Cambria Math" panose="02040503050406030204" pitchFamily="18" charset="0"/>
                <a:ea typeface="+mj-ea"/>
                <a:cs typeface="+mj-cs"/>
              </a:rPr>
              <a:t>Iterate the following equation until convergence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92684-861B-4904-BF94-2ABBF2CF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40</a:t>
            </a:fld>
            <a:endParaRPr lang="en-CA"/>
          </a:p>
        </p:txBody>
      </p:sp>
      <p:sp>
        <p:nvSpPr>
          <p:cNvPr id="8" name="TextBox 7"/>
          <p:cNvSpPr txBox="1"/>
          <p:nvPr/>
        </p:nvSpPr>
        <p:spPr>
          <a:xfrm>
            <a:off x="592849" y="4548662"/>
            <a:ext cx="9223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Can You Suggest a Formula for weight updates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3866" y="5979905"/>
            <a:ext cx="9880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We need to find change in weights at each iteration</a:t>
            </a:r>
          </a:p>
        </p:txBody>
      </p:sp>
    </p:spTree>
    <p:extLst>
      <p:ext uri="{BB962C8B-B14F-4D97-AF65-F5344CB8AC3E}">
        <p14:creationId xmlns:p14="http://schemas.microsoft.com/office/powerpoint/2010/main" val="1284060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8AC1-A300-6DE6-139B-0EBC5AE3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in Weights 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B3B91-8CCB-C992-2447-2F866A29F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59B3-C930-CAC3-3643-147693CE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41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2FC1F-458B-4E2C-ED7D-B7F6B893C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71" y="1818286"/>
            <a:ext cx="9525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E75FD5-C728-CF8A-DF46-25E8754F5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" y="6257745"/>
            <a:ext cx="3232213" cy="46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954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DD26-F2EC-4C16-A2C1-67E051B7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Gradient </a:t>
            </a:r>
            <a:r>
              <a:rPr lang="en-CA" dirty="0">
                <a:solidFill>
                  <a:srgbClr val="C00000"/>
                </a:solidFill>
              </a:rPr>
              <a:t>Descent</a:t>
            </a:r>
            <a:r>
              <a:rPr lang="en-CA" dirty="0"/>
              <a:t>/Ascent to find </a:t>
            </a:r>
            <a:r>
              <a:rPr lang="en-CA" dirty="0">
                <a:solidFill>
                  <a:srgbClr val="C00000"/>
                </a:solidFill>
              </a:rPr>
              <a:t>Minima</a:t>
            </a:r>
            <a:r>
              <a:rPr lang="en-CA" dirty="0"/>
              <a:t>/Maxima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8DEC0-CC06-4CC5-BE9B-B1D55A99E9EF}"/>
              </a:ext>
            </a:extLst>
          </p:cNvPr>
          <p:cNvSpPr txBox="1"/>
          <p:nvPr/>
        </p:nvSpPr>
        <p:spPr>
          <a:xfrm>
            <a:off x="2674817" y="1861325"/>
            <a:ext cx="6677799" cy="26950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CA" sz="4400" dirty="0">
                <a:solidFill>
                  <a:srgbClr val="C00000"/>
                </a:solidFill>
                <a:latin typeface="Cambria Math" panose="02040503050406030204" pitchFamily="18" charset="0"/>
                <a:ea typeface="+mj-ea"/>
                <a:cs typeface="+mj-cs"/>
              </a:rPr>
              <a:t>Initialize</a:t>
            </a:r>
            <a:r>
              <a:rPr lang="en-CA" sz="4400" i="1" dirty="0">
                <a:latin typeface="Cambria Math" panose="02040503050406030204" pitchFamily="18" charset="0"/>
                <a:ea typeface="+mj-ea"/>
                <a:cs typeface="+mj-cs"/>
              </a:rPr>
              <a:t> w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CA" sz="4400" b="0" kern="1200" dirty="0">
                <a:solidFill>
                  <a:srgbClr val="C00000"/>
                </a:solidFill>
                <a:latin typeface="Cambria Math" panose="02040503050406030204" pitchFamily="18" charset="0"/>
                <a:ea typeface="+mj-ea"/>
                <a:cs typeface="+mj-cs"/>
              </a:rPr>
              <a:t>Iterate the following equation until convergence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CA" sz="4400" b="0" i="1" kern="1200" dirty="0">
              <a:solidFill>
                <a:schemeClr val="tx1"/>
              </a:solidFill>
              <a:latin typeface="Cambria Math" panose="02040503050406030204" pitchFamily="18" charset="0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346" y="5134591"/>
            <a:ext cx="4643015" cy="1453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0795" y="4671071"/>
            <a:ext cx="3430146" cy="584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Why this equation?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782" y="4818914"/>
            <a:ext cx="2996097" cy="1200328"/>
          </a:xfrm>
          <a:prstGeom prst="rect">
            <a:avLst/>
          </a:prstGeom>
          <a:solidFill>
            <a:srgbClr val="D6DCE5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If </a:t>
            </a:r>
            <a:r>
              <a:rPr lang="en-US" sz="2400" dirty="0" err="1"/>
              <a:t>df</a:t>
            </a:r>
            <a:r>
              <a:rPr lang="en-US" sz="2400" dirty="0"/>
              <a:t>(w)/</a:t>
            </a:r>
            <a:r>
              <a:rPr lang="en-US" sz="2400" dirty="0" err="1"/>
              <a:t>dw</a:t>
            </a:r>
            <a:r>
              <a:rPr lang="en-US" sz="2400" dirty="0"/>
              <a:t> is ZERO,</a:t>
            </a:r>
          </a:p>
          <a:p>
            <a:endParaRPr lang="en-US" sz="2400" dirty="0"/>
          </a:p>
          <a:p>
            <a:r>
              <a:rPr lang="en-US" sz="2400" dirty="0"/>
              <a:t> then you get exact w</a:t>
            </a:r>
          </a:p>
        </p:txBody>
      </p:sp>
    </p:spTree>
    <p:extLst>
      <p:ext uri="{BB962C8B-B14F-4D97-AF65-F5344CB8AC3E}">
        <p14:creationId xmlns:p14="http://schemas.microsoft.com/office/powerpoint/2010/main" val="384391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7371-EC9E-DB12-1A3E-742BF715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6D08-7231-9FBB-FEEF-2EEEBF419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9915"/>
            <a:ext cx="10515600" cy="3657047"/>
          </a:xfrm>
        </p:spPr>
        <p:txBody>
          <a:bodyPr/>
          <a:lstStyle/>
          <a:p>
            <a:pPr fontAlgn="base"/>
            <a:r>
              <a:rPr lang="en-GB" dirty="0"/>
              <a:t>Start with random values for slope and intercept.</a:t>
            </a:r>
          </a:p>
          <a:p>
            <a:pPr fontAlgn="base"/>
            <a:r>
              <a:rPr lang="en-GB" dirty="0"/>
              <a:t>Calculate the error between predicted and actual values.</a:t>
            </a:r>
          </a:p>
          <a:p>
            <a:pPr fontAlgn="base"/>
            <a:r>
              <a:rPr lang="en-GB" dirty="0"/>
              <a:t>Find how much each parameter contributes to the error (gradient).</a:t>
            </a:r>
          </a:p>
          <a:p>
            <a:pPr fontAlgn="base"/>
            <a:r>
              <a:rPr lang="en-GB" dirty="0"/>
              <a:t>Update the parameters in the direction that reduces the error.</a:t>
            </a:r>
          </a:p>
          <a:p>
            <a:pPr fontAlgn="base"/>
            <a:r>
              <a:rPr lang="en-GB" dirty="0"/>
              <a:t>Repeat until the error is as small as possible.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2D174-343E-F932-648F-23BF3A28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767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pseudocode</a:t>
            </a:r>
            <a:r>
              <a:rPr lang="en-US" dirty="0"/>
              <a:t> for this algorithm is:</a:t>
            </a:r>
          </a:p>
          <a:p>
            <a:r>
              <a:rPr lang="en-US" dirty="0"/>
              <a:t>Initialize a random guess for the weights (Start with some random guess for theta)</a:t>
            </a:r>
          </a:p>
          <a:p>
            <a:r>
              <a:rPr lang="en-US" dirty="0"/>
              <a:t>Compute gradient using all samples(x)</a:t>
            </a:r>
          </a:p>
          <a:p>
            <a:r>
              <a:rPr lang="en-US" dirty="0"/>
              <a:t>Update weights using the update rule</a:t>
            </a:r>
          </a:p>
          <a:p>
            <a:r>
              <a:rPr lang="en-US" dirty="0"/>
              <a:t>Repeat until convergence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27" y="4944140"/>
            <a:ext cx="5685088" cy="8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721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5B8B12-F24A-49A8-8579-80ED038356AD}"/>
              </a:ext>
            </a:extLst>
          </p:cNvPr>
          <p:cNvSpPr txBox="1"/>
          <p:nvPr/>
        </p:nvSpPr>
        <p:spPr>
          <a:xfrm>
            <a:off x="278085" y="339933"/>
            <a:ext cx="30111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0070C0"/>
                </a:solidFill>
              </a:rPr>
              <a:t>Approach # 2</a:t>
            </a:r>
          </a:p>
          <a:p>
            <a:endParaRPr lang="en-CA" sz="3200" dirty="0">
              <a:solidFill>
                <a:srgbClr val="0070C0"/>
              </a:solidFill>
            </a:endParaRPr>
          </a:p>
          <a:p>
            <a:r>
              <a:rPr lang="en-CA" sz="3200" dirty="0">
                <a:solidFill>
                  <a:srgbClr val="0070C0"/>
                </a:solidFill>
              </a:rPr>
              <a:t>Use gradient descent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5CCC6-91F7-476E-A0F5-F53200CC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45</a:t>
            </a:fld>
            <a:endParaRPr lang="en-C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498" y="227924"/>
            <a:ext cx="4549437" cy="1807093"/>
          </a:xfrm>
          <a:prstGeom prst="rect">
            <a:avLst/>
          </a:prstGeom>
        </p:spPr>
      </p:pic>
      <p:pic>
        <p:nvPicPr>
          <p:cNvPr id="5" name="Picture 4" descr="gradient-conv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92" y="2609567"/>
            <a:ext cx="48768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88668"/>
            <a:ext cx="6122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www.cs.toronto.edu</a:t>
            </a:r>
            <a:r>
              <a:rPr lang="en-US" dirty="0"/>
              <a:t>/~</a:t>
            </a:r>
            <a:r>
              <a:rPr lang="en-US" dirty="0" err="1"/>
              <a:t>frossard</a:t>
            </a:r>
            <a:r>
              <a:rPr lang="en-US" dirty="0"/>
              <a:t>/post/</a:t>
            </a:r>
            <a:r>
              <a:rPr lang="en-US" dirty="0" err="1"/>
              <a:t>linear_regression</a:t>
            </a:r>
            <a:r>
              <a:rPr lang="en-US" dirty="0"/>
              <a:t>/</a:t>
            </a:r>
          </a:p>
        </p:txBody>
      </p:sp>
      <p:pic>
        <p:nvPicPr>
          <p:cNvPr id="8" name="Picture 7" descr="gradient_diverging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637" y="2577007"/>
            <a:ext cx="48768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40344" y="1790814"/>
            <a:ext cx="4092988" cy="584776"/>
          </a:xfrm>
          <a:prstGeom prst="rect">
            <a:avLst/>
          </a:prstGeom>
          <a:solidFill>
            <a:srgbClr val="D6DCE5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What’s the difference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9359" y="6219006"/>
            <a:ext cx="4215417" cy="584776"/>
          </a:xfrm>
          <a:prstGeom prst="rect">
            <a:avLst/>
          </a:prstGeom>
          <a:solidFill>
            <a:srgbClr val="D6DCE5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Learning rate is too high </a:t>
            </a:r>
          </a:p>
        </p:txBody>
      </p:sp>
    </p:spTree>
    <p:extLst>
      <p:ext uri="{BB962C8B-B14F-4D97-AF65-F5344CB8AC3E}">
        <p14:creationId xmlns:p14="http://schemas.microsoft.com/office/powerpoint/2010/main" val="399949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30223"/>
            <a:ext cx="10972800" cy="711170"/>
          </a:xfrm>
        </p:spPr>
        <p:txBody>
          <a:bodyPr>
            <a:normAutofit fontScale="90000"/>
          </a:bodyPr>
          <a:lstStyle/>
          <a:p>
            <a:r>
              <a:rPr lang="en-US" dirty="0"/>
              <a:t>Assumptions of the Linear Regression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5016087"/>
          </a:xfrm>
        </p:spPr>
        <p:txBody>
          <a:bodyPr>
            <a:normAutofit/>
          </a:bodyPr>
          <a:lstStyle/>
          <a:p>
            <a:r>
              <a:rPr lang="en-US" dirty="0"/>
              <a:t>It assumes a linear relationship between the dependent and independent variables.</a:t>
            </a:r>
          </a:p>
          <a:p>
            <a:r>
              <a:rPr lang="en-US" dirty="0"/>
              <a:t>It assumes the variables follow a normal distribution, and like most Machine learning models, it assumes the features are Identically Independently distributed(I.I.D).</a:t>
            </a:r>
          </a:p>
          <a:p>
            <a:r>
              <a:rPr lang="en-US" dirty="0"/>
              <a:t>It assumes all independent variables are really independent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ie</a:t>
            </a:r>
            <a:r>
              <a:rPr lang="en-US" dirty="0"/>
              <a:t>., No or little </a:t>
            </a:r>
            <a:r>
              <a:rPr lang="en-US" dirty="0" err="1"/>
              <a:t>multicollinearity</a:t>
            </a:r>
            <a:r>
              <a:rPr lang="en-US" dirty="0"/>
              <a:t> (no correlation among inputs).</a:t>
            </a:r>
          </a:p>
          <a:p>
            <a:r>
              <a:rPr lang="en-US" dirty="0"/>
              <a:t>It assumes no auto-correlation between features (same variable is not related within different time intervals).</a:t>
            </a:r>
          </a:p>
        </p:txBody>
      </p:sp>
    </p:spTree>
    <p:extLst>
      <p:ext uri="{BB962C8B-B14F-4D97-AF65-F5344CB8AC3E}">
        <p14:creationId xmlns:p14="http://schemas.microsoft.com/office/powerpoint/2010/main" val="3320310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Term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220" y="4038024"/>
            <a:ext cx="8075209" cy="15354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3014300"/>
            <a:ext cx="4880311" cy="79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287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9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DB7AC-C173-4449-826A-B0055699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6BF9A-3E33-4D8B-B13E-5D8F9B22736A}"/>
              </a:ext>
            </a:extLst>
          </p:cNvPr>
          <p:cNvSpPr txBox="1"/>
          <p:nvPr/>
        </p:nvSpPr>
        <p:spPr>
          <a:xfrm>
            <a:off x="2062354" y="691692"/>
            <a:ext cx="793188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CA" sz="6000" dirty="0">
              <a:solidFill>
                <a:srgbClr val="FFFFFF"/>
              </a:solidFill>
            </a:endParaRPr>
          </a:p>
          <a:p>
            <a:pPr algn="ctr"/>
            <a:r>
              <a:rPr lang="en-CA" sz="6000" dirty="0">
                <a:solidFill>
                  <a:srgbClr val="FFFFFF"/>
                </a:solidFill>
              </a:rPr>
              <a:t>Multiple Regression</a:t>
            </a:r>
            <a:br>
              <a:rPr lang="en-CA" sz="6000" dirty="0">
                <a:solidFill>
                  <a:srgbClr val="FFFFFF"/>
                </a:solidFill>
              </a:rPr>
            </a:br>
            <a:endParaRPr lang="en-CA" sz="6000" dirty="0">
              <a:solidFill>
                <a:srgbClr val="FFFFFF"/>
              </a:solidFill>
            </a:endParaRPr>
          </a:p>
          <a:p>
            <a:pPr algn="ctr"/>
            <a:r>
              <a:rPr lang="en-CA" sz="6000" dirty="0">
                <a:solidFill>
                  <a:srgbClr val="000000"/>
                </a:solidFill>
              </a:rPr>
              <a:t>Linear regression with multiple features</a:t>
            </a:r>
          </a:p>
          <a:p>
            <a:pPr algn="ctr"/>
            <a:r>
              <a:rPr lang="en-CA" sz="6000" dirty="0">
                <a:solidFill>
                  <a:srgbClr val="000000"/>
                </a:solidFill>
              </a:rPr>
              <a:t>(multiple Inputs)</a:t>
            </a:r>
            <a:br>
              <a:rPr lang="en-CA" sz="6000" dirty="0">
                <a:solidFill>
                  <a:srgbClr val="000000"/>
                </a:solidFill>
              </a:rPr>
            </a:br>
            <a:endParaRPr lang="en-CA" sz="6000" dirty="0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00" y="0"/>
            <a:ext cx="4013200" cy="188954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623734" y="812800"/>
            <a:ext cx="4893735" cy="50800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203205" y="67732"/>
            <a:ext cx="3826929" cy="1676400"/>
            <a:chOff x="203203" y="67732"/>
            <a:chExt cx="3826929" cy="1676400"/>
          </a:xfrm>
        </p:grpSpPr>
        <p:grpSp>
          <p:nvGrpSpPr>
            <p:cNvPr id="5" name="Group 4"/>
            <p:cNvGrpSpPr/>
            <p:nvPr/>
          </p:nvGrpSpPr>
          <p:grpSpPr>
            <a:xfrm>
              <a:off x="203203" y="118531"/>
              <a:ext cx="3826929" cy="1625601"/>
              <a:chOff x="0" y="0"/>
              <a:chExt cx="4013200" cy="1889548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4013200" cy="1889548"/>
              </a:xfrm>
              <a:prstGeom prst="rect">
                <a:avLst/>
              </a:prstGeom>
            </p:spPr>
          </p:pic>
          <p:sp>
            <p:nvSpPr>
              <p:cNvPr id="4" name="Rectangle 3"/>
              <p:cNvSpPr/>
              <p:nvPr/>
            </p:nvSpPr>
            <p:spPr>
              <a:xfrm>
                <a:off x="508000" y="677333"/>
                <a:ext cx="2218267" cy="79586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846664" y="67732"/>
              <a:ext cx="741459" cy="369332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Single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24879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49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8" y="440269"/>
            <a:ext cx="11357043" cy="55202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1733" y="6488669"/>
            <a:ext cx="118702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/analytics-</a:t>
            </a:r>
            <a:r>
              <a:rPr lang="en-US" dirty="0" err="1"/>
              <a:t>vidhya</a:t>
            </a:r>
            <a:r>
              <a:rPr lang="en-US" dirty="0"/>
              <a:t>/linear-regression-the-maths-behind-it-how-it-works-and-an-example-c911a66f02bd</a:t>
            </a:r>
          </a:p>
        </p:txBody>
      </p:sp>
    </p:spTree>
    <p:extLst>
      <p:ext uri="{BB962C8B-B14F-4D97-AF65-F5344CB8AC3E}">
        <p14:creationId xmlns:p14="http://schemas.microsoft.com/office/powerpoint/2010/main" val="21230629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A37247B-E6F0-4F1E-A161-C7DCD548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12" y="2544708"/>
            <a:ext cx="3627123" cy="167169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Many inputs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37C18-EF86-4D6B-B9CB-F61389F74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846667"/>
            <a:ext cx="5384800" cy="5230634"/>
          </a:xfrm>
        </p:spPr>
        <p:txBody>
          <a:bodyPr anchor="ctr">
            <a:normAutofit/>
          </a:bodyPr>
          <a:lstStyle/>
          <a:p>
            <a:r>
              <a:rPr lang="en-CA" sz="4000" dirty="0">
                <a:solidFill>
                  <a:srgbClr val="000000"/>
                </a:solidFill>
              </a:rPr>
              <a:t>Housing example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Square feet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# of bedrooms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# of bathrooms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Year Built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Lot size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Year renovated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Neighbourhood</a:t>
            </a:r>
          </a:p>
          <a:p>
            <a:pPr lvl="1"/>
            <a:r>
              <a:rPr lang="en-CA" sz="32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91949-C354-4198-A0CC-DC14E774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8090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31E44-D4A4-A1F2-E62E-E3C7EF35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Regression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378A-26C1-9FDB-1365-48524EDCE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44BC1-5BCB-8FA9-AF49-A13B7B52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51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782D5-C7A7-0DD2-44C2-11F679C30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851" y="1690690"/>
            <a:ext cx="9921949" cy="49091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1A8943-DE6B-84CF-35C6-B0639BFC1251}"/>
              </a:ext>
            </a:extLst>
          </p:cNvPr>
          <p:cNvSpPr txBox="1"/>
          <p:nvPr/>
        </p:nvSpPr>
        <p:spPr>
          <a:xfrm>
            <a:off x="295053" y="6164899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hyperplane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(instead of a straight line) in multi-dimensional space that best fits the training data.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65189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6D79-3BA3-A26F-45BC-0C58A487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Matrices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AA1E-1D45-0CB4-78B7-3BD26079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26BA0-0940-B8D3-8109-5BB5FBE2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52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9E946-7583-D95D-8839-CD8732DF0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232568"/>
            <a:ext cx="8231412" cy="639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808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01E7-CB79-F4D9-A71F-8DF8BDD87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F09C2-5B76-D469-5B40-AE2AD62A7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557A-3382-5575-9499-AE99DBC2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53</a:t>
            </a:fld>
            <a:endParaRPr lang="en-CA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DE7EEF-BD25-E93A-A54C-184CF443A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899" y="2528891"/>
            <a:ext cx="9468840" cy="264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001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F587-7243-D6BF-7D3F-D79A1B7C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92D27-ABF1-44D5-DEC0-CFE81682E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7E4BF-38E2-B1DD-8414-8B173FF0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54</a:t>
            </a:fld>
            <a:endParaRPr lang="en-CA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081A1C-E9EC-544E-66D7-906EC48AC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74" y="1517877"/>
            <a:ext cx="6677025" cy="27336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4B023F-CCF3-1038-D0CA-5996B9BA9784}"/>
              </a:ext>
            </a:extLst>
          </p:cNvPr>
          <p:cNvSpPr txBox="1"/>
          <p:nvPr/>
        </p:nvSpPr>
        <p:spPr>
          <a:xfrm>
            <a:off x="166578" y="4297377"/>
            <a:ext cx="4612252" cy="13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first column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is all 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1s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→ to account for the 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intercept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w0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The next columns are your actual features: humidity and pressure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193631-5AD1-60DE-6479-BEB542D56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19" y="4360412"/>
            <a:ext cx="6766349" cy="2469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8237FE-1500-5645-B8B2-C84FA5CEE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453" y="2231009"/>
            <a:ext cx="5829772" cy="13255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76413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BD34-7D2C-0D9E-A603-28620CC4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2C96-9843-BA0D-0D00-C8BE75D5C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14110-A41A-82EF-F70F-35C32B66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55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1B4B3-D1FB-943A-243B-0379B8634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4" y="33348"/>
            <a:ext cx="6160460" cy="3395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EA68A2-C98A-CC50-7250-9B03D412C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8" y="3324799"/>
            <a:ext cx="6168056" cy="35332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32730-D709-D042-5DDE-C3F76AF42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241" y="125413"/>
            <a:ext cx="5133975" cy="2038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044062-9166-8404-3F6C-501B8B193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242" y="2239040"/>
            <a:ext cx="5133974" cy="3395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67993-8033-185A-4CAB-19C916E207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241" y="5692719"/>
            <a:ext cx="5015023" cy="10074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40285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09C7-39F8-7C57-8839-8ECF26B4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F81E-0AD6-9ABC-D3BF-9A63883DD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Predict the </a:t>
            </a:r>
            <a:r>
              <a:rPr lang="en-GB" b="1" dirty="0"/>
              <a:t>temperature</a:t>
            </a:r>
            <a:r>
              <a:rPr lang="en-GB" dirty="0"/>
              <a:t> when:</a:t>
            </a:r>
          </a:p>
          <a:p>
            <a:r>
              <a:rPr lang="en-GB" dirty="0"/>
              <a:t>Humidity = 99.00</a:t>
            </a:r>
          </a:p>
          <a:p>
            <a:r>
              <a:rPr lang="en-GB" dirty="0"/>
              <a:t>Pressure = 1009.21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640F3-5FEB-5E92-E3FD-66EB7BA5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56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B81A7E-7FD1-9670-3722-9BB4D6A05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573" y="2596123"/>
            <a:ext cx="8057578" cy="24582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A2ED65-E313-F1DC-24E1-8F69D3197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487" y="5060044"/>
            <a:ext cx="59912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315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Between Feature and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income and education of a person are related. </a:t>
            </a:r>
          </a:p>
          <a:p>
            <a:r>
              <a:rPr lang="en-US" dirty="0"/>
              <a:t>It is expected that, on average, a higher level of education provides higher income</a:t>
            </a:r>
          </a:p>
          <a:p>
            <a:r>
              <a:rPr lang="en-US" dirty="0"/>
              <a:t>Can You develop a model for this?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9602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1DC1F2-3BBC-4393-83B3-F57D5372FE32}"/>
              </a:ext>
            </a:extLst>
          </p:cNvPr>
          <p:cNvSpPr txBox="1"/>
          <p:nvPr/>
        </p:nvSpPr>
        <p:spPr>
          <a:xfrm>
            <a:off x="4147720" y="977995"/>
            <a:ext cx="45149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Regression</a:t>
            </a:r>
            <a:endParaRPr kumimoji="0" lang="en-CA" sz="6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DB7AC-C173-4449-826A-B0055699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1" y="2603500"/>
            <a:ext cx="4813300" cy="163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59200" y="4724400"/>
            <a:ext cx="506400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Polynomial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5319717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574F9-484C-4B51-9D04-FF468A81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34AB9AED-CF7A-488F-A6DB-4111A4E11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581083" y="287867"/>
            <a:ext cx="56681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Can You Model This Using Linear Polynomial ? </a:t>
            </a:r>
            <a:r>
              <a:rPr lang="mr-IN" b="1" dirty="0"/>
              <a:t>–</a:t>
            </a:r>
            <a:r>
              <a:rPr lang="en-US" b="1" dirty="0"/>
              <a:t> Degree 1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Y= w0+w1*X </a:t>
            </a:r>
          </a:p>
        </p:txBody>
      </p:sp>
    </p:spTree>
    <p:extLst>
      <p:ext uri="{BB962C8B-B14F-4D97-AF65-F5344CB8AC3E}">
        <p14:creationId xmlns:p14="http://schemas.microsoft.com/office/powerpoint/2010/main" val="1555419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DB5F1-4D64-40C4-858D-3ECBF5A5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picture containing person&#10;&#10;Description automatically generated">
            <a:extLst>
              <a:ext uri="{FF2B5EF4-FFF2-40B4-BE49-F238E27FC236}">
                <a16:creationId xmlns:a16="http://schemas.microsoft.com/office/drawing/2014/main" id="{1F331897-346F-4FDF-A784-480E5B0B5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249" y="1329807"/>
            <a:ext cx="3263900" cy="571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2753" y="5945072"/>
            <a:ext cx="2592729" cy="6880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Input ‘x’</a:t>
            </a:r>
          </a:p>
        </p:txBody>
      </p:sp>
    </p:spTree>
    <p:extLst>
      <p:ext uri="{BB962C8B-B14F-4D97-AF65-F5344CB8AC3E}">
        <p14:creationId xmlns:p14="http://schemas.microsoft.com/office/powerpoint/2010/main" val="9807046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578E8D-F506-42D6-BEDD-C6F3134A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C772E25A-151C-40DE-9B2C-E57D4E6DA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633" y="1467547"/>
            <a:ext cx="4953000" cy="40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63440" y="152400"/>
            <a:ext cx="7531261" cy="60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How can you interpret x</a:t>
            </a:r>
            <a:r>
              <a:rPr lang="en-US" sz="2800" baseline="30000" dirty="0"/>
              <a:t>2</a:t>
            </a:r>
            <a:r>
              <a:rPr lang="en-US" sz="2800" dirty="0"/>
              <a:t> or x</a:t>
            </a:r>
            <a:r>
              <a:rPr lang="en-US" sz="2800" baseline="30000" dirty="0"/>
              <a:t>3 </a:t>
            </a:r>
            <a:r>
              <a:rPr lang="en-US" sz="2800" dirty="0"/>
              <a:t> .. Power of x </a:t>
            </a:r>
            <a:r>
              <a:rPr lang="mr-IN" sz="2800" dirty="0"/>
              <a:t>…</a:t>
            </a:r>
            <a:r>
              <a:rPr lang="en-US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753" y="5945072"/>
            <a:ext cx="4039015" cy="6880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Input ‘x’ cubic power </a:t>
            </a:r>
            <a:r>
              <a:rPr lang="mr-IN" dirty="0"/>
              <a:t>–</a:t>
            </a:r>
            <a:r>
              <a:rPr lang="en-US" dirty="0"/>
              <a:t> can be considered as input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6226473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E152FC-8E18-428C-8AAB-ECFAFBE6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4FA03495-05BF-4D02-B89A-0B1639A1D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042" y="1365609"/>
            <a:ext cx="4472799" cy="94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001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A12D00-8E75-453E-8FFA-D525BA07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9F4A55D8-89D0-41C4-8062-4E38648F9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159" y="1448932"/>
            <a:ext cx="4902316" cy="97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790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D40C6-5B17-4664-9868-CEB3CA9D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3AE3CFE4-2507-4569-9821-147AD329E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539" y="1475989"/>
            <a:ext cx="4672880" cy="9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229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1FD849-DF9E-444C-9BF1-BCA647EF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498705A3-336F-4EDB-B434-BA5391D46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47507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9C3A19-CD3A-4112-9A2C-288B27B5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2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44A4A19A-C1C7-4E0F-A267-82834DD3F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2" y="643469"/>
            <a:ext cx="8346157" cy="5571065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026" y="1530708"/>
            <a:ext cx="4866879" cy="61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414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317" y="1590640"/>
            <a:ext cx="6536267" cy="133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222" y="4118260"/>
            <a:ext cx="75662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dirty="0">
                <a:solidFill>
                  <a:prstClr val="black"/>
                </a:solidFill>
                <a:latin typeface="Calibri"/>
              </a:rPr>
              <a:t>Income = </a:t>
            </a:r>
            <a:r>
              <a:rPr lang="en-US" sz="40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4000" i="1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4000" i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000" dirty="0">
                <a:solidFill>
                  <a:prstClr val="black"/>
                </a:solidFill>
                <a:latin typeface="Calibri"/>
              </a:rPr>
              <a:t>+</a:t>
            </a:r>
            <a:r>
              <a:rPr lang="en-US" sz="40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4000" i="1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4000" dirty="0">
                <a:solidFill>
                  <a:prstClr val="black"/>
                </a:solidFill>
                <a:latin typeface="Calibri"/>
              </a:rPr>
              <a:t>*education + error</a:t>
            </a:r>
          </a:p>
        </p:txBody>
      </p:sp>
    </p:spTree>
    <p:extLst>
      <p:ext uri="{BB962C8B-B14F-4D97-AF65-F5344CB8AC3E}">
        <p14:creationId xmlns:p14="http://schemas.microsoft.com/office/powerpoint/2010/main" val="269915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Between Feature and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income</a:t>
            </a:r>
            <a:r>
              <a:rPr lang="en-US" dirty="0"/>
              <a:t> and </a:t>
            </a:r>
            <a:r>
              <a:rPr lang="en-US" b="1" dirty="0"/>
              <a:t>education</a:t>
            </a:r>
            <a:r>
              <a:rPr lang="en-US" dirty="0"/>
              <a:t> of a person are related. </a:t>
            </a:r>
          </a:p>
          <a:p>
            <a:r>
              <a:rPr lang="en-US" dirty="0"/>
              <a:t>It is expected that, on average, a higher level of education provides higher income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income</a:t>
            </a:r>
            <a:r>
              <a:rPr lang="en-US" dirty="0"/>
              <a:t> and </a:t>
            </a:r>
            <a:r>
              <a:rPr lang="en-US" b="1" dirty="0"/>
              <a:t>age</a:t>
            </a:r>
            <a:r>
              <a:rPr lang="en-US" dirty="0"/>
              <a:t> of a person are related.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You develop a model for this?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976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8869" y="2871720"/>
            <a:ext cx="8337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Income = 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+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*education+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*age + error</a:t>
            </a:r>
          </a:p>
        </p:txBody>
      </p:sp>
    </p:spTree>
    <p:extLst>
      <p:ext uri="{BB962C8B-B14F-4D97-AF65-F5344CB8AC3E}">
        <p14:creationId xmlns:p14="http://schemas.microsoft.com/office/powerpoint/2010/main" val="57432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Between Feature and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156" y="1600200"/>
            <a:ext cx="11223245" cy="5058146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income</a:t>
            </a:r>
            <a:r>
              <a:rPr lang="en-US" dirty="0"/>
              <a:t> and </a:t>
            </a:r>
            <a:r>
              <a:rPr lang="en-US" b="1" dirty="0"/>
              <a:t>education</a:t>
            </a:r>
            <a:r>
              <a:rPr lang="en-US" dirty="0"/>
              <a:t> of a person are related. </a:t>
            </a:r>
          </a:p>
          <a:p>
            <a:r>
              <a:rPr lang="en-US" dirty="0"/>
              <a:t>The </a:t>
            </a:r>
            <a:r>
              <a:rPr lang="en-US" b="1" dirty="0"/>
              <a:t>income</a:t>
            </a:r>
            <a:r>
              <a:rPr lang="en-US" dirty="0"/>
              <a:t> and </a:t>
            </a:r>
            <a:r>
              <a:rPr lang="en-US" b="1" dirty="0"/>
              <a:t>age</a:t>
            </a:r>
            <a:r>
              <a:rPr lang="en-US" dirty="0"/>
              <a:t> of a person are related.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income tends to rise less rapidly in the later earning years than is early years.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 You Modify the Model to accommodate above?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5268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71E1-931B-D35B-26E5-9776558C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Income vs 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3809C-555D-93E6-2DB5-8CED947AF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3AEAB-1F2F-0D9E-64F0-26D8BB25C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993" y="2334656"/>
            <a:ext cx="6281427" cy="41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6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4296"/>
            <a:ext cx="535514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Income = 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defTabSz="457200"/>
            <a:r>
              <a:rPr lang="en-US" sz="3600" i="1" dirty="0">
                <a:solidFill>
                  <a:prstClr val="black"/>
                </a:solidFill>
                <a:latin typeface="Calibri"/>
              </a:rPr>
              <a:t>					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+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*education</a:t>
            </a: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+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*age</a:t>
            </a: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+</a:t>
            </a:r>
            <a:r>
              <a:rPr lang="en-US" sz="3600" b="1" i="1" dirty="0">
                <a:solidFill>
                  <a:srgbClr val="FF0000"/>
                </a:solidFill>
                <a:latin typeface="Calibri"/>
              </a:rPr>
              <a:t>w</a:t>
            </a:r>
            <a:r>
              <a:rPr lang="en-US" sz="3600" b="1" i="1" baseline="-25000" dirty="0">
                <a:solidFill>
                  <a:srgbClr val="FF0000"/>
                </a:solidFill>
                <a:latin typeface="Calibri"/>
              </a:rPr>
              <a:t>3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*(age)</a:t>
            </a:r>
            <a:r>
              <a:rPr lang="en-US" sz="3600" b="1" baseline="30000" dirty="0">
                <a:solidFill>
                  <a:srgbClr val="FF0000"/>
                </a:solidFill>
                <a:latin typeface="Calibri"/>
              </a:rPr>
              <a:t>2</a:t>
            </a:r>
            <a:endParaRPr lang="en-US" sz="3600" b="1" dirty="0">
              <a:solidFill>
                <a:srgbClr val="FF0000"/>
              </a:solidFill>
              <a:latin typeface="Calibri"/>
            </a:endParaRP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+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06625" y="5038137"/>
            <a:ext cx="2652288" cy="584776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sz="3200" b="1" dirty="0">
                <a:solidFill>
                  <a:prstClr val="black"/>
                </a:solidFill>
                <a:latin typeface="Calibri"/>
              </a:rPr>
              <a:t>h(age) = (age)</a:t>
            </a:r>
            <a:r>
              <a:rPr lang="en-US" sz="3200" b="1" baseline="30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4316" y="5691436"/>
            <a:ext cx="3832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Input Transformation or feature rather than raw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975" y="3656322"/>
            <a:ext cx="3117786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3</a:t>
            </a:r>
            <a:r>
              <a:rPr lang="en-US" dirty="0"/>
              <a:t> is expected to be negative. Therefore for lower ages income will reduce less as compare to higher ages. 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5063669" y="3857603"/>
            <a:ext cx="460929" cy="4041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438" y="139939"/>
            <a:ext cx="3505200" cy="23241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7870297" y="2480235"/>
            <a:ext cx="1228879" cy="1214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72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  <p:bldP spid="4" grpId="0"/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909"/>
            <a:ext cx="10972800" cy="803013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80" y="1020000"/>
            <a:ext cx="5355140" cy="2862322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Income = 		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defTabSz="457200"/>
            <a:r>
              <a:rPr lang="en-US" sz="3600" i="1" dirty="0">
                <a:solidFill>
                  <a:prstClr val="black"/>
                </a:solidFill>
                <a:latin typeface="Calibri"/>
              </a:rPr>
              <a:t>					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+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*education</a:t>
            </a: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+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*age</a:t>
            </a: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+</a:t>
            </a:r>
            <a:r>
              <a:rPr lang="en-US" sz="3600" b="1" i="1" dirty="0">
                <a:solidFill>
                  <a:srgbClr val="FF0000"/>
                </a:solidFill>
                <a:latin typeface="Calibri"/>
              </a:rPr>
              <a:t>w</a:t>
            </a:r>
            <a:r>
              <a:rPr lang="en-US" sz="3600" b="1" i="1" baseline="-25000" dirty="0">
                <a:solidFill>
                  <a:srgbClr val="FF0000"/>
                </a:solidFill>
                <a:latin typeface="Calibri"/>
              </a:rPr>
              <a:t>3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*(age)</a:t>
            </a:r>
            <a:r>
              <a:rPr lang="en-US" sz="3600" b="1" baseline="30000" dirty="0">
                <a:solidFill>
                  <a:srgbClr val="FF0000"/>
                </a:solidFill>
                <a:latin typeface="Calibri"/>
              </a:rPr>
              <a:t>2</a:t>
            </a:r>
            <a:endParaRPr lang="en-US" sz="3600" b="1" dirty="0">
              <a:solidFill>
                <a:srgbClr val="FF0000"/>
              </a:solidFill>
              <a:latin typeface="Calibri"/>
            </a:endParaRP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+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5014" y="1663903"/>
            <a:ext cx="3495819" cy="1938992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2400" b="1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(education) = education</a:t>
            </a:r>
          </a:p>
          <a:p>
            <a:pPr defTabSz="457200"/>
            <a:endParaRPr lang="en-US" sz="2400" b="1" dirty="0">
              <a:solidFill>
                <a:prstClr val="black"/>
              </a:solidFill>
              <a:latin typeface="Calibri"/>
            </a:endParaRPr>
          </a:p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2400" b="1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(age) = age</a:t>
            </a:r>
          </a:p>
          <a:p>
            <a:pPr defTabSz="457200"/>
            <a:endParaRPr lang="en-US" sz="2400" b="1" dirty="0">
              <a:solidFill>
                <a:prstClr val="black"/>
              </a:solidFill>
              <a:latin typeface="Calibri"/>
            </a:endParaRPr>
          </a:p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2400" b="1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(age) = (age)</a:t>
            </a:r>
            <a:r>
              <a:rPr lang="en-US" sz="2400" b="1" baseline="30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80" y="3964716"/>
            <a:ext cx="38326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Raw Input can be replaced by feature</a:t>
            </a:r>
          </a:p>
          <a:p>
            <a:pPr defTabSz="457200"/>
            <a:endParaRPr lang="en-US" dirty="0">
              <a:solidFill>
                <a:prstClr val="black"/>
              </a:solidFill>
              <a:latin typeface="Calibri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Some Feature functions may not transform the input at all, as in education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7196" y="3975717"/>
            <a:ext cx="6033661" cy="2862322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Income = 		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defTabSz="457200"/>
            <a:r>
              <a:rPr lang="en-US" sz="3600" i="1" dirty="0">
                <a:solidFill>
                  <a:prstClr val="black"/>
                </a:solidFill>
                <a:latin typeface="Calibri"/>
              </a:rPr>
              <a:t>					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+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*h</a:t>
            </a:r>
            <a:r>
              <a:rPr lang="en-US" sz="36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(education)</a:t>
            </a:r>
          </a:p>
          <a:p>
            <a:pPr defTabSz="457200"/>
            <a:r>
              <a:rPr lang="en-US" sz="3600" dirty="0">
                <a:solidFill>
                  <a:prstClr val="black"/>
                </a:solidFill>
              </a:rPr>
              <a:t>					+</a:t>
            </a:r>
            <a:r>
              <a:rPr lang="en-US" sz="3600" i="1" dirty="0">
                <a:solidFill>
                  <a:prstClr val="black"/>
                </a:solidFill>
              </a:rPr>
              <a:t>w</a:t>
            </a:r>
            <a:r>
              <a:rPr lang="en-US" sz="3600" i="1" baseline="-25000" dirty="0">
                <a:solidFill>
                  <a:prstClr val="black"/>
                </a:solidFill>
              </a:rPr>
              <a:t>2</a:t>
            </a:r>
            <a:r>
              <a:rPr lang="en-US" sz="3600" dirty="0">
                <a:solidFill>
                  <a:prstClr val="black"/>
                </a:solidFill>
              </a:rPr>
              <a:t>*age</a:t>
            </a:r>
            <a:endParaRPr lang="en-US" sz="3600" dirty="0">
              <a:solidFill>
                <a:prstClr val="black"/>
              </a:solidFill>
              <a:latin typeface="Calibri"/>
            </a:endParaRP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+</a:t>
            </a:r>
            <a:r>
              <a:rPr lang="en-US" sz="3600" b="1" i="1" dirty="0">
                <a:solidFill>
                  <a:srgbClr val="FF0000"/>
                </a:solidFill>
                <a:latin typeface="Calibri"/>
              </a:rPr>
              <a:t>w</a:t>
            </a:r>
            <a:r>
              <a:rPr lang="en-US" sz="3600" b="1" i="1" baseline="-25000" dirty="0">
                <a:solidFill>
                  <a:srgbClr val="FF0000"/>
                </a:solidFill>
                <a:latin typeface="Calibri"/>
              </a:rPr>
              <a:t>2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*h</a:t>
            </a:r>
            <a:r>
              <a:rPr lang="en-US" sz="3600" b="1" baseline="-25000" dirty="0">
                <a:solidFill>
                  <a:srgbClr val="FF0000"/>
                </a:solidFill>
                <a:latin typeface="Calibri"/>
              </a:rPr>
              <a:t>2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(age)</a:t>
            </a:r>
            <a:r>
              <a:rPr lang="en-US" sz="3600" b="1" baseline="30000" dirty="0">
                <a:solidFill>
                  <a:srgbClr val="FF0000"/>
                </a:solidFill>
                <a:latin typeface="Calibri"/>
              </a:rPr>
              <a:t>2</a:t>
            </a:r>
            <a:endParaRPr lang="en-US" sz="3600" b="1" dirty="0">
              <a:solidFill>
                <a:srgbClr val="FF0000"/>
              </a:solidFill>
              <a:latin typeface="Calibri"/>
            </a:endParaRPr>
          </a:p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					+ error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736139" y="2450531"/>
            <a:ext cx="0" cy="1867148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41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F2D4-465B-F11F-468D-897273F7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86" y="172183"/>
            <a:ext cx="2625199" cy="686465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Approach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12146-F990-6413-2BAD-3180F70AA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098" name="Picture 2" descr="Gradient Descent Regression">
            <a:extLst>
              <a:ext uri="{FF2B5EF4-FFF2-40B4-BE49-F238E27FC236}">
                <a16:creationId xmlns:a16="http://schemas.microsoft.com/office/drawing/2014/main" id="{B5663014-0D21-2598-BF7B-EC2352FB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14" y="1090836"/>
            <a:ext cx="2482371" cy="181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BCB7C1-AE15-0D27-7086-668C30EFA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0562"/>
            <a:ext cx="3455581" cy="1961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87ED7C-3D10-57BE-FA90-D3E28CC85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1" y="4848512"/>
            <a:ext cx="3425090" cy="1985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C6C991-9CA6-CCA4-202E-4589D94FD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395" y="1059936"/>
            <a:ext cx="3222703" cy="235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7A11A4-D480-DBB8-36A9-2D0539DC1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395" y="3464040"/>
            <a:ext cx="3629072" cy="1793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12C720-68D8-5AA8-3EFD-37E2E1A30B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6493" y="5256878"/>
            <a:ext cx="1499839" cy="1577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48E539-D287-B532-63D9-DDF52E6DCF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7308" y="686524"/>
            <a:ext cx="3345171" cy="2628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09FA0C-DFBE-CBCB-807C-3E5007F346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9576" y="3413706"/>
            <a:ext cx="3228968" cy="2628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D5FF5F-F8E9-09AC-8545-511181BCFB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9576" y="6140888"/>
            <a:ext cx="1141230" cy="584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467220-1FE8-F6CF-21C3-0784735D82A3}"/>
              </a:ext>
            </a:extLst>
          </p:cNvPr>
          <p:cNvSpPr txBox="1"/>
          <p:nvPr/>
        </p:nvSpPr>
        <p:spPr>
          <a:xfrm>
            <a:off x="9175898" y="6082453"/>
            <a:ext cx="284952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We will repeat this process until our Cost function is very small (ideally 0) with new values of m and c</a:t>
            </a:r>
            <a:endParaRPr lang="en-PK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952A6-CA4C-D1A8-BEBD-E2E73EA0FF5F}"/>
              </a:ext>
            </a:extLst>
          </p:cNvPr>
          <p:cNvSpPr txBox="1"/>
          <p:nvPr/>
        </p:nvSpPr>
        <p:spPr>
          <a:xfrm>
            <a:off x="6297843" y="94128"/>
            <a:ext cx="444104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b="0" i="0" dirty="0">
                <a:solidFill>
                  <a:srgbClr val="383838"/>
                </a:solidFill>
                <a:effectLst/>
                <a:latin typeface="Inter"/>
              </a:rPr>
              <a:t>Let m = 0 and c = 0. Let L be our learning rate. It could be a small value like 0.01 for good accuracy.</a:t>
            </a:r>
            <a:endParaRPr lang="en-PK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39AEE-7522-8D5E-1168-1B592FFA0378}"/>
              </a:ext>
            </a:extLst>
          </p:cNvPr>
          <p:cNvSpPr txBox="1"/>
          <p:nvPr/>
        </p:nvSpPr>
        <p:spPr>
          <a:xfrm>
            <a:off x="4274292" y="53154"/>
            <a:ext cx="1948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Note: m=w1, c=w0</a:t>
            </a:r>
            <a:endParaRPr lang="en-PK" dirty="0"/>
          </a:p>
        </p:txBody>
      </p:sp>
      <p:sp>
        <p:nvSpPr>
          <p:cNvPr id="17" name="Arrow: Curved Up 16">
            <a:extLst>
              <a:ext uri="{FF2B5EF4-FFF2-40B4-BE49-F238E27FC236}">
                <a16:creationId xmlns:a16="http://schemas.microsoft.com/office/drawing/2014/main" id="{3D747CCC-C45A-FB54-60E3-1593705490F0}"/>
              </a:ext>
            </a:extLst>
          </p:cNvPr>
          <p:cNvSpPr/>
          <p:nvPr/>
        </p:nvSpPr>
        <p:spPr>
          <a:xfrm rot="16200000">
            <a:off x="9828892" y="3807050"/>
            <a:ext cx="3781384" cy="781818"/>
          </a:xfrm>
          <a:prstGeom prst="curvedUpArrow">
            <a:avLst>
              <a:gd name="adj1" fmla="val 25000"/>
              <a:gd name="adj2" fmla="val 50000"/>
              <a:gd name="adj3" fmla="val 3619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41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B98D6-2074-B551-6130-813678E4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C55D-352F-005F-0947-B437781AC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Whats</a:t>
            </a:r>
            <a:r>
              <a:rPr lang="en-GB" dirty="0"/>
              <a:t> the difference between the two expression, representing COST (overall loss) of a model.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7E485-BAA8-FF35-9041-A30A7099A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36" y="2891535"/>
            <a:ext cx="5521855" cy="123255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655DE9B-8424-A353-649F-B76B338A5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440" y="2733908"/>
            <a:ext cx="6307960" cy="139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C6C4BD-6E09-1F06-130C-74D4866C95C9}"/>
              </a:ext>
            </a:extLst>
          </p:cNvPr>
          <p:cNvSpPr txBox="1"/>
          <p:nvPr/>
        </p:nvSpPr>
        <p:spPr>
          <a:xfrm>
            <a:off x="2079509" y="4524963"/>
            <a:ext cx="90102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Ridge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Regression 			and 		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Lasso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 Regression </a:t>
            </a:r>
          </a:p>
          <a:p>
            <a:endParaRPr lang="en-GB" b="1" i="0" dirty="0">
              <a:solidFill>
                <a:srgbClr val="242424"/>
              </a:solidFill>
              <a:effectLst/>
              <a:latin typeface="source-serif-pro"/>
            </a:endParaRPr>
          </a:p>
          <a:p>
            <a:endParaRPr lang="en-GB" b="1" dirty="0">
              <a:solidFill>
                <a:srgbClr val="242424"/>
              </a:solidFill>
              <a:latin typeface="source-serif-pro"/>
            </a:endParaRPr>
          </a:p>
          <a:p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			penalizing model complexity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464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BDEA-A4F5-DEC4-2A59-4B3C4870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0C20-4402-A7E3-D622-852F3352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32501-DD34-D3EC-8861-15E701B22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990725"/>
            <a:ext cx="104775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929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B83B-4CD6-9B88-2EFF-5574B0EA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Slides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449C6-24DA-E4CB-EA4F-B197A7107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47891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9972"/>
            <a:ext cx="10972800" cy="756754"/>
          </a:xfrm>
        </p:spPr>
        <p:txBody>
          <a:bodyPr>
            <a:normAutofit fontScale="90000"/>
          </a:bodyPr>
          <a:lstStyle/>
          <a:p>
            <a:r>
              <a:rPr lang="en-US" dirty="0"/>
              <a:t>Multiple Regression -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11414"/>
              </p:ext>
            </p:extLst>
          </p:nvPr>
        </p:nvGraphicFramePr>
        <p:xfrm>
          <a:off x="609602" y="1935805"/>
          <a:ext cx="108063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2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Size (</a:t>
                      </a:r>
                      <a:r>
                        <a:rPr lang="en-US" dirty="0" err="1"/>
                        <a:t>sqft</a:t>
                      </a:r>
                      <a:r>
                        <a:rPr lang="en-US" dirty="0"/>
                        <a:t>)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Beds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Floors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 of House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(lakhs)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7461" y="1462506"/>
            <a:ext cx="1033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sq_ft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			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(beds)				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(floor)			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(age)			y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23" y="4309649"/>
            <a:ext cx="233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Represent the first row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925" y="4961255"/>
            <a:ext cx="116981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=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+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 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</a:t>
            </a:r>
          </a:p>
          <a:p>
            <a:pPr defTabSz="457200"/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613648" y="2525060"/>
            <a:ext cx="1882587" cy="3113366"/>
            <a:chOff x="1815345" y="2525060"/>
            <a:chExt cx="1411940" cy="3113366"/>
          </a:xfrm>
        </p:grpSpPr>
        <p:cxnSp>
          <p:nvCxnSpPr>
            <p:cNvPr id="9" name="Straight Arrow Connector 8"/>
            <p:cNvCxnSpPr/>
            <p:nvPr/>
          </p:nvCxnSpPr>
          <p:spPr>
            <a:xfrm flipH="1" flipV="1">
              <a:off x="1815345" y="2525060"/>
              <a:ext cx="907676" cy="2390587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2482011" y="4961255"/>
              <a:ext cx="745274" cy="6771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421529" y="2495176"/>
            <a:ext cx="1643530" cy="3141698"/>
            <a:chOff x="1982434" y="2496728"/>
            <a:chExt cx="1232647" cy="3141698"/>
          </a:xfrm>
        </p:grpSpPr>
        <p:cxnSp>
          <p:nvCxnSpPr>
            <p:cNvPr id="13" name="Straight Arrow Connector 12"/>
            <p:cNvCxnSpPr/>
            <p:nvPr/>
          </p:nvCxnSpPr>
          <p:spPr>
            <a:xfrm flipH="1" flipV="1">
              <a:off x="1982434" y="2496728"/>
              <a:ext cx="773206" cy="2480236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2531522" y="4961255"/>
              <a:ext cx="683559" cy="6771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363883" y="2510118"/>
            <a:ext cx="1255059" cy="3126756"/>
            <a:chOff x="1512633" y="2511670"/>
            <a:chExt cx="941294" cy="3126756"/>
          </a:xfrm>
        </p:grpSpPr>
        <p:cxnSp>
          <p:nvCxnSpPr>
            <p:cNvPr id="16" name="Straight Arrow Connector 15"/>
            <p:cNvCxnSpPr>
              <a:stCxn id="17" idx="0"/>
            </p:cNvCxnSpPr>
            <p:nvPr/>
          </p:nvCxnSpPr>
          <p:spPr>
            <a:xfrm flipH="1" flipV="1">
              <a:off x="1512633" y="2511670"/>
              <a:ext cx="610721" cy="2449585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1792780" y="4961255"/>
              <a:ext cx="661147" cy="6771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36010" y="2465294"/>
            <a:ext cx="921874" cy="3156639"/>
            <a:chOff x="1339012" y="2466846"/>
            <a:chExt cx="691405" cy="3156639"/>
          </a:xfrm>
        </p:grpSpPr>
        <p:cxnSp>
          <p:nvCxnSpPr>
            <p:cNvPr id="19" name="Straight Arrow Connector 18"/>
            <p:cNvCxnSpPr>
              <a:stCxn id="20" idx="0"/>
            </p:cNvCxnSpPr>
            <p:nvPr/>
          </p:nvCxnSpPr>
          <p:spPr>
            <a:xfrm flipV="1">
              <a:off x="1684715" y="2466846"/>
              <a:ext cx="99173" cy="2479468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1339012" y="4946314"/>
              <a:ext cx="691405" cy="6771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52921" y="5636877"/>
            <a:ext cx="1236035" cy="944127"/>
            <a:chOff x="904303" y="5636874"/>
            <a:chExt cx="927026" cy="944127"/>
          </a:xfrm>
        </p:grpSpPr>
        <p:sp>
          <p:nvSpPr>
            <p:cNvPr id="21" name="TextBox 20"/>
            <p:cNvSpPr txBox="1"/>
            <p:nvPr/>
          </p:nvSpPr>
          <p:spPr>
            <a:xfrm>
              <a:off x="904303" y="6211669"/>
              <a:ext cx="927026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dirty="0">
                  <a:solidFill>
                    <a:prstClr val="black"/>
                  </a:solidFill>
                  <a:latin typeface="Calibri"/>
                </a:rPr>
                <a:t>Here h</a:t>
              </a:r>
              <a:r>
                <a:rPr lang="en-US" baseline="-25000" dirty="0">
                  <a:solidFill>
                    <a:prstClr val="black"/>
                  </a:solidFill>
                  <a:latin typeface="Calibri"/>
                </a:rPr>
                <a:t>0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 =1;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1539232" y="5636874"/>
              <a:ext cx="0" cy="4015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229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76" y="134795"/>
            <a:ext cx="10972800" cy="756754"/>
          </a:xfrm>
        </p:spPr>
        <p:txBody>
          <a:bodyPr>
            <a:normAutofit fontScale="90000"/>
          </a:bodyPr>
          <a:lstStyle/>
          <a:p>
            <a:r>
              <a:rPr lang="en-US" dirty="0"/>
              <a:t>Multiple Regression -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844591"/>
              </p:ext>
            </p:extLst>
          </p:nvPr>
        </p:nvGraphicFramePr>
        <p:xfrm>
          <a:off x="609602" y="1935805"/>
          <a:ext cx="108063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2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Size (</a:t>
                      </a:r>
                      <a:r>
                        <a:rPr lang="en-US" dirty="0" err="1"/>
                        <a:t>sqft</a:t>
                      </a:r>
                      <a:r>
                        <a:rPr lang="en-US" dirty="0"/>
                        <a:t>)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Beds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Floors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 of House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(lakhs)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r>
                        <a:rPr lang="en-US" dirty="0"/>
                        <a:t>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7461" y="1462506"/>
            <a:ext cx="1033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sq_ft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			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(beds)			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(floor)				h</a:t>
            </a:r>
            <a:r>
              <a:rPr lang="en-US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(age)			y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24" y="4309646"/>
            <a:ext cx="151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first row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925" y="4691839"/>
            <a:ext cx="1169816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=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+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 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395" y="5308782"/>
            <a:ext cx="190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Second row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897" y="5690975"/>
            <a:ext cx="1169816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=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+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 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765" y="1001059"/>
            <a:ext cx="12875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 - features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90592" y="1210235"/>
            <a:ext cx="3824941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446870" y="1422400"/>
            <a:ext cx="139012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 - instances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1654118" y="1897530"/>
            <a:ext cx="14941" cy="219635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6591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952" y="1843761"/>
            <a:ext cx="1169816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=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+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 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921" y="2842897"/>
            <a:ext cx="1169816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=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0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 + 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1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 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)+w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(x</a:t>
            </a:r>
            <a:r>
              <a:rPr lang="en-US" sz="3200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32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2" y="3775761"/>
            <a:ext cx="9623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3600" dirty="0">
                <a:solidFill>
                  <a:prstClr val="black"/>
                </a:solidFill>
                <a:latin typeface="Calibri"/>
              </a:rPr>
              <a:t>General representation for </a:t>
            </a:r>
            <a:r>
              <a:rPr lang="en-US" sz="3600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3600" i="1" baseline="30000" dirty="0" err="1">
                <a:solidFill>
                  <a:prstClr val="black"/>
                </a:solidFill>
                <a:latin typeface="Calibri"/>
              </a:rPr>
              <a:t>th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 row and ‘D’ features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94" y="4695701"/>
            <a:ext cx="7920784" cy="18794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28493" y="5984814"/>
            <a:ext cx="4848580" cy="751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15279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8549"/>
            <a:ext cx="2046983" cy="2760098"/>
          </a:xfrm>
        </p:spPr>
        <p:txBody>
          <a:bodyPr>
            <a:noAutofit/>
          </a:bodyPr>
          <a:lstStyle/>
          <a:p>
            <a:r>
              <a:rPr lang="en-CA" sz="2800" dirty="0">
                <a:solidFill>
                  <a:srgbClr val="FFFFFF"/>
                </a:solidFill>
              </a:rPr>
              <a:t>Re-writing equations in Matrix form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515" y="633521"/>
            <a:ext cx="4949375" cy="5582245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2001457" y="245314"/>
            <a:ext cx="1140181" cy="3997194"/>
            <a:chOff x="2987563" y="242499"/>
            <a:chExt cx="808230" cy="3841275"/>
          </a:xfrm>
        </p:grpSpPr>
        <p:sp>
          <p:nvSpPr>
            <p:cNvPr id="7" name="Double Bracket 6"/>
            <p:cNvSpPr/>
            <p:nvPr/>
          </p:nvSpPr>
          <p:spPr>
            <a:xfrm>
              <a:off x="2987563" y="259746"/>
              <a:ext cx="808230" cy="3824028"/>
            </a:xfrm>
            <a:prstGeom prst="bracketPair">
              <a:avLst/>
            </a:prstGeom>
            <a:ln w="5715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18000" y="242499"/>
              <a:ext cx="595190" cy="36379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</a:t>
              </a:r>
              <a:r>
                <a:rPr lang="en-US" sz="2400" baseline="-25000" dirty="0"/>
                <a:t>o</a:t>
              </a:r>
              <a:r>
                <a:rPr lang="en-US" sz="2400" dirty="0"/>
                <a:t>(x</a:t>
              </a:r>
              <a:r>
                <a:rPr lang="en-US" sz="2400" baseline="-25000" dirty="0"/>
                <a:t>i</a:t>
              </a:r>
              <a:r>
                <a:rPr lang="en-US" sz="2400" dirty="0"/>
                <a:t>)</a:t>
              </a:r>
            </a:p>
            <a:p>
              <a:r>
                <a:rPr lang="en-US" sz="2400" dirty="0"/>
                <a:t>h</a:t>
              </a:r>
              <a:r>
                <a:rPr lang="en-US" sz="2400" baseline="-25000" dirty="0"/>
                <a:t>1</a:t>
              </a:r>
              <a:r>
                <a:rPr lang="en-US" sz="2400" dirty="0"/>
                <a:t>(x</a:t>
              </a:r>
              <a:r>
                <a:rPr lang="en-US" sz="2400" baseline="-25000" dirty="0"/>
                <a:t>i</a:t>
              </a:r>
              <a:r>
                <a:rPr lang="en-US" sz="2400" dirty="0"/>
                <a:t>)</a:t>
              </a:r>
              <a:endParaRPr lang="en-US" sz="2400" baseline="-25000" dirty="0"/>
            </a:p>
            <a:p>
              <a:r>
                <a:rPr lang="en-US" sz="2400" dirty="0"/>
                <a:t>h</a:t>
              </a:r>
              <a:r>
                <a:rPr lang="en-US" sz="2400" baseline="-25000" dirty="0"/>
                <a:t>2</a:t>
              </a:r>
              <a:r>
                <a:rPr lang="en-US" sz="2400" dirty="0"/>
                <a:t>(x</a:t>
              </a:r>
              <a:r>
                <a:rPr lang="en-US" sz="2400" baseline="-25000" dirty="0"/>
                <a:t>i</a:t>
              </a:r>
              <a:r>
                <a:rPr lang="en-US" sz="2400" dirty="0"/>
                <a:t>)</a:t>
              </a:r>
              <a:endParaRPr lang="en-US" sz="2400" baseline="-25000" dirty="0"/>
            </a:p>
            <a:p>
              <a:r>
                <a:rPr lang="en-US" sz="2400" dirty="0"/>
                <a:t>h</a:t>
              </a:r>
              <a:r>
                <a:rPr lang="en-US" sz="2400" baseline="-25000" dirty="0"/>
                <a:t>3</a:t>
              </a:r>
              <a:r>
                <a:rPr lang="en-US" sz="2400" dirty="0"/>
                <a:t>(x</a:t>
              </a:r>
              <a:r>
                <a:rPr lang="en-US" sz="2400" baseline="-25000" dirty="0"/>
                <a:t>i</a:t>
              </a:r>
              <a:r>
                <a:rPr lang="en-US" sz="2400" dirty="0"/>
                <a:t>)</a:t>
              </a:r>
              <a:endParaRPr lang="en-US" sz="2400" baseline="-25000" dirty="0"/>
            </a:p>
            <a:p>
              <a:r>
                <a:rPr lang="en-US" sz="2400" dirty="0"/>
                <a:t>h</a:t>
              </a:r>
              <a:r>
                <a:rPr lang="en-US" sz="2400" baseline="-25000" dirty="0"/>
                <a:t>4</a:t>
              </a:r>
              <a:r>
                <a:rPr lang="en-US" sz="2400" dirty="0"/>
                <a:t>(x</a:t>
              </a:r>
              <a:r>
                <a:rPr lang="en-US" sz="2400" baseline="-25000" dirty="0"/>
                <a:t>i</a:t>
              </a:r>
              <a:r>
                <a:rPr lang="en-US" sz="2400" dirty="0"/>
                <a:t>)</a:t>
              </a:r>
              <a:endParaRPr lang="en-US" sz="2400" baseline="-25000" dirty="0"/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 err="1"/>
                <a:t>h</a:t>
              </a:r>
              <a:r>
                <a:rPr lang="en-US" sz="2400" baseline="-25000" dirty="0" err="1"/>
                <a:t>D</a:t>
              </a:r>
              <a:r>
                <a:rPr lang="en-US" sz="2400" dirty="0"/>
                <a:t>(x</a:t>
              </a:r>
              <a:r>
                <a:rPr lang="en-US" sz="2400" baseline="-25000" dirty="0"/>
                <a:t>i</a:t>
              </a:r>
              <a:r>
                <a:rPr lang="en-US" sz="2400" dirty="0"/>
                <a:t>)</a:t>
              </a:r>
              <a:endParaRPr lang="en-US" sz="2400" baseline="-250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02112" y="255697"/>
            <a:ext cx="808231" cy="3910610"/>
            <a:chOff x="5059509" y="2720993"/>
            <a:chExt cx="808230" cy="3910610"/>
          </a:xfrm>
        </p:grpSpPr>
        <p:sp>
          <p:nvSpPr>
            <p:cNvPr id="16" name="Double Bracket 15"/>
            <p:cNvSpPr/>
            <p:nvPr/>
          </p:nvSpPr>
          <p:spPr>
            <a:xfrm>
              <a:off x="5059509" y="2807575"/>
              <a:ext cx="808230" cy="3824028"/>
            </a:xfrm>
            <a:prstGeom prst="bracketPair">
              <a:avLst/>
            </a:prstGeom>
            <a:ln w="5715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261564" y="2720993"/>
              <a:ext cx="530914" cy="3785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w</a:t>
              </a:r>
              <a:r>
                <a:rPr lang="en-US" sz="2400" baseline="-25000" dirty="0" err="1"/>
                <a:t>o</a:t>
              </a:r>
              <a:endParaRPr lang="en-US" sz="2400" baseline="-25000" dirty="0"/>
            </a:p>
            <a:p>
              <a:r>
                <a:rPr lang="en-US" sz="2400" dirty="0"/>
                <a:t>w</a:t>
              </a:r>
              <a:r>
                <a:rPr lang="en-US" sz="2400" baseline="-25000" dirty="0"/>
                <a:t>1</a:t>
              </a:r>
            </a:p>
            <a:p>
              <a:r>
                <a:rPr lang="en-US" sz="2400" dirty="0"/>
                <a:t>w</a:t>
              </a:r>
              <a:r>
                <a:rPr lang="en-US" sz="2400" baseline="-25000" dirty="0"/>
                <a:t>2</a:t>
              </a:r>
            </a:p>
            <a:p>
              <a:r>
                <a:rPr lang="en-US" sz="2400" dirty="0"/>
                <a:t>w</a:t>
              </a:r>
              <a:r>
                <a:rPr lang="en-US" sz="2400" baseline="-25000" dirty="0"/>
                <a:t>3</a:t>
              </a:r>
            </a:p>
            <a:p>
              <a:r>
                <a:rPr lang="en-US" sz="2400" dirty="0"/>
                <a:t>w</a:t>
              </a:r>
              <a:r>
                <a:rPr lang="en-US" sz="2400" baseline="-25000" dirty="0"/>
                <a:t>4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/>
                <a:t>.</a:t>
              </a:r>
            </a:p>
            <a:p>
              <a:r>
                <a:rPr lang="en-US" sz="2400" dirty="0" err="1"/>
                <a:t>w</a:t>
              </a:r>
              <a:r>
                <a:rPr lang="en-US" sz="2400" baseline="-25000" dirty="0" err="1"/>
                <a:t>D</a:t>
              </a:r>
              <a:endParaRPr lang="en-US" sz="2400" baseline="-25000" dirty="0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6206051" y="2323281"/>
            <a:ext cx="4098879" cy="101012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214126" y="5231868"/>
            <a:ext cx="4098879" cy="101012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917397" y="346328"/>
            <a:ext cx="89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 </a:t>
            </a:r>
            <a:r>
              <a:rPr lang="en-US" baseline="30000" dirty="0" err="1"/>
              <a:t>th</a:t>
            </a:r>
            <a:r>
              <a:rPr lang="en-US" dirty="0"/>
              <a:t> Row</a:t>
            </a:r>
          </a:p>
        </p:txBody>
      </p:sp>
    </p:spTree>
    <p:extLst>
      <p:ext uri="{BB962C8B-B14F-4D97-AF65-F5344CB8AC3E}">
        <p14:creationId xmlns:p14="http://schemas.microsoft.com/office/powerpoint/2010/main" val="129398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02" y="2039211"/>
            <a:ext cx="2794897" cy="2760098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Re-writing equations in Matrix form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667" y="278500"/>
            <a:ext cx="5923416" cy="59579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8691" y="1428611"/>
            <a:ext cx="3217973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Representation for each Row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If there are N rows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263780" y="1760497"/>
            <a:ext cx="14432" cy="4083774"/>
          </a:xfrm>
          <a:prstGeom prst="straightConnector1">
            <a:avLst/>
          </a:prstGeom>
          <a:ln w="38100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6865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83</a:t>
            </a:fld>
            <a:endParaRPr lang="en-CA"/>
          </a:p>
        </p:txBody>
      </p:sp>
      <p:sp>
        <p:nvSpPr>
          <p:cNvPr id="15" name="TextBox 14"/>
          <p:cNvSpPr txBox="1"/>
          <p:nvPr/>
        </p:nvSpPr>
        <p:spPr>
          <a:xfrm>
            <a:off x="5038718" y="1430367"/>
            <a:ext cx="46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1586" y="5901995"/>
            <a:ext cx="2645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Y = </a:t>
            </a:r>
            <a:r>
              <a:rPr lang="en-US" sz="4800" dirty="0" err="1"/>
              <a:t>Hw</a:t>
            </a:r>
            <a:r>
              <a:rPr lang="en-US" sz="4800" dirty="0"/>
              <a:t> +e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420471" y="137975"/>
            <a:ext cx="5109882" cy="5407898"/>
            <a:chOff x="1950721" y="137974"/>
            <a:chExt cx="5005827" cy="5407898"/>
          </a:xfrm>
        </p:grpSpPr>
        <p:sp>
          <p:nvSpPr>
            <p:cNvPr id="13" name="TextBox 12"/>
            <p:cNvSpPr txBox="1"/>
            <p:nvPr/>
          </p:nvSpPr>
          <p:spPr>
            <a:xfrm>
              <a:off x="5037005" y="707089"/>
              <a:ext cx="463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 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45077" y="1133664"/>
              <a:ext cx="463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03493" y="1842513"/>
              <a:ext cx="463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 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968268" y="3986294"/>
              <a:ext cx="463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 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1950721" y="137974"/>
              <a:ext cx="5005827" cy="5407898"/>
              <a:chOff x="1950721" y="137974"/>
              <a:chExt cx="5005827" cy="5407898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2410255" y="634931"/>
                <a:ext cx="4546293" cy="4054915"/>
                <a:chOff x="2987563" y="242499"/>
                <a:chExt cx="808230" cy="3841275"/>
              </a:xfrm>
            </p:grpSpPr>
            <p:sp>
              <p:nvSpPr>
                <p:cNvPr id="6" name="Double Bracket 5"/>
                <p:cNvSpPr/>
                <p:nvPr/>
              </p:nvSpPr>
              <p:spPr>
                <a:xfrm>
                  <a:off x="2987563" y="259746"/>
                  <a:ext cx="808230" cy="3824028"/>
                </a:xfrm>
                <a:prstGeom prst="bracketPair">
                  <a:avLst/>
                </a:prstGeom>
                <a:ln w="57150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3107736" y="242499"/>
                  <a:ext cx="167198" cy="3586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h</a:t>
                  </a:r>
                  <a:r>
                    <a:rPr lang="en-US" sz="2400" baseline="-25000" dirty="0"/>
                    <a:t>o</a:t>
                  </a:r>
                  <a:r>
                    <a:rPr lang="en-US" sz="2400" dirty="0"/>
                    <a:t>(x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)</a:t>
                  </a:r>
                </a:p>
                <a:p>
                  <a:r>
                    <a:rPr lang="en-US" sz="2400" dirty="0"/>
                    <a:t>h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(x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)</a:t>
                  </a:r>
                  <a:endParaRPr lang="en-US" sz="2400" baseline="-25000" dirty="0"/>
                </a:p>
                <a:p>
                  <a:r>
                    <a:rPr lang="en-US" sz="2400" dirty="0"/>
                    <a:t>h</a:t>
                  </a:r>
                  <a:r>
                    <a:rPr lang="en-US" sz="2400" baseline="-25000" dirty="0"/>
                    <a:t>2</a:t>
                  </a:r>
                  <a:r>
                    <a:rPr lang="en-US" sz="2400" dirty="0"/>
                    <a:t>(x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)</a:t>
                  </a:r>
                  <a:endParaRPr lang="en-US" sz="2400" baseline="-25000" dirty="0"/>
                </a:p>
                <a:p>
                  <a:r>
                    <a:rPr lang="en-US" sz="2400" dirty="0"/>
                    <a:t>h</a:t>
                  </a:r>
                  <a:r>
                    <a:rPr lang="en-US" sz="2400" baseline="-25000" dirty="0"/>
                    <a:t>3</a:t>
                  </a:r>
                  <a:r>
                    <a:rPr lang="en-US" sz="2400" dirty="0"/>
                    <a:t>(x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)</a:t>
                  </a:r>
                  <a:endParaRPr lang="en-US" sz="2400" baseline="-25000" dirty="0"/>
                </a:p>
                <a:p>
                  <a:r>
                    <a:rPr lang="en-US" sz="2400" dirty="0"/>
                    <a:t>h</a:t>
                  </a:r>
                  <a:r>
                    <a:rPr lang="en-US" sz="2400" baseline="-25000" dirty="0"/>
                    <a:t>4</a:t>
                  </a:r>
                  <a:r>
                    <a:rPr lang="en-US" sz="2400" dirty="0"/>
                    <a:t>(x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)</a:t>
                  </a:r>
                  <a:endParaRPr lang="en-US" sz="2400" baseline="-25000" dirty="0"/>
                </a:p>
                <a:p>
                  <a:r>
                    <a:rPr lang="en-US" sz="2400" dirty="0"/>
                    <a:t>.</a:t>
                  </a:r>
                </a:p>
                <a:p>
                  <a:r>
                    <a:rPr lang="en-US" sz="2400" dirty="0"/>
                    <a:t>.</a:t>
                  </a:r>
                </a:p>
                <a:p>
                  <a:r>
                    <a:rPr lang="en-US" sz="2400" dirty="0"/>
                    <a:t>.</a:t>
                  </a:r>
                </a:p>
                <a:p>
                  <a:r>
                    <a:rPr lang="en-US" sz="2400" dirty="0"/>
                    <a:t>.</a:t>
                  </a:r>
                </a:p>
                <a:p>
                  <a:r>
                    <a:rPr lang="en-US" sz="2400" dirty="0" err="1"/>
                    <a:t>h</a:t>
                  </a:r>
                  <a:r>
                    <a:rPr lang="en-US" sz="2400" baseline="-25000" dirty="0" err="1"/>
                    <a:t>D</a:t>
                  </a:r>
                  <a:r>
                    <a:rPr lang="en-US" sz="2400" dirty="0"/>
                    <a:t>(x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)</a:t>
                  </a:r>
                  <a:endParaRPr lang="en-US" sz="2400" baseline="-25000" dirty="0"/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3989123" y="628601"/>
                <a:ext cx="961283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o</a:t>
                </a:r>
                <a:r>
                  <a:rPr lang="en-US" sz="2400" dirty="0"/>
                  <a:t>(x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(x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(x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(x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(x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 err="1"/>
                  <a:t>h</a:t>
                </a:r>
                <a:r>
                  <a:rPr lang="en-US" sz="2400" baseline="-25000" dirty="0" err="1"/>
                  <a:t>D</a:t>
                </a:r>
                <a:r>
                  <a:rPr lang="en-US" sz="2400" dirty="0"/>
                  <a:t>(x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642524" y="622268"/>
                <a:ext cx="96764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o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 err="1"/>
                  <a:t>h</a:t>
                </a:r>
                <a:r>
                  <a:rPr lang="en-US" sz="2400" baseline="-25000" dirty="0" err="1"/>
                  <a:t>D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)</a:t>
                </a:r>
                <a:endParaRPr lang="en-US" sz="2400" baseline="-25000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 rot="16200000">
                <a:off x="1472116" y="2453156"/>
                <a:ext cx="13265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 </a:t>
                </a:r>
                <a:r>
                  <a:rPr lang="mr-IN" dirty="0"/>
                  <a:t>–</a:t>
                </a:r>
                <a:r>
                  <a:rPr lang="en-US" dirty="0"/>
                  <a:t> features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818282" y="137974"/>
                <a:ext cx="1435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 </a:t>
                </a:r>
                <a:r>
                  <a:rPr lang="mr-IN" dirty="0"/>
                  <a:t>–</a:t>
                </a:r>
                <a:r>
                  <a:rPr lang="en-US" dirty="0"/>
                  <a:t> Instances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416394" y="4776431"/>
                <a:ext cx="71953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H</a:t>
                </a:r>
                <a:r>
                  <a:rPr lang="en-US" sz="4400" baseline="30000" dirty="0"/>
                  <a:t>T</a:t>
                </a:r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128552" y="162163"/>
            <a:ext cx="808230" cy="4902841"/>
            <a:chOff x="218198" y="535686"/>
            <a:chExt cx="808230" cy="4902841"/>
          </a:xfrm>
        </p:grpSpPr>
        <p:grpSp>
          <p:nvGrpSpPr>
            <p:cNvPr id="24" name="Group 23"/>
            <p:cNvGrpSpPr/>
            <p:nvPr/>
          </p:nvGrpSpPr>
          <p:grpSpPr>
            <a:xfrm>
              <a:off x="218198" y="535686"/>
              <a:ext cx="808230" cy="3910610"/>
              <a:chOff x="5059509" y="2720993"/>
              <a:chExt cx="808230" cy="3910610"/>
            </a:xfrm>
          </p:grpSpPr>
          <p:sp>
            <p:nvSpPr>
              <p:cNvPr id="25" name="Double Bracket 24"/>
              <p:cNvSpPr/>
              <p:nvPr/>
            </p:nvSpPr>
            <p:spPr>
              <a:xfrm>
                <a:off x="5059509" y="2807575"/>
                <a:ext cx="808230" cy="3824028"/>
              </a:xfrm>
              <a:prstGeom prst="bracketPair">
                <a:avLst/>
              </a:prstGeom>
              <a:ln w="57150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261564" y="2720993"/>
                <a:ext cx="456425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/>
                  <a:t>y</a:t>
                </a:r>
                <a:r>
                  <a:rPr lang="en-US" sz="2400" baseline="-25000" dirty="0" err="1"/>
                  <a:t>o</a:t>
                </a:r>
                <a:endParaRPr lang="en-US" sz="2400" baseline="-25000" dirty="0"/>
              </a:p>
              <a:p>
                <a:r>
                  <a:rPr lang="en-US" sz="2400" dirty="0"/>
                  <a:t>y</a:t>
                </a:r>
                <a:r>
                  <a:rPr lang="en-US" sz="2400" baseline="-25000" dirty="0"/>
                  <a:t>1</a:t>
                </a:r>
              </a:p>
              <a:p>
                <a:r>
                  <a:rPr lang="en-US" sz="2400" dirty="0"/>
                  <a:t>y</a:t>
                </a:r>
                <a:r>
                  <a:rPr lang="en-US" sz="2400" baseline="-25000" dirty="0"/>
                  <a:t>2</a:t>
                </a:r>
              </a:p>
              <a:p>
                <a:r>
                  <a:rPr lang="en-US" sz="2400" dirty="0"/>
                  <a:t>y</a:t>
                </a:r>
                <a:r>
                  <a:rPr lang="en-US" sz="2400" baseline="-25000" dirty="0"/>
                  <a:t>3</a:t>
                </a:r>
              </a:p>
              <a:p>
                <a:r>
                  <a:rPr lang="en-US" sz="2400" dirty="0"/>
                  <a:t>y</a:t>
                </a:r>
                <a:r>
                  <a:rPr lang="en-US" sz="2400" baseline="-25000" dirty="0"/>
                  <a:t>4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 err="1"/>
                  <a:t>y</a:t>
                </a:r>
                <a:r>
                  <a:rPr lang="en-US" sz="2400" baseline="-25000" dirty="0" err="1"/>
                  <a:t>N</a:t>
                </a:r>
                <a:endParaRPr lang="en-US" sz="2400" baseline="-25000" dirty="0"/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311159" y="4669086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Y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8292433" y="599742"/>
            <a:ext cx="808232" cy="4789161"/>
            <a:chOff x="8292421" y="599740"/>
            <a:chExt cx="808230" cy="4789161"/>
          </a:xfrm>
        </p:grpSpPr>
        <p:grpSp>
          <p:nvGrpSpPr>
            <p:cNvPr id="8" name="Group 7"/>
            <p:cNvGrpSpPr/>
            <p:nvPr/>
          </p:nvGrpSpPr>
          <p:grpSpPr>
            <a:xfrm>
              <a:off x="8292421" y="599740"/>
              <a:ext cx="808230" cy="3910610"/>
              <a:chOff x="5059509" y="2720993"/>
              <a:chExt cx="808230" cy="3910610"/>
            </a:xfrm>
          </p:grpSpPr>
          <p:sp>
            <p:nvSpPr>
              <p:cNvPr id="9" name="Double Bracket 8"/>
              <p:cNvSpPr/>
              <p:nvPr/>
            </p:nvSpPr>
            <p:spPr>
              <a:xfrm>
                <a:off x="5059509" y="2807575"/>
                <a:ext cx="808230" cy="3824028"/>
              </a:xfrm>
              <a:prstGeom prst="bracketPair">
                <a:avLst/>
              </a:prstGeom>
              <a:ln w="57150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261564" y="2720993"/>
                <a:ext cx="530914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/>
                  <a:t>w</a:t>
                </a:r>
                <a:r>
                  <a:rPr lang="en-US" sz="2400" baseline="-25000" dirty="0" err="1"/>
                  <a:t>o</a:t>
                </a:r>
                <a:endParaRPr lang="en-US" sz="2400" baseline="-25000" dirty="0"/>
              </a:p>
              <a:p>
                <a:r>
                  <a:rPr lang="en-US" sz="2400" dirty="0"/>
                  <a:t>w</a:t>
                </a:r>
                <a:r>
                  <a:rPr lang="en-US" sz="2400" baseline="-25000" dirty="0"/>
                  <a:t>1</a:t>
                </a:r>
              </a:p>
              <a:p>
                <a:r>
                  <a:rPr lang="en-US" sz="2400" dirty="0"/>
                  <a:t>w</a:t>
                </a:r>
                <a:r>
                  <a:rPr lang="en-US" sz="2400" baseline="-25000" dirty="0"/>
                  <a:t>2</a:t>
                </a:r>
              </a:p>
              <a:p>
                <a:r>
                  <a:rPr lang="en-US" sz="2400" dirty="0"/>
                  <a:t>w</a:t>
                </a:r>
                <a:r>
                  <a:rPr lang="en-US" sz="2400" baseline="-25000" dirty="0"/>
                  <a:t>3</a:t>
                </a:r>
              </a:p>
              <a:p>
                <a:r>
                  <a:rPr lang="en-US" sz="2400" dirty="0"/>
                  <a:t>w</a:t>
                </a:r>
                <a:r>
                  <a:rPr lang="en-US" sz="2400" baseline="-25000" dirty="0"/>
                  <a:t>4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 err="1"/>
                  <a:t>w</a:t>
                </a:r>
                <a:r>
                  <a:rPr lang="en-US" sz="2400" baseline="-25000" dirty="0" err="1"/>
                  <a:t>D</a:t>
                </a:r>
                <a:endParaRPr lang="en-US" sz="2400" baseline="-25000" dirty="0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8502558" y="4619460"/>
              <a:ext cx="5880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w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0941682" y="463534"/>
            <a:ext cx="808231" cy="4846880"/>
            <a:chOff x="10941674" y="463534"/>
            <a:chExt cx="808230" cy="4846880"/>
          </a:xfrm>
        </p:grpSpPr>
        <p:grpSp>
          <p:nvGrpSpPr>
            <p:cNvPr id="27" name="Group 26"/>
            <p:cNvGrpSpPr/>
            <p:nvPr/>
          </p:nvGrpSpPr>
          <p:grpSpPr>
            <a:xfrm>
              <a:off x="10941674" y="463534"/>
              <a:ext cx="808230" cy="3910610"/>
              <a:chOff x="5059509" y="2720993"/>
              <a:chExt cx="808230" cy="3910610"/>
            </a:xfrm>
          </p:grpSpPr>
          <p:sp>
            <p:nvSpPr>
              <p:cNvPr id="28" name="Double Bracket 27"/>
              <p:cNvSpPr/>
              <p:nvPr/>
            </p:nvSpPr>
            <p:spPr>
              <a:xfrm>
                <a:off x="5059509" y="2807575"/>
                <a:ext cx="808230" cy="3824028"/>
              </a:xfrm>
              <a:prstGeom prst="bracketPair">
                <a:avLst/>
              </a:prstGeom>
              <a:ln w="57150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1564" y="2720993"/>
                <a:ext cx="470250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/>
                  <a:t>e</a:t>
                </a:r>
                <a:r>
                  <a:rPr lang="en-US" sz="2400" baseline="-25000" dirty="0" err="1"/>
                  <a:t>o</a:t>
                </a:r>
                <a:endParaRPr lang="en-US" sz="2400" baseline="-25000" dirty="0"/>
              </a:p>
              <a:p>
                <a:r>
                  <a:rPr lang="en-US" sz="2400" dirty="0"/>
                  <a:t>e</a:t>
                </a:r>
                <a:r>
                  <a:rPr lang="en-US" sz="2400" baseline="-25000" dirty="0"/>
                  <a:t>1</a:t>
                </a:r>
              </a:p>
              <a:p>
                <a:r>
                  <a:rPr lang="en-US" sz="2400" dirty="0"/>
                  <a:t>e</a:t>
                </a:r>
                <a:r>
                  <a:rPr lang="en-US" sz="2400" baseline="-25000" dirty="0"/>
                  <a:t>2</a:t>
                </a:r>
              </a:p>
              <a:p>
                <a:r>
                  <a:rPr lang="en-US" sz="2400" dirty="0"/>
                  <a:t>e</a:t>
                </a:r>
                <a:r>
                  <a:rPr lang="en-US" sz="2400" baseline="-25000" dirty="0"/>
                  <a:t>3</a:t>
                </a:r>
              </a:p>
              <a:p>
                <a:r>
                  <a:rPr lang="en-US" sz="2400" dirty="0"/>
                  <a:t>e</a:t>
                </a:r>
                <a:r>
                  <a:rPr lang="en-US" sz="2400" baseline="-25000" dirty="0"/>
                  <a:t>4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.</a:t>
                </a:r>
              </a:p>
              <a:p>
                <a:r>
                  <a:rPr lang="en-US" sz="2400" dirty="0" err="1"/>
                  <a:t>e</a:t>
                </a:r>
                <a:r>
                  <a:rPr lang="en-US" sz="2400" baseline="-25000" dirty="0" err="1"/>
                  <a:t>N</a:t>
                </a:r>
                <a:endParaRPr lang="en-US" sz="2400" baseline="-25000" dirty="0"/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11137376" y="4540973"/>
              <a:ext cx="46541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706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49DD-9EE2-4342-8B02-2B18EB8B7024}" type="slidenum">
              <a:rPr lang="en-CA" smtClean="0"/>
              <a:t>84</a:t>
            </a:fld>
            <a:endParaRPr lang="en-CA"/>
          </a:p>
        </p:txBody>
      </p:sp>
      <p:sp>
        <p:nvSpPr>
          <p:cNvPr id="5" name="TextBox 4"/>
          <p:cNvSpPr txBox="1"/>
          <p:nvPr/>
        </p:nvSpPr>
        <p:spPr>
          <a:xfrm>
            <a:off x="652595" y="2342694"/>
            <a:ext cx="10329512" cy="4154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Residual Summed 			= (Y </a:t>
            </a:r>
            <a:r>
              <a:rPr lang="mr-IN" sz="4400" dirty="0"/>
              <a:t>–</a:t>
            </a:r>
            <a:r>
              <a:rPr lang="en-US" sz="4400" dirty="0"/>
              <a:t> </a:t>
            </a:r>
            <a:r>
              <a:rPr lang="en-US" sz="4400" dirty="0" err="1"/>
              <a:t>Hw</a:t>
            </a:r>
            <a:r>
              <a:rPr lang="en-US" sz="4400" dirty="0"/>
              <a:t>)</a:t>
            </a:r>
          </a:p>
          <a:p>
            <a:endParaRPr lang="en-US" sz="4400" dirty="0">
              <a:solidFill>
                <a:srgbClr val="FF0000"/>
              </a:solidFill>
            </a:endParaRPr>
          </a:p>
          <a:p>
            <a:r>
              <a:rPr lang="en-US" sz="4400" dirty="0">
                <a:solidFill>
                  <a:srgbClr val="FF0000"/>
                </a:solidFill>
              </a:rPr>
              <a:t>Residual Summed Squared 	= (Y-</a:t>
            </a:r>
            <a:r>
              <a:rPr lang="en-US" sz="4400" dirty="0" err="1">
                <a:solidFill>
                  <a:srgbClr val="FF0000"/>
                </a:solidFill>
              </a:rPr>
              <a:t>Hw</a:t>
            </a:r>
            <a:r>
              <a:rPr lang="en-US" sz="4400" dirty="0">
                <a:solidFill>
                  <a:srgbClr val="FF0000"/>
                </a:solidFill>
              </a:rPr>
              <a:t>)</a:t>
            </a:r>
            <a:r>
              <a:rPr lang="en-US" sz="4400" baseline="30000" dirty="0">
                <a:solidFill>
                  <a:srgbClr val="FF0000"/>
                </a:solidFill>
              </a:rPr>
              <a:t>T</a:t>
            </a:r>
            <a:r>
              <a:rPr lang="en-US" sz="4400" dirty="0">
                <a:solidFill>
                  <a:srgbClr val="FF0000"/>
                </a:solidFill>
              </a:rPr>
              <a:t>(Y-</a:t>
            </a:r>
            <a:r>
              <a:rPr lang="en-US" sz="4400" dirty="0" err="1">
                <a:solidFill>
                  <a:srgbClr val="FF0000"/>
                </a:solidFill>
              </a:rPr>
              <a:t>Hw</a:t>
            </a:r>
            <a:r>
              <a:rPr lang="en-US" sz="4400" dirty="0">
                <a:solidFill>
                  <a:srgbClr val="FF0000"/>
                </a:solidFill>
              </a:rPr>
              <a:t>)</a:t>
            </a:r>
          </a:p>
          <a:p>
            <a:endParaRPr lang="en-US" sz="4400" dirty="0">
              <a:solidFill>
                <a:srgbClr val="FF0000"/>
              </a:solidFill>
            </a:endParaRPr>
          </a:p>
          <a:p>
            <a:r>
              <a:rPr lang="en-US" sz="4400" dirty="0">
                <a:solidFill>
                  <a:srgbClr val="FF0000"/>
                </a:solidFill>
              </a:rPr>
              <a:t>Gradient of RSS </a:t>
            </a:r>
            <a:r>
              <a:rPr lang="en-US" sz="4400" dirty="0" err="1">
                <a:solidFill>
                  <a:srgbClr val="FF0000"/>
                </a:solidFill>
              </a:rPr>
              <a:t>w.r.t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b="1" dirty="0"/>
              <a:t>w</a:t>
            </a:r>
            <a:r>
              <a:rPr lang="en-US" sz="4400" dirty="0"/>
              <a:t> ?</a:t>
            </a:r>
          </a:p>
          <a:p>
            <a:endParaRPr lang="en-US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9337939" y="173166"/>
            <a:ext cx="2645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Y = </a:t>
            </a:r>
            <a:r>
              <a:rPr lang="en-US" sz="4800" dirty="0" err="1"/>
              <a:t>Hw</a:t>
            </a:r>
            <a:r>
              <a:rPr lang="en-US" sz="4800" dirty="0"/>
              <a:t> +e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8967" y="1031318"/>
            <a:ext cx="248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Leaving out e for a while</a:t>
            </a:r>
          </a:p>
        </p:txBody>
      </p:sp>
    </p:spTree>
    <p:extLst>
      <p:ext uri="{BB962C8B-B14F-4D97-AF65-F5344CB8AC3E}">
        <p14:creationId xmlns:p14="http://schemas.microsoft.com/office/powerpoint/2010/main" val="221319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Re-writing equations in Matrix form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544" y="210097"/>
            <a:ext cx="5120008" cy="65136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8824" y="6379882"/>
            <a:ext cx="239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 and w0 not included</a:t>
            </a:r>
          </a:p>
        </p:txBody>
      </p:sp>
    </p:spTree>
    <p:extLst>
      <p:ext uri="{BB962C8B-B14F-4D97-AF65-F5344CB8AC3E}">
        <p14:creationId xmlns:p14="http://schemas.microsoft.com/office/powerpoint/2010/main" val="17427624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Computing Cost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310" y="309322"/>
            <a:ext cx="7063511" cy="646594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9577224" y="1781757"/>
            <a:ext cx="282203" cy="1005546"/>
          </a:xfrm>
          <a:prstGeom prst="straightConnector1">
            <a:avLst/>
          </a:prstGeom>
          <a:ln w="2857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7079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Computing Gradient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541" y="569805"/>
            <a:ext cx="7250449" cy="536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575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Finding optimal solution:</a:t>
            </a: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Approach 1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Closed form solution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596" y="356686"/>
            <a:ext cx="4428675" cy="626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009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Finding optimal solution: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Approach 2-</a:t>
            </a: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Gradient Descent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028" y="367756"/>
            <a:ext cx="7523399" cy="604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503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49" y="20028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General Notation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Fitting a hyperplane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1" y="169333"/>
            <a:ext cx="5748284" cy="32870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643" y="3759201"/>
            <a:ext cx="4322896" cy="29294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92534" y="3589867"/>
            <a:ext cx="116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x[1]     x[2]</a:t>
            </a:r>
          </a:p>
        </p:txBody>
      </p:sp>
      <p:sp>
        <p:nvSpPr>
          <p:cNvPr id="7" name="Double Bracket 6"/>
          <p:cNvSpPr/>
          <p:nvPr/>
        </p:nvSpPr>
        <p:spPr>
          <a:xfrm>
            <a:off x="8026401" y="4724400"/>
            <a:ext cx="389467" cy="167640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uble Bracket 11"/>
          <p:cNvSpPr/>
          <p:nvPr/>
        </p:nvSpPr>
        <p:spPr>
          <a:xfrm>
            <a:off x="8669857" y="4707470"/>
            <a:ext cx="389467" cy="167640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880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2053641"/>
            <a:ext cx="3669161" cy="2760098"/>
          </a:xfrm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FFFFFF"/>
                </a:solidFill>
              </a:rPr>
              <a:t>General Notation</a:t>
            </a:r>
            <a:br>
              <a:rPr lang="en-CA" dirty="0">
                <a:solidFill>
                  <a:srgbClr val="FFFFFF"/>
                </a:solidFill>
              </a:rPr>
            </a:b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Fitting a hyperplane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743" y="195364"/>
            <a:ext cx="8398809" cy="48026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291" y="5110340"/>
            <a:ext cx="6578388" cy="160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188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0821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2E77C-AC9B-4AFB-99D4-B30691F4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29" y="6223704"/>
            <a:ext cx="570728" cy="314067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32049DD-9EE2-4342-8B02-2B18EB8B7024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993" y="4663558"/>
            <a:ext cx="6409428" cy="20277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723" y="305969"/>
            <a:ext cx="6870504" cy="4285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17508" y="2751342"/>
            <a:ext cx="4494147" cy="618645"/>
          </a:xfrm>
          <a:prstGeom prst="rect">
            <a:avLst/>
          </a:prstGeom>
          <a:noFill/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CC52492C-00CA-43EC-AC43-EB6D5A50AA9E}"/>
              </a:ext>
            </a:extLst>
          </p:cNvPr>
          <p:cNvSpPr txBox="1">
            <a:spLocks/>
          </p:cNvSpPr>
          <p:nvPr/>
        </p:nvSpPr>
        <p:spPr>
          <a:xfrm>
            <a:off x="640081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>
                <a:solidFill>
                  <a:srgbClr val="FFFFFF"/>
                </a:solidFill>
              </a:rPr>
              <a:t>General Notation</a:t>
            </a:r>
            <a:br>
              <a:rPr lang="en-CA">
                <a:solidFill>
                  <a:srgbClr val="FFFFFF"/>
                </a:solidFill>
              </a:rPr>
            </a:br>
            <a:br>
              <a:rPr lang="en-CA">
                <a:solidFill>
                  <a:srgbClr val="FFFFFF"/>
                </a:solidFill>
              </a:rPr>
            </a:br>
            <a:r>
              <a:rPr lang="en-CA">
                <a:solidFill>
                  <a:srgbClr val="FFFFFF"/>
                </a:solidFill>
              </a:rPr>
              <a:t>D-dimensional curve</a:t>
            </a:r>
            <a:endParaRPr lang="en-C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5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4431</TotalTime>
  <Words>2281</Words>
  <Application>Microsoft Office PowerPoint</Application>
  <PresentationFormat>Widescreen</PresentationFormat>
  <Paragraphs>513</Paragraphs>
  <Slides>92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Arial</vt:lpstr>
      <vt:lpstr>Calibri</vt:lpstr>
      <vt:lpstr>Calibri Light</vt:lpstr>
      <vt:lpstr>Cambria Math</vt:lpstr>
      <vt:lpstr>Inter</vt:lpstr>
      <vt:lpstr>source-serif-pro</vt:lpstr>
      <vt:lpstr>Office Theme</vt:lpstr>
      <vt:lpstr>1_Office Theme</vt:lpstr>
      <vt:lpstr>Regression </vt:lpstr>
      <vt:lpstr>Introduction Machine Learning</vt:lpstr>
      <vt:lpstr>PowerPoint Presentation</vt:lpstr>
      <vt:lpstr>Learning Types</vt:lpstr>
      <vt:lpstr>Types of Learning Problems   Supervised</vt:lpstr>
      <vt:lpstr>Types of Learning Problems   Unsupervised</vt:lpstr>
      <vt:lpstr>Types of Learning Problems   Reinforcement</vt:lpstr>
      <vt:lpstr>Types of Learning Problems   Regression</vt:lpstr>
      <vt:lpstr>Types of Learning Problems   Classification</vt:lpstr>
      <vt:lpstr>PowerPoint Presentation</vt:lpstr>
      <vt:lpstr>PowerPoint Presentation</vt:lpstr>
      <vt:lpstr>PowerPoint Presentation</vt:lpstr>
      <vt:lpstr>PowerPoint Presentation</vt:lpstr>
      <vt:lpstr>Model Development ?</vt:lpstr>
      <vt:lpstr>Data Splits</vt:lpstr>
      <vt:lpstr>Data Splitting</vt:lpstr>
      <vt:lpstr>Datasets</vt:lpstr>
      <vt:lpstr>PowerPoint Presentation</vt:lpstr>
      <vt:lpstr>PowerPoint Presentation</vt:lpstr>
      <vt:lpstr>Regression</vt:lpstr>
      <vt:lpstr>Model</vt:lpstr>
      <vt:lpstr>PowerPoint Presentation</vt:lpstr>
      <vt:lpstr>Simple Regression</vt:lpstr>
      <vt:lpstr>Simple Search - Regression</vt:lpstr>
      <vt:lpstr>PowerPoint Presentation</vt:lpstr>
      <vt:lpstr>PowerPoint Presentation</vt:lpstr>
      <vt:lpstr>How do we fit a line to the data?</vt:lpstr>
      <vt:lpstr>PowerPoint Presentation</vt:lpstr>
      <vt:lpstr>PowerPoint Presentation</vt:lpstr>
      <vt:lpstr>PowerPoint Presentation</vt:lpstr>
      <vt:lpstr>Finding minimum or Maximum of a function</vt:lpstr>
      <vt:lpstr>Basic Principle</vt:lpstr>
      <vt:lpstr>PowerPoint Presentation</vt:lpstr>
      <vt:lpstr>PowerPoint Presentation</vt:lpstr>
      <vt:lpstr>Regression – Analytical Solution</vt:lpstr>
      <vt:lpstr>PowerPoint Presentation</vt:lpstr>
      <vt:lpstr>PowerPoint Presentation</vt:lpstr>
      <vt:lpstr>PowerPoint Presentation</vt:lpstr>
      <vt:lpstr>Example</vt:lpstr>
      <vt:lpstr>Gradient Descent/Ascent to find Minima/Maxima</vt:lpstr>
      <vt:lpstr>Change in Weights …</vt:lpstr>
      <vt:lpstr>Gradient Descent/Ascent to find Minima/Maxima</vt:lpstr>
      <vt:lpstr>How it works:</vt:lpstr>
      <vt:lpstr>Pseudocode</vt:lpstr>
      <vt:lpstr>PowerPoint Presentation</vt:lpstr>
      <vt:lpstr>Assumptions of the Linear Regression Model </vt:lpstr>
      <vt:lpstr>Gradient Term</vt:lpstr>
      <vt:lpstr>PowerPoint Presentation</vt:lpstr>
      <vt:lpstr>PowerPoint Presentation</vt:lpstr>
      <vt:lpstr>Many inputs</vt:lpstr>
      <vt:lpstr>Multiple Regression</vt:lpstr>
      <vt:lpstr>Matrices</vt:lpstr>
      <vt:lpstr>Cost Functions</vt:lpstr>
      <vt:lpstr>Example</vt:lpstr>
      <vt:lpstr>PowerPoint Presentation</vt:lpstr>
      <vt:lpstr>Prediction</vt:lpstr>
      <vt:lpstr>Difference Between Feature and Input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</vt:lpstr>
      <vt:lpstr>Difference Between Feature and Input</vt:lpstr>
      <vt:lpstr>Model</vt:lpstr>
      <vt:lpstr>Difference Between Feature and Input</vt:lpstr>
      <vt:lpstr>Income vs Age</vt:lpstr>
      <vt:lpstr>Model</vt:lpstr>
      <vt:lpstr>Model</vt:lpstr>
      <vt:lpstr>Approach 2</vt:lpstr>
      <vt:lpstr>Regularization</vt:lpstr>
      <vt:lpstr>Comparison</vt:lpstr>
      <vt:lpstr>Additional Slides</vt:lpstr>
      <vt:lpstr>Multiple Regression - Model</vt:lpstr>
      <vt:lpstr>Multiple Regression - Model</vt:lpstr>
      <vt:lpstr>General Representation</vt:lpstr>
      <vt:lpstr>Re-writing equations in Matrix form</vt:lpstr>
      <vt:lpstr>Re-writing equations in Matrix form</vt:lpstr>
      <vt:lpstr>PowerPoint Presentation</vt:lpstr>
      <vt:lpstr>RSS</vt:lpstr>
      <vt:lpstr>Re-writing equations in Matrix form</vt:lpstr>
      <vt:lpstr>Computing Cost</vt:lpstr>
      <vt:lpstr>Computing Gradient</vt:lpstr>
      <vt:lpstr>Finding optimal solution: Approach 1  Closed form solution</vt:lpstr>
      <vt:lpstr>Finding optimal solution:  Approach 2- Gradient Descent</vt:lpstr>
      <vt:lpstr>General Notation  Fitting a hyperplane</vt:lpstr>
      <vt:lpstr>General Notation  Fitting a hyperplane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Analysis</dc:title>
  <dc:creator>Abdul Bais</dc:creator>
  <cp:lastModifiedBy>Safeerah Zainab</cp:lastModifiedBy>
  <cp:revision>170</cp:revision>
  <dcterms:created xsi:type="dcterms:W3CDTF">2020-09-17T15:32:22Z</dcterms:created>
  <dcterms:modified xsi:type="dcterms:W3CDTF">2025-07-31T12:49:04Z</dcterms:modified>
</cp:coreProperties>
</file>